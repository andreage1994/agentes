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10692000" cx="7560000"/>
  <p:notesSz cx="6858000" cy="9144000"/>
  <p:embeddedFontLst>
    <p:embeddedFont>
      <p:font typeface="Helvetica Neue"/>
      <p:regular r:id="rId56"/>
      <p:bold r:id="rId57"/>
      <p:italic r:id="rId58"/>
      <p:boldItalic r:id="rId59"/>
    </p:embeddedFont>
    <p:embeddedFont>
      <p:font typeface="Epilogue"/>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guide id="3" orient="horz" pos="41">
          <p15:clr>
            <a:srgbClr val="747775"/>
          </p15:clr>
        </p15:guide>
      </p15:sldGuideLst>
    </p:ext>
    <p:ext uri="GoogleSlidesCustomDataVersion2">
      <go:slidesCustomData xmlns:go="http://customooxmlschemas.google.com/" r:id="rId64" roundtripDataSignature="AMtx7mh3Zmeg99u1Ud58rhbpnUZ7Up68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35E03D-491C-4C38-A55B-633A75B50BDB}">
  <a:tblStyle styleId="{9C35E03D-491C-4C38-A55B-633A75B50BD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 pos="41"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Epilogue-italic.fntdata"/><Relationship Id="rId61" Type="http://schemas.openxmlformats.org/officeDocument/2006/relationships/font" Target="fonts/Epilogue-bold.fntdata"/><Relationship Id="rId20" Type="http://schemas.openxmlformats.org/officeDocument/2006/relationships/slide" Target="slides/slide14.xml"/><Relationship Id="rId64" Type="http://customschemas.google.com/relationships/presentationmetadata" Target="metadata"/><Relationship Id="rId63" Type="http://schemas.openxmlformats.org/officeDocument/2006/relationships/font" Target="fonts/Epilogue-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Epilogue-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HelveticaNeue-bold.fntdata"/><Relationship Id="rId12" Type="http://schemas.openxmlformats.org/officeDocument/2006/relationships/slide" Target="slides/slide6.xml"/><Relationship Id="rId56" Type="http://schemas.openxmlformats.org/officeDocument/2006/relationships/font" Target="fonts/HelveticaNeue-regular.fntdata"/><Relationship Id="rId15" Type="http://schemas.openxmlformats.org/officeDocument/2006/relationships/slide" Target="slides/slide9.xml"/><Relationship Id="rId59" Type="http://schemas.openxmlformats.org/officeDocument/2006/relationships/font" Target="fonts/HelveticaNeue-boldItalic.fntdata"/><Relationship Id="rId14" Type="http://schemas.openxmlformats.org/officeDocument/2006/relationships/slide" Target="slides/slide8.xml"/><Relationship Id="rId58" Type="http://schemas.openxmlformats.org/officeDocument/2006/relationships/font" Target="fonts/HelveticaNeue-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3afa6bb78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g3f3afa6bb78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717b898b6c2593fb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h717b898b6c2593fb_0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5eb765e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g3fb5eb765e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b5eb765e6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3fb5eb765e6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b5eb765e6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g3fb5eb765e6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5eb765e6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3fb5eb765e6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b5eb765e6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g3fb5eb765e6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b5eb765e6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fb5eb765e6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b5eb765e6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fb5eb765e6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b5eb765e6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g3fb5eb765e6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b5eb765e6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g3fb5eb765e6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b5eb765e6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0" name="Google Shape;190;g3fb5eb765e6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b5eb765e6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g3fb5eb765e6_0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b5eb765e6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g3fb5eb765e6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b5eb765e6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g3fb5eb765e6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b5eb765e6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g3fb5eb765e6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b5eb765e6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g3fb5eb765e6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b5eb765e6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g3fb5eb765e6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b5eb765e6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fb5eb765e6_0_1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fb5eb765e6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g3fb5eb765e6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fb5eb765e6_0_1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g3fb5eb765e6_0_1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b5eb765e6_0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g3fb5eb765e6_0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b5eb765e6_0_1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g3fb5eb765e6_0_1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fb5eb765e6_0_2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g3fb5eb765e6_0_2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b5eb765e6_0_2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g3fb5eb765e6_0_2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b5eb765e6_0_2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g3fb5eb765e6_0_2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fb5eb765e6_0_2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g3fb5eb765e6_0_2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fb5eb765e6_0_2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4" name="Google Shape;314;g3fb5eb765e6_0_2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h304546d401aaba72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2" name="Google Shape;322;h304546d401aaba72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h304546d401aaba72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2" name="Google Shape;332;h304546d401aaba72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h304546d401aaba72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h304546d401aaba72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h304546d401aaba72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7" name="Google Shape;347;h304546d401aaba72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h304546d401aaba72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4" name="Google Shape;354;h304546d401aaba72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h304546d401aaba72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h304546d401aaba72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h717b898b6c2593fb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0" name="Google Shape;370;h717b898b6c2593fb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h717b898b6c2593fb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7" name="Google Shape;377;h717b898b6c2593fb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h304546d401aaba72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4" name="Google Shape;384;h304546d401aaba72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h717b898b6c2593fb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3" name="Google Shape;393;h717b898b6c2593fb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h717b898b6c2593fb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h717b898b6c2593fb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h717b898b6c2593fb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1" name="Google Shape;411;h717b898b6c2593fb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h717b898b6c2593fb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0" name="Google Shape;420;h717b898b6c2593fb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h717b898b6c2593fb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9" name="Google Shape;429;h717b898b6c2593fb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h717b898b6c2593fb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7" name="Google Shape;437;h717b898b6c2593fb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h717b898b6c2593fb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8" name="Google Shape;448;h717b898b6c2593fb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fb5eb765e6_0_2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8" name="Google Shape;458;g3fb5eb765e6_0_2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h717b898b6c2593fb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7" name="Google Shape;467;h717b898b6c2593fb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p:nvPr>
            <p:ph idx="2" type="pic"/>
          </p:nvPr>
        </p:nvSpPr>
        <p:spPr>
          <a:xfrm>
            <a:off x="1792288" y="612775"/>
            <a:ext cx="5486400" cy="4114800"/>
          </a:xfrm>
          <a:prstGeom prst="rect">
            <a:avLst/>
          </a:prstGeom>
          <a:noFill/>
          <a:ln>
            <a:noFill/>
          </a:ln>
        </p:spPr>
      </p:sp>
      <p:sp>
        <p:nvSpPr>
          <p:cNvPr id="64" name="Google Shape;64;p1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jpg"/><Relationship Id="rId4" Type="http://schemas.openxmlformats.org/officeDocument/2006/relationships/image" Target="../media/image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jpg"/><Relationship Id="rId4" Type="http://schemas.openxmlformats.org/officeDocument/2006/relationships/image" Target="../media/image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jpg"/><Relationship Id="rId4" Type="http://schemas.openxmlformats.org/officeDocument/2006/relationships/image" Target="../media/image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jpg"/><Relationship Id="rId4" Type="http://schemas.openxmlformats.org/officeDocument/2006/relationships/image" Target="../media/image3.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jpg"/><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jpg"/><Relationship Id="rId4" Type="http://schemas.openxmlformats.org/officeDocument/2006/relationships/image" Target="../media/image3.jpg"/><Relationship Id="rId5"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jp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324626" y="3340979"/>
            <a:ext cx="6890918" cy="4594833"/>
          </a:xfrm>
          <a:custGeom>
            <a:rect b="b" l="l" r="r" t="t"/>
            <a:pathLst>
              <a:path extrusionOk="0" h="1211623" w="1817434">
                <a:moveTo>
                  <a:pt x="0" y="0"/>
                </a:moveTo>
                <a:lnTo>
                  <a:pt x="1817435" y="0"/>
                </a:lnTo>
                <a:lnTo>
                  <a:pt x="1817435" y="1211623"/>
                </a:lnTo>
                <a:lnTo>
                  <a:pt x="0" y="1211623"/>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4937898" y="170627"/>
            <a:ext cx="2277646" cy="2278085"/>
          </a:xfrm>
          <a:custGeom>
            <a:rect b="b" l="l" r="r" t="t"/>
            <a:pathLst>
              <a:path extrusionOk="0" h="600714" w="600714">
                <a:moveTo>
                  <a:pt x="0" y="0"/>
                </a:moveTo>
                <a:lnTo>
                  <a:pt x="600715" y="0"/>
                </a:lnTo>
                <a:lnTo>
                  <a:pt x="600715" y="600714"/>
                </a:lnTo>
                <a:lnTo>
                  <a:pt x="0" y="600714"/>
                </a:lnTo>
                <a:lnTo>
                  <a:pt x="0" y="0"/>
                </a:lnTo>
                <a:close/>
              </a:path>
            </a:pathLst>
          </a:custGeom>
          <a:blipFill rotWithShape="1">
            <a:blip r:embed="rId4">
              <a:alphaModFix/>
            </a:blip>
            <a:stretch>
              <a:fillRect b="0" l="0" r="0" t="0"/>
            </a:stretch>
          </a:blipFill>
          <a:ln>
            <a:noFill/>
          </a:ln>
        </p:spPr>
      </p:sp>
      <p:sp>
        <p:nvSpPr>
          <p:cNvPr id="86" name="Google Shape;86;p1"/>
          <p:cNvSpPr txBox="1"/>
          <p:nvPr/>
        </p:nvSpPr>
        <p:spPr>
          <a:xfrm>
            <a:off x="826265" y="4000873"/>
            <a:ext cx="5931550" cy="103548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Epilogue"/>
                <a:ea typeface="Epilogue"/>
                <a:cs typeface="Epilogue"/>
                <a:sym typeface="Epilogue"/>
              </a:rPr>
              <a:t>CONCEPTO Y NARRATIVA </a:t>
            </a:r>
            <a:endParaRPr b="0"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Epilogue"/>
                <a:ea typeface="Epilogue"/>
                <a:cs typeface="Epilogue"/>
                <a:sym typeface="Epilogue"/>
              </a:rPr>
              <a:t>DE MARCA</a:t>
            </a:r>
            <a:endParaRPr b="0" i="0" sz="2800" u="none" cap="none" strike="noStrike">
              <a:solidFill>
                <a:srgbClr val="000000"/>
              </a:solidFill>
              <a:latin typeface="Arial"/>
              <a:ea typeface="Arial"/>
              <a:cs typeface="Arial"/>
              <a:sym typeface="Arial"/>
            </a:endParaRPr>
          </a:p>
        </p:txBody>
      </p:sp>
      <p:sp>
        <p:nvSpPr>
          <p:cNvPr id="87" name="Google Shape;87;p1"/>
          <p:cNvSpPr txBox="1"/>
          <p:nvPr/>
        </p:nvSpPr>
        <p:spPr>
          <a:xfrm>
            <a:off x="2097247" y="6799166"/>
            <a:ext cx="3389658" cy="93404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FFFFFF"/>
                </a:solidFill>
                <a:latin typeface="Epilogue"/>
                <a:ea typeface="Epilogue"/>
                <a:cs typeface="Epilogue"/>
                <a:sym typeface="Epilogue"/>
              </a:rPr>
              <a:t>The Lokal</a:t>
            </a:r>
            <a:endParaRPr b="0"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lang="en-US" sz="1600">
                <a:solidFill>
                  <a:srgbClr val="FFFFFF"/>
                </a:solidFill>
                <a:latin typeface="Epilogue"/>
                <a:ea typeface="Epilogue"/>
                <a:cs typeface="Epilogue"/>
                <a:sym typeface="Epilogue"/>
              </a:rPr>
              <a:t>SEPTIEMBRE </a:t>
            </a:r>
            <a:endParaRPr b="0" i="0" sz="2800" u="none" cap="none" strike="noStrike">
              <a:solidFill>
                <a:srgbClr val="000000"/>
              </a:solidFill>
              <a:latin typeface="Arial"/>
              <a:ea typeface="Arial"/>
              <a:cs typeface="Arial"/>
              <a:sym typeface="Arial"/>
            </a:endParaRPr>
          </a:p>
        </p:txBody>
      </p:sp>
      <p:sp>
        <p:nvSpPr>
          <p:cNvPr id="88" name="Google Shape;88;p1"/>
          <p:cNvSpPr txBox="1"/>
          <p:nvPr/>
        </p:nvSpPr>
        <p:spPr>
          <a:xfrm>
            <a:off x="968214" y="3475253"/>
            <a:ext cx="5623648" cy="5256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Epilogue"/>
                <a:ea typeface="Epilogue"/>
                <a:cs typeface="Epilogue"/>
                <a:sym typeface="Epilogue"/>
              </a:rPr>
              <a:t>Brand Strategy Book</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p:nvPr/>
        </p:nvSpPr>
        <p:spPr>
          <a:xfrm>
            <a:off x="0" y="0"/>
            <a:ext cx="7584076" cy="1800825"/>
          </a:xfrm>
          <a:custGeom>
            <a:rect b="b" l="l" r="r" t="t"/>
            <a:pathLst>
              <a:path extrusionOk="0" h="474864" w="2000250">
                <a:moveTo>
                  <a:pt x="0" y="0"/>
                </a:moveTo>
                <a:lnTo>
                  <a:pt x="2000250" y="0"/>
                </a:lnTo>
                <a:lnTo>
                  <a:pt x="2000250" y="474864"/>
                </a:lnTo>
                <a:lnTo>
                  <a:pt x="0" y="474864"/>
                </a:lnTo>
                <a:lnTo>
                  <a:pt x="0" y="0"/>
                </a:lnTo>
                <a:close/>
              </a:path>
            </a:pathLst>
          </a:custGeom>
          <a:blipFill rotWithShape="1">
            <a:blip r:embed="rId3">
              <a:alphaModFix/>
            </a:blip>
            <a:stretch>
              <a:fillRect b="-6911" l="0" r="0" t="-173901"/>
            </a:stretch>
          </a:blipFill>
          <a:ln>
            <a:noFill/>
          </a:ln>
        </p:spPr>
      </p:sp>
      <p:sp>
        <p:nvSpPr>
          <p:cNvPr id="94" name="Google Shape;94;p2"/>
          <p:cNvSpPr txBox="1"/>
          <p:nvPr/>
        </p:nvSpPr>
        <p:spPr>
          <a:xfrm>
            <a:off x="284356" y="2113022"/>
            <a:ext cx="6599673" cy="56349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rgbClr val="000000"/>
                </a:solidFill>
                <a:latin typeface="Epilogue"/>
                <a:ea typeface="Epilogue"/>
                <a:cs typeface="Epilogue"/>
                <a:sym typeface="Epilogue"/>
              </a:rPr>
              <a:t>RESUMEN EJECUTIVO</a:t>
            </a:r>
            <a:endParaRPr b="0" i="0" sz="2800" u="none" cap="none" strike="noStrike">
              <a:solidFill>
                <a:srgbClr val="000000"/>
              </a:solidFill>
              <a:latin typeface="Arial"/>
              <a:ea typeface="Arial"/>
              <a:cs typeface="Arial"/>
              <a:sym typeface="Arial"/>
            </a:endParaRPr>
          </a:p>
        </p:txBody>
      </p:sp>
      <p:sp>
        <p:nvSpPr>
          <p:cNvPr id="95" name="Google Shape;95;p2"/>
          <p:cNvSpPr txBox="1"/>
          <p:nvPr/>
        </p:nvSpPr>
        <p:spPr>
          <a:xfrm>
            <a:off x="284367" y="2600954"/>
            <a:ext cx="6599597" cy="6683922"/>
          </a:xfrm>
          <a:prstGeom prst="rect">
            <a:avLst/>
          </a:prstGeom>
          <a:noFill/>
          <a:ln>
            <a:noFill/>
          </a:ln>
        </p:spPr>
        <p:txBody>
          <a:bodyPr anchorCtr="0" anchor="t" bIns="91425" lIns="114300" spcFirstLastPara="1" rIns="91425" wrap="square" tIns="91425">
            <a:spAutoFit/>
          </a:bodyPr>
          <a:lstStyle/>
          <a:p>
            <a:pPr indent="-31750" lvl="0" marL="0" marR="0" rtl="0" algn="l">
              <a:lnSpc>
                <a:spcPct val="100000"/>
              </a:lnSpc>
              <a:spcBef>
                <a:spcPts val="100"/>
              </a:spcBef>
              <a:spcAft>
                <a:spcPts val="0"/>
              </a:spcAft>
              <a:buClr>
                <a:srgbClr val="000000"/>
              </a:buClr>
              <a:buSzPts val="1000"/>
              <a:buFont typeface="Helvetica Neue"/>
              <a:buAutoNum type="arabicPeriod"/>
            </a:pPr>
            <a:r>
              <a:rPr b="1" i="0" lang="en-US" sz="1000" u="none" cap="none" strike="noStrike">
                <a:solidFill>
                  <a:srgbClr val="000000"/>
                </a:solidFill>
                <a:latin typeface="Helvetica Neue"/>
                <a:ea typeface="Helvetica Neue"/>
                <a:cs typeface="Helvetica Neue"/>
                <a:sym typeface="Helvetica Neue"/>
              </a:rPr>
              <a:t>Resumen ejecutivo</a:t>
            </a:r>
            <a:endParaRPr sz="1000">
              <a:latin typeface="Helvetica Neue"/>
              <a:ea typeface="Helvetica Neue"/>
              <a:cs typeface="Helvetica Neue"/>
              <a:sym typeface="Helvetica Neue"/>
            </a:endParaRPr>
          </a:p>
          <a:p>
            <a:pPr indent="-31750" lvl="0" marL="0" marR="0" rtl="0" algn="l">
              <a:lnSpc>
                <a:spcPct val="100000"/>
              </a:lnSpc>
              <a:spcBef>
                <a:spcPts val="100"/>
              </a:spcBef>
              <a:spcAft>
                <a:spcPts val="0"/>
              </a:spcAft>
              <a:buClr>
                <a:srgbClr val="000000"/>
              </a:buClr>
              <a:buSzPts val="1000"/>
              <a:buFont typeface="Helvetica Neue"/>
              <a:buAutoNum type="arabicPeriod"/>
            </a:pPr>
            <a:r>
              <a:rPr b="1" lang="en-US" sz="1000">
                <a:latin typeface="Helvetica Neue"/>
                <a:ea typeface="Helvetica Neue"/>
                <a:cs typeface="Helvetica Neue"/>
                <a:sym typeface="Helvetica Neue"/>
              </a:rPr>
              <a:t> </a:t>
            </a:r>
            <a:r>
              <a:rPr b="1" i="0" lang="en-US" sz="1000" u="none" cap="none" strike="noStrike">
                <a:solidFill>
                  <a:srgbClr val="000000"/>
                </a:solidFill>
                <a:latin typeface="Helvetica Neue"/>
                <a:ea typeface="Helvetica Neue"/>
                <a:cs typeface="Helvetica Neue"/>
                <a:sym typeface="Helvetica Neue"/>
              </a:rPr>
              <a:t>Observaciones Estratégicas</a:t>
            </a:r>
            <a:endParaRPr b="1" i="0" sz="1000" u="none" cap="none" strike="noStrike">
              <a:solidFill>
                <a:srgbClr val="000000"/>
              </a:solidFill>
              <a:latin typeface="Helvetica Neue"/>
              <a:ea typeface="Helvetica Neue"/>
              <a:cs typeface="Helvetica Neue"/>
              <a:sym typeface="Helvetica Neue"/>
            </a:endParaRPr>
          </a:p>
          <a:p>
            <a:pPr indent="-31750" lvl="1"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 Contexto y Tendencias relevantes para el proyecto</a:t>
            </a:r>
            <a:endParaRPr b="0" i="0" sz="1000" u="none" cap="none" strike="noStrike">
              <a:solidFill>
                <a:srgbClr val="000000"/>
              </a:solidFill>
              <a:latin typeface="Helvetica Neue"/>
              <a:ea typeface="Helvetica Neue"/>
              <a:cs typeface="Helvetica Neue"/>
              <a:sym typeface="Helvetica Neue"/>
            </a:endParaRPr>
          </a:p>
          <a:p>
            <a:pPr indent="-31750" lvl="1"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Cambios de hábito del consumo</a:t>
            </a:r>
            <a:endParaRPr b="0" i="0" sz="1000" u="none" cap="none" strike="noStrike">
              <a:solidFill>
                <a:srgbClr val="000000"/>
              </a:solidFill>
              <a:latin typeface="Helvetica Neue"/>
              <a:ea typeface="Helvetica Neue"/>
              <a:cs typeface="Helvetica Neue"/>
              <a:sym typeface="Helvetica Neue"/>
            </a:endParaRPr>
          </a:p>
          <a:p>
            <a:pPr indent="-31750" lvl="1"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Motivaciones observadas</a:t>
            </a:r>
            <a:endParaRPr b="0" i="0" sz="1000" u="none" cap="none" strike="noStrike">
              <a:solidFill>
                <a:srgbClr val="000000"/>
              </a:solidFill>
              <a:latin typeface="Helvetica Neue"/>
              <a:ea typeface="Helvetica Neue"/>
              <a:cs typeface="Helvetica Neue"/>
              <a:sym typeface="Helvetica Neue"/>
            </a:endParaRPr>
          </a:p>
          <a:p>
            <a:pPr indent="-31750" lvl="1"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Necesidades detectadas</a:t>
            </a:r>
            <a:endParaRPr b="0" i="0" sz="1000" u="none" cap="none" strike="noStrike">
              <a:solidFill>
                <a:srgbClr val="000000"/>
              </a:solidFill>
              <a:latin typeface="Helvetica Neue"/>
              <a:ea typeface="Helvetica Neue"/>
              <a:cs typeface="Helvetica Neue"/>
              <a:sym typeface="Helvetica Neue"/>
            </a:endParaRPr>
          </a:p>
          <a:p>
            <a:pPr indent="-31750" lvl="1"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Tensiones y oportunidades</a:t>
            </a:r>
            <a:endParaRPr b="0" i="0" sz="1000" u="none" cap="none" strike="noStrike">
              <a:solidFill>
                <a:srgbClr val="000000"/>
              </a:solidFill>
              <a:latin typeface="Helvetica Neue"/>
              <a:ea typeface="Helvetica Neue"/>
              <a:cs typeface="Helvetica Neue"/>
              <a:sym typeface="Helvetica Neue"/>
            </a:endParaRPr>
          </a:p>
          <a:p>
            <a:pPr indent="0" lvl="0" marL="914400" marR="0" rtl="0" algn="l">
              <a:lnSpc>
                <a:spcPct val="100000"/>
              </a:lnSpc>
              <a:spcBef>
                <a:spcPts val="0"/>
              </a:spcBef>
              <a:spcAft>
                <a:spcPts val="0"/>
              </a:spcAft>
              <a:buNone/>
            </a:pPr>
            <a:r>
              <a:t/>
            </a:r>
            <a:endParaRPr sz="1000">
              <a:latin typeface="Helvetica Neue"/>
              <a:ea typeface="Helvetica Neue"/>
              <a:cs typeface="Helvetica Neue"/>
              <a:sym typeface="Helvetica Neue"/>
            </a:endParaRPr>
          </a:p>
          <a:p>
            <a:pPr indent="0" lvl="0" marL="0" marR="0" rtl="0" algn="l">
              <a:lnSpc>
                <a:spcPct val="100000"/>
              </a:lnSpc>
              <a:spcBef>
                <a:spcPts val="0"/>
              </a:spcBef>
              <a:spcAft>
                <a:spcPts val="0"/>
              </a:spcAft>
              <a:buNone/>
            </a:pPr>
            <a:r>
              <a:rPr b="1" lang="en-US" sz="1000">
                <a:latin typeface="Helvetica Neue"/>
                <a:ea typeface="Helvetica Neue"/>
                <a:cs typeface="Helvetica Neue"/>
                <a:sym typeface="Helvetica Neue"/>
              </a:rPr>
              <a:t>4. </a:t>
            </a:r>
            <a:r>
              <a:rPr b="1" i="0" lang="en-US" sz="1000" u="none" cap="none" strike="noStrike">
                <a:solidFill>
                  <a:srgbClr val="000000"/>
                </a:solidFill>
                <a:latin typeface="Helvetica Neue"/>
                <a:ea typeface="Helvetica Neue"/>
                <a:cs typeface="Helvetica Neue"/>
                <a:sym typeface="Helvetica Neue"/>
              </a:rPr>
              <a:t>Plataforma de Marca</a:t>
            </a:r>
            <a:endParaRPr b="1" i="0" sz="1000" u="none" cap="none" strike="noStrike">
              <a:solidFill>
                <a:srgbClr val="000000"/>
              </a:solidFill>
              <a:latin typeface="Helvetica Neue"/>
              <a:ea typeface="Helvetica Neue"/>
              <a:cs typeface="Helvetica Neue"/>
              <a:sym typeface="Helvetica Neue"/>
            </a:endParaRPr>
          </a:p>
          <a:p>
            <a:pPr indent="-31750" lvl="0"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Implicaciones estratégicas</a:t>
            </a:r>
            <a:endParaRPr sz="1000">
              <a:latin typeface="Helvetica Neue"/>
              <a:ea typeface="Helvetica Neue"/>
              <a:cs typeface="Helvetica Neue"/>
              <a:sym typeface="Helvetica Neue"/>
            </a:endParaRPr>
          </a:p>
          <a:p>
            <a:pPr indent="-31750" lvl="0"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Propósito - Por qué existe la marca</a:t>
            </a:r>
            <a:endParaRPr sz="1000">
              <a:latin typeface="Helvetica Neue"/>
              <a:ea typeface="Helvetica Neue"/>
              <a:cs typeface="Helvetica Neue"/>
              <a:sym typeface="Helvetica Neue"/>
            </a:endParaRPr>
          </a:p>
          <a:p>
            <a:pPr indent="-31750" lvl="0"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Visión - Qué quiere llegar a representar.</a:t>
            </a:r>
            <a:endParaRPr sz="1000">
              <a:latin typeface="Helvetica Neue"/>
              <a:ea typeface="Helvetica Neue"/>
              <a:cs typeface="Helvetica Neue"/>
              <a:sym typeface="Helvetica Neue"/>
            </a:endParaRPr>
          </a:p>
          <a:p>
            <a:pPr indent="-31750" lvl="0"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Misión - Cómo lo consigue.</a:t>
            </a:r>
            <a:endParaRPr sz="1000">
              <a:latin typeface="Helvetica Neue"/>
              <a:ea typeface="Helvetica Neue"/>
              <a:cs typeface="Helvetica Neue"/>
              <a:sym typeface="Helvetica Neue"/>
            </a:endParaRPr>
          </a:p>
          <a:p>
            <a:pPr indent="-31750" lvl="0"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Valores - Principios que guían las decisiones.</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None/>
            </a:pPr>
            <a:r>
              <a:t/>
            </a:r>
            <a:endParaRPr sz="1000">
              <a:latin typeface="Helvetica Neue"/>
              <a:ea typeface="Helvetica Neue"/>
              <a:cs typeface="Helvetica Neue"/>
              <a:sym typeface="Helvetica Neue"/>
            </a:endParaRPr>
          </a:p>
          <a:p>
            <a:pPr indent="0" lvl="0" marL="0" rtl="0" algn="l">
              <a:spcBef>
                <a:spcPts val="100"/>
              </a:spcBef>
              <a:spcAft>
                <a:spcPts val="0"/>
              </a:spcAft>
              <a:buClr>
                <a:schemeClr val="dk1"/>
              </a:buClr>
              <a:buSzPts val="1000"/>
              <a:buFont typeface="Arial"/>
              <a:buNone/>
            </a:pPr>
            <a:r>
              <a:rPr b="1" lang="en-US" sz="1000">
                <a:solidFill>
                  <a:schemeClr val="dk1"/>
                </a:solidFill>
                <a:latin typeface="Helvetica Neue"/>
                <a:ea typeface="Helvetica Neue"/>
                <a:cs typeface="Helvetica Neue"/>
                <a:sym typeface="Helvetica Neue"/>
              </a:rPr>
              <a:t>5. Diseño del ecosistema</a:t>
            </a:r>
            <a:endParaRPr b="1" sz="1000">
              <a:solidFill>
                <a:schemeClr val="dk1"/>
              </a:solidFill>
              <a:latin typeface="Helvetica Neue"/>
              <a:ea typeface="Helvetica Neue"/>
              <a:cs typeface="Helvetica Neue"/>
              <a:sym typeface="Helvetica Neue"/>
            </a:endParaRPr>
          </a:p>
          <a:p>
            <a:pPr indent="-31750" lvl="0" marL="57150" rtl="0" algn="l">
              <a:spcBef>
                <a:spcPts val="100"/>
              </a:spcBef>
              <a:spcAft>
                <a:spcPts val="0"/>
              </a:spcAft>
              <a:buClr>
                <a:schemeClr val="dk1"/>
              </a:buClr>
              <a:buSzPts val="1000"/>
              <a:buFont typeface="Helvetica Neue"/>
              <a:buAutoNum type="alphaLcPeriod"/>
            </a:pPr>
            <a:r>
              <a:rPr lang="en-US" sz="1000">
                <a:solidFill>
                  <a:schemeClr val="dk1"/>
                </a:solidFill>
                <a:latin typeface="Helvetica Neue"/>
                <a:ea typeface="Helvetica Neue"/>
                <a:cs typeface="Helvetica Neue"/>
                <a:sym typeface="Helvetica Neue"/>
              </a:rPr>
              <a:t>Cómo se materializa la identidad</a:t>
            </a:r>
            <a:endParaRPr sz="1000">
              <a:solidFill>
                <a:schemeClr val="dk1"/>
              </a:solidFill>
              <a:latin typeface="Helvetica Neue"/>
              <a:ea typeface="Helvetica Neue"/>
              <a:cs typeface="Helvetica Neue"/>
              <a:sym typeface="Helvetica Neue"/>
            </a:endParaRPr>
          </a:p>
          <a:p>
            <a:pPr indent="-31750" lvl="0" marL="57150" rtl="0" algn="l">
              <a:spcBef>
                <a:spcPts val="0"/>
              </a:spcBef>
              <a:spcAft>
                <a:spcPts val="0"/>
              </a:spcAft>
              <a:buClr>
                <a:schemeClr val="dk1"/>
              </a:buClr>
              <a:buSzPts val="1000"/>
              <a:buFont typeface="Helvetica Neue"/>
              <a:buAutoNum type="alphaLcPeriod"/>
            </a:pPr>
            <a:r>
              <a:rPr lang="en-US" sz="1000">
                <a:solidFill>
                  <a:schemeClr val="dk1"/>
                </a:solidFill>
                <a:latin typeface="Helvetica Neue"/>
                <a:ea typeface="Helvetica Neue"/>
                <a:cs typeface="Helvetica Neue"/>
                <a:sym typeface="Helvetica Neue"/>
              </a:rPr>
              <a:t>Arquitectura experiencial</a:t>
            </a:r>
            <a:endParaRPr sz="1000">
              <a:solidFill>
                <a:schemeClr val="dk1"/>
              </a:solidFill>
              <a:latin typeface="Helvetica Neue"/>
              <a:ea typeface="Helvetica Neue"/>
              <a:cs typeface="Helvetica Neue"/>
              <a:sym typeface="Helvetica Neue"/>
            </a:endParaRPr>
          </a:p>
          <a:p>
            <a:pPr indent="-31750" lvl="0" marL="57150" rtl="0" algn="l">
              <a:spcBef>
                <a:spcPts val="0"/>
              </a:spcBef>
              <a:spcAft>
                <a:spcPts val="0"/>
              </a:spcAft>
              <a:buClr>
                <a:schemeClr val="dk1"/>
              </a:buClr>
              <a:buSzPts val="1000"/>
              <a:buFont typeface="Helvetica Neue"/>
              <a:buAutoNum type="alphaLcPeriod"/>
            </a:pPr>
            <a:r>
              <a:rPr lang="en-US" sz="1000">
                <a:solidFill>
                  <a:schemeClr val="dk1"/>
                </a:solidFill>
                <a:latin typeface="Helvetica Neue"/>
                <a:ea typeface="Helvetica Neue"/>
                <a:cs typeface="Helvetica Neue"/>
                <a:sym typeface="Helvetica Neue"/>
              </a:rPr>
              <a:t>Arquitectura gastronómica</a:t>
            </a:r>
            <a:endParaRPr sz="1000">
              <a:solidFill>
                <a:schemeClr val="dk1"/>
              </a:solidFill>
              <a:latin typeface="Helvetica Neue"/>
              <a:ea typeface="Helvetica Neue"/>
              <a:cs typeface="Helvetica Neue"/>
              <a:sym typeface="Helvetica Neue"/>
            </a:endParaRPr>
          </a:p>
          <a:p>
            <a:pPr indent="-31750" lvl="0" marL="57150" rtl="0" algn="l">
              <a:spcBef>
                <a:spcPts val="0"/>
              </a:spcBef>
              <a:spcAft>
                <a:spcPts val="0"/>
              </a:spcAft>
              <a:buClr>
                <a:schemeClr val="dk1"/>
              </a:buClr>
              <a:buSzPts val="1000"/>
              <a:buFont typeface="Helvetica Neue"/>
              <a:buAutoNum type="alphaLcPeriod"/>
            </a:pPr>
            <a:r>
              <a:rPr lang="en-US" sz="1000">
                <a:solidFill>
                  <a:schemeClr val="dk1"/>
                </a:solidFill>
                <a:latin typeface="Helvetica Neue"/>
                <a:ea typeface="Helvetica Neue"/>
                <a:cs typeface="Helvetica Neue"/>
                <a:sym typeface="Helvetica Neue"/>
              </a:rPr>
              <a:t>Recorridos de cliente</a:t>
            </a:r>
            <a:endParaRPr sz="1000">
              <a:latin typeface="Helvetica Neue"/>
              <a:ea typeface="Helvetica Neue"/>
              <a:cs typeface="Helvetica Neue"/>
              <a:sym typeface="Helvetica Neue"/>
            </a:endParaRPr>
          </a:p>
        </p:txBody>
      </p:sp>
      <p:pic>
        <p:nvPicPr>
          <p:cNvPr id="96" name="Google Shape;96;p2" title="thebarnbarMesa de trabajo 1 copia 128.png"/>
          <p:cNvPicPr preferRelativeResize="0"/>
          <p:nvPr/>
        </p:nvPicPr>
        <p:blipFill rotWithShape="1">
          <a:blip r:embed="rId4">
            <a:alphaModFix/>
          </a:blip>
          <a:srcRect b="0" l="0" r="0" t="0"/>
          <a:stretch/>
        </p:blipFill>
        <p:spPr>
          <a:xfrm>
            <a:off x="6000530" y="217014"/>
            <a:ext cx="1583543" cy="15838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f3afa6bb78_0_5"/>
          <p:cNvSpPr/>
          <p:nvPr/>
        </p:nvSpPr>
        <p:spPr>
          <a:xfrm>
            <a:off x="0" y="0"/>
            <a:ext cx="7584076" cy="1800825"/>
          </a:xfrm>
          <a:custGeom>
            <a:rect b="b" l="l" r="r" t="t"/>
            <a:pathLst>
              <a:path extrusionOk="0" h="474864" w="2000250">
                <a:moveTo>
                  <a:pt x="0" y="0"/>
                </a:moveTo>
                <a:lnTo>
                  <a:pt x="2000250" y="0"/>
                </a:lnTo>
                <a:lnTo>
                  <a:pt x="2000250" y="474864"/>
                </a:lnTo>
                <a:lnTo>
                  <a:pt x="0" y="474864"/>
                </a:lnTo>
                <a:lnTo>
                  <a:pt x="0" y="0"/>
                </a:lnTo>
                <a:close/>
              </a:path>
            </a:pathLst>
          </a:custGeom>
          <a:blipFill rotWithShape="1">
            <a:blip r:embed="rId3">
              <a:alphaModFix/>
            </a:blip>
            <a:stretch>
              <a:fillRect b="-6911" l="0" r="0" t="-173901"/>
            </a:stretch>
          </a:blipFill>
          <a:ln>
            <a:noFill/>
          </a:ln>
        </p:spPr>
      </p:sp>
      <p:sp>
        <p:nvSpPr>
          <p:cNvPr id="102" name="Google Shape;102;g3f3afa6bb78_0_5"/>
          <p:cNvSpPr txBox="1"/>
          <p:nvPr/>
        </p:nvSpPr>
        <p:spPr>
          <a:xfrm>
            <a:off x="284367" y="2004703"/>
            <a:ext cx="6599597" cy="5910294"/>
          </a:xfrm>
          <a:prstGeom prst="rect">
            <a:avLst/>
          </a:prstGeom>
          <a:noFill/>
          <a:ln>
            <a:noFill/>
          </a:ln>
        </p:spPr>
        <p:txBody>
          <a:bodyPr anchorCtr="0" anchor="t" bIns="91425" lIns="114300" spcFirstLastPara="1" rIns="91425" wrap="square" tIns="91425">
            <a:spAutoFit/>
          </a:bodyPr>
          <a:lstStyle/>
          <a:p>
            <a:pPr indent="0" lvl="0" marL="0" marR="0" rtl="0" algn="l">
              <a:lnSpc>
                <a:spcPct val="100000"/>
              </a:lnSpc>
              <a:spcBef>
                <a:spcPts val="0"/>
              </a:spcBef>
              <a:spcAft>
                <a:spcPts val="0"/>
              </a:spcAft>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100"/>
              </a:spcBef>
              <a:spcAft>
                <a:spcPts val="0"/>
              </a:spcAft>
              <a:buClr>
                <a:srgbClr val="000000"/>
              </a:buClr>
              <a:buSzPts val="400"/>
              <a:buFont typeface="Arial"/>
              <a:buNone/>
            </a:pPr>
            <a:r>
              <a:t/>
            </a:r>
            <a:endParaRPr b="0" i="0" sz="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100"/>
              </a:spcBef>
              <a:spcAft>
                <a:spcPts val="0"/>
              </a:spcAft>
              <a:buClr>
                <a:srgbClr val="000000"/>
              </a:buClr>
              <a:buSzPts val="1000"/>
              <a:buFont typeface="Arial"/>
              <a:buNone/>
            </a:pPr>
            <a:r>
              <a:rPr b="1" i="0" lang="en-US" sz="1000" u="none" cap="none" strike="noStrike">
                <a:solidFill>
                  <a:srgbClr val="000000"/>
                </a:solidFill>
                <a:latin typeface="Helvetica Neue"/>
                <a:ea typeface="Helvetica Neue"/>
                <a:cs typeface="Helvetica Neue"/>
                <a:sym typeface="Helvetica Neue"/>
              </a:rPr>
              <a:t>6. Comunidad y Lifestyle</a:t>
            </a:r>
            <a:endParaRPr b="1" i="0" sz="1000" u="none" cap="none" strike="noStrike">
              <a:solidFill>
                <a:srgbClr val="000000"/>
              </a:solidFill>
              <a:latin typeface="Helvetica Neue"/>
              <a:ea typeface="Helvetica Neue"/>
              <a:cs typeface="Helvetica Neue"/>
              <a:sym typeface="Helvetica Neue"/>
            </a:endParaRPr>
          </a:p>
          <a:p>
            <a:pPr indent="-31750" lvl="0" marL="57150" marR="0" rtl="0" algn="l">
              <a:lnSpc>
                <a:spcPct val="100000"/>
              </a:lnSpc>
              <a:spcBef>
                <a:spcPts val="10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Contexto</a:t>
            </a:r>
            <a:endParaRPr b="0" i="0" sz="1000" u="none" cap="none" strike="noStrike">
              <a:solidFill>
                <a:srgbClr val="000000"/>
              </a:solidFill>
              <a:latin typeface="Helvetica Neue"/>
              <a:ea typeface="Helvetica Neue"/>
              <a:cs typeface="Helvetica Neue"/>
              <a:sym typeface="Helvetica Neue"/>
            </a:endParaRPr>
          </a:p>
          <a:p>
            <a:pPr indent="-31750" lvl="0"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Perfil de comunidad</a:t>
            </a:r>
            <a:endParaRPr b="0" i="0" sz="1000" u="none" cap="none" strike="noStrike">
              <a:solidFill>
                <a:srgbClr val="000000"/>
              </a:solidFill>
              <a:latin typeface="Helvetica Neue"/>
              <a:ea typeface="Helvetica Neue"/>
              <a:cs typeface="Helvetica Neue"/>
              <a:sym typeface="Helvetica Neue"/>
            </a:endParaRPr>
          </a:p>
          <a:p>
            <a:pPr indent="-31750" lvl="0"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Códigos culturales</a:t>
            </a:r>
            <a:endParaRPr b="0" i="0" sz="1000" u="none" cap="none" strike="noStrike">
              <a:solidFill>
                <a:srgbClr val="000000"/>
              </a:solidFill>
              <a:latin typeface="Helvetica Neue"/>
              <a:ea typeface="Helvetica Neue"/>
              <a:cs typeface="Helvetica Neue"/>
              <a:sym typeface="Helvetica Neue"/>
            </a:endParaRPr>
          </a:p>
          <a:p>
            <a:pPr indent="-31750" lvl="0"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Conductores de conducta</a:t>
            </a:r>
            <a:endParaRPr b="0" i="0" sz="1000" u="none" cap="none" strike="noStrike">
              <a:solidFill>
                <a:srgbClr val="000000"/>
              </a:solidFill>
              <a:latin typeface="Helvetica Neue"/>
              <a:ea typeface="Helvetica Neue"/>
              <a:cs typeface="Helvetica Neue"/>
              <a:sym typeface="Helvetica Neue"/>
            </a:endParaRPr>
          </a:p>
          <a:p>
            <a:pPr indent="-31750" lvl="0"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Rituales y momentos de comunidad</a:t>
            </a:r>
            <a:endParaRPr b="0" i="0" sz="1000" u="none" cap="none" strike="noStrike">
              <a:solidFill>
                <a:srgbClr val="000000"/>
              </a:solidFill>
              <a:latin typeface="Helvetica Neue"/>
              <a:ea typeface="Helvetica Neue"/>
              <a:cs typeface="Helvetica Neue"/>
              <a:sym typeface="Helvetica Neue"/>
            </a:endParaRPr>
          </a:p>
          <a:p>
            <a:pPr indent="-31750" lvl="0"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Oportunidades de la comunidad</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100"/>
              </a:spcBef>
              <a:spcAft>
                <a:spcPts val="0"/>
              </a:spcAft>
              <a:buClr>
                <a:srgbClr val="000000"/>
              </a:buClr>
              <a:buSzPts val="400"/>
              <a:buFont typeface="Arial"/>
              <a:buNone/>
            </a:pPr>
            <a:r>
              <a:t/>
            </a:r>
            <a:endParaRPr b="0" i="0" sz="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100"/>
              </a:spcBef>
              <a:spcAft>
                <a:spcPts val="0"/>
              </a:spcAft>
              <a:buClr>
                <a:srgbClr val="000000"/>
              </a:buClr>
              <a:buSzPts val="1000"/>
              <a:buFont typeface="Arial"/>
              <a:buNone/>
            </a:pPr>
            <a:r>
              <a:rPr b="1" i="0" lang="en-US" sz="1000" u="none" cap="none" strike="noStrike">
                <a:solidFill>
                  <a:srgbClr val="000000"/>
                </a:solidFill>
                <a:latin typeface="Helvetica Neue"/>
                <a:ea typeface="Helvetica Neue"/>
                <a:cs typeface="Helvetica Neue"/>
                <a:sym typeface="Helvetica Neue"/>
              </a:rPr>
              <a:t>7. Como se hace realidad la marca</a:t>
            </a:r>
            <a:endParaRPr b="1" i="0" sz="1000" u="none" cap="none" strike="noStrike">
              <a:solidFill>
                <a:srgbClr val="000000"/>
              </a:solidFill>
              <a:latin typeface="Helvetica Neue"/>
              <a:ea typeface="Helvetica Neue"/>
              <a:cs typeface="Helvetica Neue"/>
              <a:sym typeface="Helvetica Neue"/>
            </a:endParaRPr>
          </a:p>
          <a:p>
            <a:pPr indent="-31750" lvl="0" marL="57150" marR="0" rtl="0" algn="l">
              <a:lnSpc>
                <a:spcPct val="100000"/>
              </a:lnSpc>
              <a:spcBef>
                <a:spcPts val="10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Aplicación a la Experiencia</a:t>
            </a:r>
            <a:endParaRPr b="0" i="0" sz="1000" u="none" cap="none" strike="noStrike">
              <a:solidFill>
                <a:srgbClr val="000000"/>
              </a:solidFill>
              <a:latin typeface="Helvetica Neue"/>
              <a:ea typeface="Helvetica Neue"/>
              <a:cs typeface="Helvetica Neue"/>
              <a:sym typeface="Helvetica Neue"/>
            </a:endParaRPr>
          </a:p>
          <a:p>
            <a:pPr indent="-31750" lvl="0"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Aplicación a la Hospitalidad</a:t>
            </a:r>
            <a:endParaRPr b="0" i="0" sz="1000" u="none" cap="none" strike="noStrike">
              <a:solidFill>
                <a:srgbClr val="000000"/>
              </a:solidFill>
              <a:latin typeface="Helvetica Neue"/>
              <a:ea typeface="Helvetica Neue"/>
              <a:cs typeface="Helvetica Neue"/>
              <a:sym typeface="Helvetica Neue"/>
            </a:endParaRPr>
          </a:p>
          <a:p>
            <a:pPr indent="-31750" lvl="0"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Aplicación al Producto</a:t>
            </a:r>
            <a:endParaRPr b="0" i="0" sz="1000" u="none" cap="none" strike="noStrike">
              <a:solidFill>
                <a:srgbClr val="000000"/>
              </a:solidFill>
              <a:latin typeface="Helvetica Neue"/>
              <a:ea typeface="Helvetica Neue"/>
              <a:cs typeface="Helvetica Neue"/>
              <a:sym typeface="Helvetica Neue"/>
            </a:endParaRPr>
          </a:p>
          <a:p>
            <a:pPr indent="-31750" lvl="0" marL="57150" marR="0" rtl="0" algn="l">
              <a:lnSpc>
                <a:spcPct val="100000"/>
              </a:lnSpc>
              <a:spcBef>
                <a:spcPts val="0"/>
              </a:spcBef>
              <a:spcAft>
                <a:spcPts val="0"/>
              </a:spcAft>
              <a:buClr>
                <a:srgbClr val="000000"/>
              </a:buClr>
              <a:buSzPts val="1000"/>
              <a:buFont typeface="Helvetica Neue"/>
              <a:buAutoNum type="alphaLcPeriod"/>
            </a:pPr>
            <a:r>
              <a:rPr b="0" i="0" lang="en-US" sz="1000" u="none" cap="none" strike="noStrike">
                <a:solidFill>
                  <a:srgbClr val="000000"/>
                </a:solidFill>
                <a:latin typeface="Helvetica Neue"/>
                <a:ea typeface="Helvetica Neue"/>
                <a:cs typeface="Helvetica Neue"/>
                <a:sym typeface="Helvetica Neue"/>
              </a:rPr>
              <a:t>Aplicación a la Comunicación</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100"/>
              </a:spcBef>
              <a:spcAft>
                <a:spcPts val="0"/>
              </a:spcAft>
              <a:buClr>
                <a:srgbClr val="000000"/>
              </a:buClr>
              <a:buSzPts val="400"/>
              <a:buFont typeface="Arial"/>
              <a:buNone/>
            </a:pPr>
            <a:r>
              <a:t/>
            </a:r>
            <a:endParaRPr b="0" i="0" sz="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100"/>
              </a:spcBef>
              <a:spcAft>
                <a:spcPts val="0"/>
              </a:spcAft>
              <a:buClr>
                <a:srgbClr val="000000"/>
              </a:buClr>
              <a:buSzPts val="1000"/>
              <a:buFont typeface="Arial"/>
              <a:buNone/>
            </a:pPr>
            <a:r>
              <a:rPr b="1" i="0" lang="en-US" sz="1000" u="none" cap="none" strike="noStrike">
                <a:solidFill>
                  <a:srgbClr val="000000"/>
                </a:solidFill>
                <a:latin typeface="Helvetica Neue"/>
                <a:ea typeface="Helvetica Neue"/>
                <a:cs typeface="Helvetica Neue"/>
                <a:sym typeface="Helvetica Neue"/>
              </a:rPr>
              <a:t>8. Hoja de ruta de implantación del ecosistema</a:t>
            </a:r>
            <a:endParaRPr b="1"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100"/>
              </a:spcBef>
              <a:spcAft>
                <a:spcPts val="10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p:txBody>
      </p:sp>
      <p:pic>
        <p:nvPicPr>
          <p:cNvPr id="103" name="Google Shape;103;g3f3afa6bb78_0_5" title="thebarnbarMesa de trabajo 1 copia 128.png"/>
          <p:cNvPicPr preferRelativeResize="0"/>
          <p:nvPr/>
        </p:nvPicPr>
        <p:blipFill rotWithShape="1">
          <a:blip r:embed="rId4">
            <a:alphaModFix/>
          </a:blip>
          <a:srcRect b="0" l="0" r="0" t="0"/>
          <a:stretch/>
        </p:blipFill>
        <p:spPr>
          <a:xfrm>
            <a:off x="6000530" y="217014"/>
            <a:ext cx="1583543" cy="15838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87" l="0" r="0" t="-237631"/>
            </a:stretch>
          </a:blipFill>
          <a:ln>
            <a:noFill/>
          </a:ln>
        </p:spPr>
      </p:sp>
      <p:sp>
        <p:nvSpPr>
          <p:cNvPr id="109" name="Google Shape;109;p3"/>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6" l="0" r="0" t="-206122"/>
            </a:stretch>
          </a:blipFill>
          <a:ln>
            <a:noFill/>
          </a:ln>
        </p:spPr>
      </p:sp>
      <p:sp>
        <p:nvSpPr>
          <p:cNvPr id="110" name="Google Shape;110;p3"/>
          <p:cNvSpPr txBox="1"/>
          <p:nvPr/>
        </p:nvSpPr>
        <p:spPr>
          <a:xfrm>
            <a:off x="440925" y="1220251"/>
            <a:ext cx="5467815" cy="64165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200"/>
              <a:buFont typeface="Arial"/>
              <a:buNone/>
            </a:pPr>
            <a:r>
              <a:rPr b="0" i="0" lang="en-US" sz="2200" u="none" cap="none" strike="noStrike">
                <a:solidFill>
                  <a:srgbClr val="000000"/>
                </a:solidFill>
                <a:latin typeface="Epilogue"/>
                <a:ea typeface="Epilogue"/>
                <a:cs typeface="Epilogue"/>
                <a:sym typeface="Epilogue"/>
              </a:rPr>
              <a:t>1.</a:t>
            </a:r>
            <a:r>
              <a:rPr lang="en-US" sz="2200">
                <a:latin typeface="Epilogue"/>
                <a:ea typeface="Epilogue"/>
                <a:cs typeface="Epilogue"/>
                <a:sym typeface="Epilogue"/>
              </a:rPr>
              <a:t>Resumen Ejecutivo</a:t>
            </a:r>
            <a:endParaRPr b="0" i="0" sz="2200" u="none" cap="none" strike="noStrike">
              <a:solidFill>
                <a:srgbClr val="000000"/>
              </a:solidFill>
              <a:latin typeface="Arial"/>
              <a:ea typeface="Arial"/>
              <a:cs typeface="Arial"/>
              <a:sym typeface="Arial"/>
            </a:endParaRPr>
          </a:p>
        </p:txBody>
      </p:sp>
      <p:sp>
        <p:nvSpPr>
          <p:cNvPr id="111" name="Google Shape;111;p3"/>
          <p:cNvSpPr txBox="1"/>
          <p:nvPr/>
        </p:nvSpPr>
        <p:spPr>
          <a:xfrm>
            <a:off x="440970" y="2069361"/>
            <a:ext cx="6678082" cy="7553439"/>
          </a:xfrm>
          <a:prstGeom prst="rect">
            <a:avLst/>
          </a:prstGeom>
          <a:noFill/>
          <a:ln>
            <a:noFill/>
          </a:ln>
        </p:spPr>
        <p:txBody>
          <a:bodyPr anchorCtr="0" anchor="t" bIns="0" lIns="0" spcFirstLastPara="1" rIns="0" wrap="square" tIns="0">
            <a:spAutoFit/>
          </a:bodyPr>
          <a:lstStyle/>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The Lokal nace de una idea sencilla: vivir bien no debería sentirse como algo excepcional.</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En un contexto donde comer, cuidarse, disfrutar y socializar forman parte cada vez más de la vida cotidiana, The Lokal busca construir una propuesta capaz de integrarse en esos pequeños momentos del día: desayunar, comer algo rápido, hacer una pausa, recuperar energía, descubrir un sabor nuevo o simplemente disfrutar.</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La marca parte de una tensión clara: </a:t>
            </a:r>
            <a:r>
              <a:rPr b="1" lang="en-US" sz="900">
                <a:latin typeface="Helvetica Neue"/>
                <a:ea typeface="Helvetica Neue"/>
                <a:cs typeface="Helvetica Neue"/>
                <a:sym typeface="Helvetica Neue"/>
              </a:rPr>
              <a:t>el consumidor quiere calidad, bienestar y experiencia, pero sin complicarse ni renunciar al placer. La oportunidad está en hacer que esas cosas convivan de forma natural.</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The Lokal no quiere definirse únicamente por una categoría gastronómica, sino por una manera de hacer las cosas: producto cuidado y apetecible, experiencia cercana, rituales cotidianos, conexión con el entorno y una mirada abierta al mundo.</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p:txBody>
      </p:sp>
      <p:sp>
        <p:nvSpPr>
          <p:cNvPr id="112" name="Google Shape;112;p3"/>
          <p:cNvSpPr/>
          <p:nvPr/>
        </p:nvSpPr>
        <p:spPr>
          <a:xfrm>
            <a:off x="5821473" y="758550"/>
            <a:ext cx="1736703" cy="1833860"/>
          </a:xfrm>
          <a:custGeom>
            <a:rect b="b" l="l" r="r" t="t"/>
            <a:pathLst>
              <a:path extrusionOk="0" h="600714" w="600714">
                <a:moveTo>
                  <a:pt x="0" y="0"/>
                </a:moveTo>
                <a:lnTo>
                  <a:pt x="600715" y="0"/>
                </a:lnTo>
                <a:lnTo>
                  <a:pt x="600715" y="600714"/>
                </a:lnTo>
                <a:lnTo>
                  <a:pt x="0" y="600714"/>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h717b898b6c2593fb_0_90"/>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118" name="Google Shape;118;h717b898b6c2593fb_0_90"/>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119" name="Google Shape;119;h717b898b6c2593fb_0_90"/>
          <p:cNvSpPr txBox="1"/>
          <p:nvPr/>
        </p:nvSpPr>
        <p:spPr>
          <a:xfrm>
            <a:off x="440970" y="951718"/>
            <a:ext cx="6678082" cy="8671082"/>
          </a:xfrm>
          <a:prstGeom prst="rect">
            <a:avLst/>
          </a:prstGeom>
          <a:noFill/>
          <a:ln>
            <a:noFill/>
          </a:ln>
        </p:spPr>
        <p:txBody>
          <a:bodyPr anchorCtr="0" anchor="t" bIns="0" lIns="0" spcFirstLastPara="1" rIns="0" wrap="square" tIns="0">
            <a:spAutoFit/>
          </a:bodyPr>
          <a:lstStyle/>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EL MUNDO NOS INSPIRA. LO LOCAL NOS DEFINE.</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Esta es la idea que articula la marca. The Lokal mira hacia fuera para encontrar sabores, culturas, ingredientes e ideas, pero los interpreta desde aquí. Lo local no como límite, sino como punto de partida.</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El bagel </a:t>
            </a:r>
            <a:r>
              <a:rPr lang="en-US" sz="900">
                <a:latin typeface="Helvetica Neue"/>
                <a:ea typeface="Helvetica Neue"/>
                <a:cs typeface="Helvetica Neue"/>
                <a:sym typeface="Helvetica Neue"/>
              </a:rPr>
              <a:t>se plantea como principal código gastronómico de la marca: un producto reconocible, versátil y capaz de generar hábito. </a:t>
            </a:r>
            <a:r>
              <a:rPr b="1" lang="en-US" sz="900">
                <a:latin typeface="Helvetica Neue"/>
                <a:ea typeface="Helvetica Neue"/>
                <a:cs typeface="Helvetica Neue"/>
                <a:sym typeface="Helvetica Neue"/>
              </a:rPr>
              <a:t>A su alrededor se construye un ecosistema de productos, temporadas, colaboraciones y experiencias que permiten acompañar diferentes momentos sin perder foco.</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La propuesta se completa con una dimensión de comunidad y lifestyle. </a:t>
            </a:r>
            <a:r>
              <a:rPr lang="en-US" sz="900">
                <a:latin typeface="Helvetica Neue"/>
                <a:ea typeface="Helvetica Neue"/>
                <a:cs typeface="Helvetica Neue"/>
                <a:sym typeface="Helvetica Neue"/>
              </a:rPr>
              <a:t>No como una audiencia a la que hablar, sino como personas que comparten intereses, hábitos y una determinada forma de vivir. Deporte, gastronomía, cultura, música, Barcelona, descubrimiento y colaboración se convierten en territorios desde los que generar relación y pertenencia.</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THE LOKAL, DONDE EL MUNDO SE SIENTE LOCAL</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En definitiva, The Lokal busca convertirse en una</a:t>
            </a:r>
            <a:r>
              <a:rPr lang="en-US" sz="900">
                <a:latin typeface="Helvetica Neue"/>
                <a:ea typeface="Helvetica Neue"/>
                <a:cs typeface="Helvetica Neue"/>
                <a:sym typeface="Helvetica Neue"/>
              </a:rPr>
              <a:t> marca cercana, curiosa y cotidiana: suficientemente familiar para formar parte de la rutina y suficientemente diferencial para generar deseo.</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Una marca que no pretende cambiar la forma en la que las personas viven su día, sino entrar en ella y hacerla un poco mejor.</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0" i="0" lang="en-US" sz="1000" u="none" cap="none" strike="noStrike">
                <a:solidFill>
                  <a:srgbClr val="000000"/>
                </a:solidFill>
                <a:latin typeface="Helvetica Neue"/>
                <a:ea typeface="Helvetica Neue"/>
                <a:cs typeface="Helvetica Neue"/>
                <a:sym typeface="Helvetica Neue"/>
              </a:rPr>
              <a:t>ffffff</a:t>
            </a:r>
            <a:endParaRPr b="0" i="0" sz="10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fb5eb765e6_0_0"/>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125" name="Google Shape;125;g3fb5eb765e6_0_0"/>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126" name="Google Shape;126;g3fb5eb765e6_0_0"/>
          <p:cNvSpPr txBox="1"/>
          <p:nvPr/>
        </p:nvSpPr>
        <p:spPr>
          <a:xfrm>
            <a:off x="440925" y="1154834"/>
            <a:ext cx="5467815" cy="963622"/>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2200"/>
              <a:buFont typeface="Arial"/>
              <a:buNone/>
            </a:pPr>
            <a:r>
              <a:rPr lang="en-US" sz="2200">
                <a:latin typeface="Epilogue"/>
                <a:ea typeface="Epilogue"/>
                <a:cs typeface="Epilogue"/>
                <a:sym typeface="Epilogue"/>
              </a:rPr>
              <a:t>2</a:t>
            </a:r>
            <a:r>
              <a:rPr b="0" i="0" lang="en-US" sz="2200" u="none" cap="none" strike="noStrike">
                <a:solidFill>
                  <a:srgbClr val="000000"/>
                </a:solidFill>
                <a:latin typeface="Epilogue"/>
                <a:ea typeface="Epilogue"/>
                <a:cs typeface="Epilogue"/>
                <a:sym typeface="Epilogue"/>
              </a:rPr>
              <a:t>.</a:t>
            </a:r>
            <a:r>
              <a:rPr lang="en-US" sz="2200">
                <a:latin typeface="Epilogue"/>
                <a:ea typeface="Epilogue"/>
                <a:cs typeface="Epilogue"/>
                <a:sym typeface="Epilogue"/>
              </a:rPr>
              <a:t>Observaciones estratégicas</a:t>
            </a:r>
            <a:endParaRPr b="0" i="0" sz="2200" u="none" cap="none" strike="noStrike">
              <a:solidFill>
                <a:srgbClr val="000000"/>
              </a:solidFill>
              <a:latin typeface="Arial"/>
              <a:ea typeface="Arial"/>
              <a:cs typeface="Arial"/>
              <a:sym typeface="Arial"/>
            </a:endParaRPr>
          </a:p>
        </p:txBody>
      </p:sp>
      <p:sp>
        <p:nvSpPr>
          <p:cNvPr id="127" name="Google Shape;127;g3fb5eb765e6_0_0"/>
          <p:cNvSpPr txBox="1"/>
          <p:nvPr/>
        </p:nvSpPr>
        <p:spPr>
          <a:xfrm>
            <a:off x="440925" y="2311807"/>
            <a:ext cx="6678082" cy="758838"/>
          </a:xfrm>
          <a:prstGeom prst="rect">
            <a:avLst/>
          </a:prstGeom>
          <a:noFill/>
          <a:ln>
            <a:noFill/>
          </a:ln>
        </p:spPr>
        <p:txBody>
          <a:bodyPr anchorCtr="0" anchor="t" bIns="0" lIns="0" spcFirstLastPara="1" rIns="0" wrap="square" tIns="0">
            <a:spAutoFit/>
          </a:bodyPr>
          <a:lstStyle/>
          <a:p>
            <a:pPr indent="-44450" lvl="0" marL="85725" marR="0" rtl="0" algn="l">
              <a:lnSpc>
                <a:spcPct val="100000"/>
              </a:lnSpc>
              <a:spcBef>
                <a:spcPts val="0"/>
              </a:spcBef>
              <a:spcAft>
                <a:spcPts val="0"/>
              </a:spcAft>
              <a:buClr>
                <a:srgbClr val="000000"/>
              </a:buClr>
              <a:buSzPts val="1400"/>
              <a:buFont typeface="Epilogue"/>
              <a:buAutoNum type="alphaLcPeriod"/>
            </a:pPr>
            <a:r>
              <a:rPr lang="en-US" sz="1200">
                <a:latin typeface="Epilogue"/>
                <a:ea typeface="Epilogue"/>
                <a:cs typeface="Epilogue"/>
                <a:sym typeface="Epilogue"/>
              </a:rPr>
              <a:t>Contexto y tendencias relevantes para el proyecto</a:t>
            </a:r>
            <a:endParaRPr b="0" i="0" sz="2400" u="none" cap="none" strike="noStrike">
              <a:solidFill>
                <a:srgbClr val="000000"/>
              </a:solidFill>
              <a:latin typeface="Arial"/>
              <a:ea typeface="Arial"/>
              <a:cs typeface="Arial"/>
              <a:sym typeface="Arial"/>
            </a:endParaRPr>
          </a:p>
        </p:txBody>
      </p:sp>
      <p:sp>
        <p:nvSpPr>
          <p:cNvPr id="128" name="Google Shape;128;g3fb5eb765e6_0_0"/>
          <p:cNvSpPr txBox="1"/>
          <p:nvPr/>
        </p:nvSpPr>
        <p:spPr>
          <a:xfrm>
            <a:off x="617267" y="3263938"/>
            <a:ext cx="6678082" cy="6358862"/>
          </a:xfrm>
          <a:prstGeom prst="rect">
            <a:avLst/>
          </a:prstGeom>
          <a:noFill/>
          <a:ln>
            <a:noFill/>
          </a:ln>
        </p:spPr>
        <p:txBody>
          <a:bodyPr anchorCtr="0" anchor="t" bIns="0" lIns="0" spcFirstLastPara="1" rIns="0" wrap="square" tIns="0">
            <a:spAutoFit/>
          </a:bodyPr>
          <a:lstStyle/>
          <a:p>
            <a:pPr indent="0" lvl="0" marL="0" rtl="0" algn="l">
              <a:lnSpc>
                <a:spcPct val="100000"/>
              </a:lnSpc>
              <a:spcBef>
                <a:spcPts val="1200"/>
              </a:spcBef>
              <a:spcAft>
                <a:spcPts val="0"/>
              </a:spcAft>
              <a:buClr>
                <a:schemeClr val="dk1"/>
              </a:buClr>
              <a:buSzPts val="2200"/>
              <a:buFont typeface="Arial"/>
              <a:buNone/>
            </a:pPr>
            <a:r>
              <a:rPr lang="en-US" sz="900">
                <a:solidFill>
                  <a:schemeClr val="dk1"/>
                </a:solidFill>
              </a:rPr>
              <a:t>El sector de la hostelería está evolucionando hacia propuestas que no se definen únicamente por lo que venden, sino por </a:t>
            </a:r>
            <a:r>
              <a:rPr b="1" lang="en-US" sz="900">
                <a:solidFill>
                  <a:schemeClr val="dk1"/>
                </a:solidFill>
              </a:rPr>
              <a:t>la identidad, la experiencia y el universo que construyen alrededor del producto</a:t>
            </a:r>
            <a:r>
              <a:rPr lang="en-US" sz="900">
                <a:solidFill>
                  <a:schemeClr val="dk1"/>
                </a:solidFill>
              </a:rPr>
              <a:t>.</a:t>
            </a:r>
            <a:endParaRPr sz="900">
              <a:solidFill>
                <a:schemeClr val="dk1"/>
              </a:solidFill>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endParaRPr>
          </a:p>
          <a:p>
            <a:pPr indent="0" lvl="0" marL="0" rtl="0" algn="l">
              <a:lnSpc>
                <a:spcPct val="115000"/>
              </a:lnSpc>
              <a:spcBef>
                <a:spcPts val="0"/>
              </a:spcBef>
              <a:spcAft>
                <a:spcPts val="0"/>
              </a:spcAft>
              <a:buClr>
                <a:schemeClr val="dk1"/>
              </a:buClr>
              <a:buSzPts val="2200"/>
              <a:buFont typeface="Arial"/>
              <a:buNone/>
            </a:pPr>
            <a:r>
              <a:rPr lang="en-US" sz="900" u="sng">
                <a:solidFill>
                  <a:schemeClr val="dk1"/>
                </a:solidFill>
              </a:rPr>
              <a:t>Algunas de las tendencias que estamos observando:</a:t>
            </a:r>
            <a:endParaRPr sz="900" u="sng">
              <a:solidFill>
                <a:schemeClr val="dk1"/>
              </a:solidFill>
            </a:endParaRPr>
          </a:p>
          <a:p>
            <a:pPr indent="-28575" lvl="0" marL="114300" rtl="0" algn="l">
              <a:lnSpc>
                <a:spcPct val="100000"/>
              </a:lnSpc>
              <a:spcBef>
                <a:spcPts val="0"/>
              </a:spcBef>
              <a:spcAft>
                <a:spcPts val="0"/>
              </a:spcAft>
              <a:buClr>
                <a:schemeClr val="dk1"/>
              </a:buClr>
              <a:buSzPts val="900"/>
              <a:buAutoNum type="arabicPeriod"/>
            </a:pPr>
            <a:r>
              <a:rPr b="1" lang="en-US" sz="900">
                <a:solidFill>
                  <a:schemeClr val="dk1"/>
                </a:solidFill>
              </a:rPr>
              <a:t>De la cafetería como servicio a la cafetería como parte del lifestyle.</a:t>
            </a:r>
            <a:br>
              <a:rPr b="1" lang="en-US" sz="900">
                <a:solidFill>
                  <a:schemeClr val="dk1"/>
                </a:solidFill>
              </a:rPr>
            </a:br>
            <a:r>
              <a:rPr lang="en-US" sz="900">
                <a:solidFill>
                  <a:schemeClr val="dk1"/>
                </a:solidFill>
              </a:rPr>
              <a:t>El café de especialidad se ha consolidado como una categoría de consumo cotidiano, mientras los nuevos formatos apuestan por propuestas más ágiles, reconocibles y fáciles de incorporar a la rutina. El café deja de ser únicamente una bebida para convertirse en un código cultural y en una forma de relacionarse con el entorno.</a:t>
            </a:r>
            <a:endParaRPr sz="900">
              <a:solidFill>
                <a:schemeClr val="dk1"/>
              </a:solidFill>
            </a:endParaRPr>
          </a:p>
          <a:p>
            <a:pPr indent="-28575" lvl="0" marL="114300" rtl="0" algn="l">
              <a:lnSpc>
                <a:spcPct val="115000"/>
              </a:lnSpc>
              <a:spcBef>
                <a:spcPts val="1000"/>
              </a:spcBef>
              <a:spcAft>
                <a:spcPts val="0"/>
              </a:spcAft>
              <a:buClr>
                <a:schemeClr val="dk1"/>
              </a:buClr>
              <a:buSzPts val="900"/>
              <a:buAutoNum type="arabicPeriod"/>
            </a:pPr>
            <a:r>
              <a:rPr b="1" lang="en-US" sz="900">
                <a:solidFill>
                  <a:schemeClr val="dk1"/>
                </a:solidFill>
              </a:rPr>
              <a:t>El grab &amp; go se normaliza, pero la rapidez ya no tiene por qué significar falta de experiencia.</a:t>
            </a:r>
            <a:br>
              <a:rPr b="1" lang="en-US" sz="900">
                <a:solidFill>
                  <a:schemeClr val="dk1"/>
                </a:solidFill>
              </a:rPr>
            </a:br>
            <a:r>
              <a:rPr lang="en-US" sz="900">
                <a:solidFill>
                  <a:schemeClr val="dk1"/>
                </a:solidFill>
              </a:rPr>
              <a:t>Comprar café o comida para llevar forma parte de la rutina de muchas personas, especialmente en entornos urbanos y de oficinas. Al mismo tiempo, algunas de las marcas más interesantes están demostrando que un formato pequeño, rápido o incluso basado en ventanilla puede construir una experiencia y una identidad muy fuertes.</a:t>
            </a:r>
            <a:endParaRPr b="0" i="0" sz="1000" u="none" cap="none" strike="noStrike">
              <a:solidFill>
                <a:srgbClr val="000000"/>
              </a:solidFill>
              <a:latin typeface="Helvetica Neue"/>
              <a:ea typeface="Helvetica Neue"/>
              <a:cs typeface="Helvetica Neue"/>
              <a:sym typeface="Helvetica Neue"/>
            </a:endParaRPr>
          </a:p>
        </p:txBody>
      </p:sp>
      <p:sp>
        <p:nvSpPr>
          <p:cNvPr id="129" name="Google Shape;129;g3fb5eb765e6_0_0"/>
          <p:cNvSpPr/>
          <p:nvPr/>
        </p:nvSpPr>
        <p:spPr>
          <a:xfrm>
            <a:off x="5908770" y="830805"/>
            <a:ext cx="1474774" cy="1611745"/>
          </a:xfrm>
          <a:custGeom>
            <a:rect b="b" l="l" r="r" t="t"/>
            <a:pathLst>
              <a:path extrusionOk="0" h="600714" w="600714">
                <a:moveTo>
                  <a:pt x="0" y="0"/>
                </a:moveTo>
                <a:lnTo>
                  <a:pt x="600715" y="0"/>
                </a:lnTo>
                <a:lnTo>
                  <a:pt x="600715" y="600714"/>
                </a:lnTo>
                <a:lnTo>
                  <a:pt x="0" y="600714"/>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fb5eb765e6_0_52"/>
          <p:cNvSpPr/>
          <p:nvPr/>
        </p:nvSpPr>
        <p:spPr>
          <a:xfrm>
            <a:off x="-159871" y="-91103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135" name="Google Shape;135;g3fb5eb765e6_0_52"/>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136" name="Google Shape;136;g3fb5eb765e6_0_52"/>
          <p:cNvSpPr txBox="1"/>
          <p:nvPr/>
        </p:nvSpPr>
        <p:spPr>
          <a:xfrm>
            <a:off x="440959" y="692477"/>
            <a:ext cx="6678082" cy="8508775"/>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2200"/>
              <a:buFont typeface="Arial"/>
              <a:buNone/>
            </a:pPr>
            <a:r>
              <a:rPr b="1" lang="en-US" sz="900">
                <a:solidFill>
                  <a:schemeClr val="dk1"/>
                </a:solidFill>
              </a:rPr>
              <a:t>3. </a:t>
            </a:r>
            <a:r>
              <a:rPr b="1" lang="en-US" sz="900">
                <a:solidFill>
                  <a:schemeClr val="dk1"/>
                </a:solidFill>
              </a:rPr>
              <a:t>Lo saludable evoluciona de la restricción al disfrute.</a:t>
            </a:r>
            <a:br>
              <a:rPr b="1" lang="en-US" sz="900">
                <a:solidFill>
                  <a:schemeClr val="dk1"/>
                </a:solidFill>
              </a:rPr>
            </a:br>
            <a:r>
              <a:rPr lang="en-US" sz="900">
                <a:solidFill>
                  <a:schemeClr val="dk1"/>
                </a:solidFill>
              </a:rPr>
              <a:t>La alimentación vinculada al bienestar está cada vez más integrada en el lifestyle urbano. Sin embargo, existe una diferencia entre una propuesta que comunica “healthy food” y otra que consigue que cuidarse resulte apetecible, social y aspiracional. El bienestar empieza a integrarse en la vida cotidiana desde un lugar menos restrictivo y más asociado al disfrute.</a:t>
            </a:r>
            <a:endParaRPr sz="900">
              <a:solidFill>
                <a:schemeClr val="dk1"/>
              </a:solidFill>
            </a:endParaRPr>
          </a:p>
          <a:p>
            <a:pPr indent="0" lvl="0" marL="0" rtl="0" algn="l">
              <a:lnSpc>
                <a:spcPct val="100000"/>
              </a:lnSpc>
              <a:spcBef>
                <a:spcPts val="1200"/>
              </a:spcBef>
              <a:spcAft>
                <a:spcPts val="0"/>
              </a:spcAft>
              <a:buClr>
                <a:schemeClr val="dk1"/>
              </a:buClr>
              <a:buSzPts val="2200"/>
              <a:buFont typeface="Arial"/>
              <a:buNone/>
            </a:pPr>
            <a:r>
              <a:rPr b="1" lang="en-US" sz="900">
                <a:solidFill>
                  <a:schemeClr val="dk1"/>
                </a:solidFill>
              </a:rPr>
              <a:t>4. El</a:t>
            </a:r>
            <a:r>
              <a:rPr b="1" lang="en-US" sz="900">
                <a:solidFill>
                  <a:schemeClr val="dk1"/>
                </a:solidFill>
              </a:rPr>
              <a:t> producto protagonista gana fuerza cuando se convierte en un código de marca.</a:t>
            </a:r>
            <a:br>
              <a:rPr b="1" lang="en-US" sz="900">
                <a:solidFill>
                  <a:schemeClr val="dk1"/>
                </a:solidFill>
              </a:rPr>
            </a:br>
            <a:r>
              <a:rPr lang="en-US" sz="900">
                <a:solidFill>
                  <a:schemeClr val="dk1"/>
                </a:solidFill>
              </a:rPr>
              <a:t>El crecimiento de conceptos especializados demuestra que un producto sencillo puede convertirse en el centro de una marca cuando tiene una identidad propia. El bagel es un ejemplo de esta tendencia, pero no es el único: café, pizza, cookies, matcha, helado o determinados productos de bakery están construyendo marcas reconocibles a partir de una oferta muy concreta.</a:t>
            </a:r>
            <a:endParaRPr sz="900">
              <a:solidFill>
                <a:schemeClr val="dk1"/>
              </a:solidFill>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rPr>
              <a:t>La identidad se construye alrededor del producto a través de códigos visuales, rituales de consumo, colaboraciones, merchandising y una historia de origen reconocible.</a:t>
            </a:r>
            <a:endParaRPr sz="900">
              <a:solidFill>
                <a:schemeClr val="dk1"/>
              </a:solidFill>
            </a:endParaRPr>
          </a:p>
          <a:p>
            <a:pPr indent="0" lvl="0" marL="0" rtl="0" algn="l">
              <a:lnSpc>
                <a:spcPct val="115000"/>
              </a:lnSpc>
              <a:spcBef>
                <a:spcPts val="1200"/>
              </a:spcBef>
              <a:spcAft>
                <a:spcPts val="1200"/>
              </a:spcAft>
              <a:buClr>
                <a:schemeClr val="dk1"/>
              </a:buClr>
              <a:buSzPts val="2200"/>
              <a:buFont typeface="Arial"/>
              <a:buNone/>
            </a:pPr>
            <a:r>
              <a:rPr b="1" lang="en-US" sz="900">
                <a:solidFill>
                  <a:schemeClr val="dk1"/>
                </a:solidFill>
              </a:rPr>
              <a:t>5. </a:t>
            </a:r>
            <a:r>
              <a:rPr b="1" lang="en-US" sz="900">
                <a:solidFill>
                  <a:schemeClr val="dk1"/>
                </a:solidFill>
              </a:rPr>
              <a:t>Las marcas empiezan a competir también por la cultura que generan.</a:t>
            </a:r>
            <a:br>
              <a:rPr b="1" lang="en-US" sz="900">
                <a:solidFill>
                  <a:schemeClr val="dk1"/>
                </a:solidFill>
              </a:rPr>
            </a:br>
            <a:r>
              <a:rPr lang="en-US" sz="900">
                <a:solidFill>
                  <a:schemeClr val="dk1"/>
                </a:solidFill>
              </a:rPr>
              <a:t>Frente a propuestas cada vez más similares en producto y precio, la construcción de una identidad propia se convierte en una herramienta de diferenciación. El lenguaje, la estética, el packaging, los rituales, los objetos de marca y la forma de relacionarse con el consumidor pasan a formar parte de la propuesta de valor.</a:t>
            </a:r>
            <a:endParaRPr b="0" i="0" sz="10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fb5eb765e6_0_61"/>
          <p:cNvSpPr/>
          <p:nvPr/>
        </p:nvSpPr>
        <p:spPr>
          <a:xfrm>
            <a:off x="-159871" y="-91103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142" name="Google Shape;142;g3fb5eb765e6_0_61"/>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143" name="Google Shape;143;g3fb5eb765e6_0_61"/>
          <p:cNvSpPr txBox="1"/>
          <p:nvPr/>
        </p:nvSpPr>
        <p:spPr>
          <a:xfrm>
            <a:off x="440959" y="692477"/>
            <a:ext cx="6678082" cy="8418898"/>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rPr>
              <a:t>6. </a:t>
            </a:r>
            <a:r>
              <a:rPr b="1" lang="en-US" sz="900">
                <a:solidFill>
                  <a:schemeClr val="dk1"/>
                </a:solidFill>
              </a:rPr>
              <a:t>La comunidad deja de depender de un espacio físico.</a:t>
            </a:r>
            <a:br>
              <a:rPr b="1" lang="en-US" sz="900">
                <a:solidFill>
                  <a:schemeClr val="dk1"/>
                </a:solidFill>
              </a:rPr>
            </a:br>
            <a:r>
              <a:rPr lang="en-US" sz="900">
                <a:solidFill>
                  <a:schemeClr val="dk1"/>
                </a:solidFill>
              </a:rPr>
              <a:t>La construcción de comunidad alrededor de una marca está adoptando formas cada vez más diversas y no necesariamente requiere un local diseñado para permanecer en él. Especialmente en conceptos de consumo rápido, la relación con la comunidad puede extenderse mucho más allá del momento de compra.</a:t>
            </a:r>
            <a:endParaRPr sz="900">
              <a:solidFill>
                <a:schemeClr val="dk1"/>
              </a:solidFill>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endParaRPr>
          </a:p>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rPr>
              <a:t>Estamos viendo diferentes mecanismos que permiten convertir una marca de F&amp;B en un punto de encuentro cultural o social:</a:t>
            </a:r>
            <a:endParaRPr b="1" sz="900">
              <a:solidFill>
                <a:schemeClr val="dk1"/>
              </a:solidFill>
            </a:endParaRPr>
          </a:p>
          <a:p>
            <a:pPr indent="-28575" lvl="0" marL="142875" rtl="0" algn="l">
              <a:lnSpc>
                <a:spcPct val="115000"/>
              </a:lnSpc>
              <a:spcBef>
                <a:spcPts val="0"/>
              </a:spcBef>
              <a:spcAft>
                <a:spcPts val="0"/>
              </a:spcAft>
              <a:buClr>
                <a:schemeClr val="dk1"/>
              </a:buClr>
              <a:buSzPts val="900"/>
              <a:buChar char="●"/>
            </a:pPr>
            <a:r>
              <a:rPr b="1" lang="en-US" sz="900">
                <a:solidFill>
                  <a:schemeClr val="dk1"/>
                </a:solidFill>
              </a:rPr>
              <a:t>Deporte y hábitos compartidos:</a:t>
            </a:r>
            <a:r>
              <a:rPr lang="en-US" sz="900">
                <a:solidFill>
                  <a:schemeClr val="dk1"/>
                </a:solidFill>
              </a:rPr>
              <a:t> running clubs, cycling clubs o encuentros vinculados al deporte. Algunas marcas de running y cycling han integrado cafeterías como punto de encuentro antes y después de las actividades, utilizando el café como parte de un ritual colectivo. Tracksmith, Bandit Running o Rapha son ejemplos de cómo una actividad puede convertirse en una puerta de entrada a una comunidad.</a:t>
            </a:r>
            <a:endParaRPr sz="900">
              <a:solidFill>
                <a:schemeClr val="dk1"/>
              </a:solidFill>
            </a:endParaRPr>
          </a:p>
          <a:p>
            <a:pPr indent="-28575" lvl="0" marL="142875" rtl="0" algn="l">
              <a:lnSpc>
                <a:spcPct val="115000"/>
              </a:lnSpc>
              <a:spcBef>
                <a:spcPts val="0"/>
              </a:spcBef>
              <a:spcAft>
                <a:spcPts val="0"/>
              </a:spcAft>
              <a:buClr>
                <a:schemeClr val="dk1"/>
              </a:buClr>
              <a:buSzPts val="900"/>
              <a:buChar char="●"/>
            </a:pPr>
            <a:r>
              <a:rPr b="1" lang="en-US" sz="900">
                <a:solidFill>
                  <a:schemeClr val="dk1"/>
                </a:solidFill>
              </a:rPr>
              <a:t>Pop-ups y colaboraciones:</a:t>
            </a:r>
            <a:r>
              <a:rPr lang="en-US" sz="900">
                <a:solidFill>
                  <a:schemeClr val="dk1"/>
                </a:solidFill>
              </a:rPr>
              <a:t> colaboraciones con marcas de moda, wellness, música u otras categorías pueden convertir una cafetería en un espacio de descubrimiento y generar motivos recurrentes para volver. Blue Bottle Coffee, por ejemplo, ha desarrollado colaboraciones con Human Made que combinan producto, café y merchandising.</a:t>
            </a:r>
            <a:endParaRPr sz="900">
              <a:solidFill>
                <a:schemeClr val="dk1"/>
              </a:solidFill>
            </a:endParaRPr>
          </a:p>
          <a:p>
            <a:pPr indent="-28575" lvl="0" marL="142875" rtl="0" algn="l">
              <a:lnSpc>
                <a:spcPct val="115000"/>
              </a:lnSpc>
              <a:spcBef>
                <a:spcPts val="0"/>
              </a:spcBef>
              <a:spcAft>
                <a:spcPts val="0"/>
              </a:spcAft>
              <a:buClr>
                <a:schemeClr val="dk1"/>
              </a:buClr>
              <a:buSzPts val="900"/>
              <a:buChar char="●"/>
            </a:pPr>
            <a:r>
              <a:rPr b="1" lang="en-US" sz="900">
                <a:solidFill>
                  <a:schemeClr val="dk1"/>
                </a:solidFill>
              </a:rPr>
              <a:t>Merchandising como código de pertenencia:</a:t>
            </a:r>
            <a:r>
              <a:rPr lang="en-US" sz="900">
                <a:solidFill>
                  <a:schemeClr val="dk1"/>
                </a:solidFill>
              </a:rPr>
              <a:t> determinados objetos pueden funcionar como una extensión de la identidad de la marca. Ralph's Coffee o Cha Cha Matcha han construido universos en los que las tazas, gorras, bolsas o prendas forman parte de la cultura de marca y permiten llevarla más allá del local.</a:t>
            </a:r>
            <a:endParaRPr b="0" i="0" sz="10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fb5eb765e6_0_67"/>
          <p:cNvSpPr/>
          <p:nvPr/>
        </p:nvSpPr>
        <p:spPr>
          <a:xfrm>
            <a:off x="-159871" y="-91103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149" name="Google Shape;149;g3fb5eb765e6_0_67"/>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150" name="Google Shape;150;g3fb5eb765e6_0_67"/>
          <p:cNvSpPr txBox="1"/>
          <p:nvPr/>
        </p:nvSpPr>
        <p:spPr>
          <a:xfrm>
            <a:off x="440959" y="692477"/>
            <a:ext cx="6678082" cy="8930323"/>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endParaRPr>
          </a:p>
          <a:p>
            <a:pPr indent="-28575" lvl="0" marL="142875" rtl="0" algn="l">
              <a:lnSpc>
                <a:spcPct val="115000"/>
              </a:lnSpc>
              <a:spcBef>
                <a:spcPts val="0"/>
              </a:spcBef>
              <a:spcAft>
                <a:spcPts val="0"/>
              </a:spcAft>
              <a:buClr>
                <a:schemeClr val="dk1"/>
              </a:buClr>
              <a:buSzPts val="900"/>
              <a:buChar char="●"/>
            </a:pPr>
            <a:r>
              <a:rPr b="1" lang="en-US" sz="900">
                <a:solidFill>
                  <a:schemeClr val="dk1"/>
                </a:solidFill>
              </a:rPr>
              <a:t>Comunidad digital:</a:t>
            </a:r>
            <a:r>
              <a:rPr lang="en-US" sz="900">
                <a:solidFill>
                  <a:schemeClr val="dk1"/>
                </a:solidFill>
              </a:rPr>
              <a:t> una marca puede empezar a construir relación con sus consumidores antes incluso de tener un espacio físico. Chamberlain Coffee, por ejemplo, desarrolló primero una comunidad alrededor del contenido, los hábitos y el ritual del café para posteriormente trasladarla al espacio físico.</a:t>
            </a:r>
            <a:endParaRPr sz="900">
              <a:solidFill>
                <a:schemeClr val="dk1"/>
              </a:solidFill>
            </a:endParaRPr>
          </a:p>
          <a:p>
            <a:pPr indent="-28575" lvl="0" marL="142875" rtl="0" algn="l">
              <a:lnSpc>
                <a:spcPct val="115000"/>
              </a:lnSpc>
              <a:spcBef>
                <a:spcPts val="0"/>
              </a:spcBef>
              <a:spcAft>
                <a:spcPts val="0"/>
              </a:spcAft>
              <a:buClr>
                <a:schemeClr val="dk1"/>
              </a:buClr>
              <a:buSzPts val="900"/>
              <a:buChar char="●"/>
            </a:pPr>
            <a:r>
              <a:rPr b="1" lang="en-US" sz="900">
                <a:solidFill>
                  <a:schemeClr val="dk1"/>
                </a:solidFill>
              </a:rPr>
              <a:t>Drops y ediciones limitadas:</a:t>
            </a:r>
            <a:r>
              <a:rPr lang="en-US" sz="900">
                <a:solidFill>
                  <a:schemeClr val="dk1"/>
                </a:solidFill>
              </a:rPr>
              <a:t> productos especiales, colaboraciones o lanzamientos temporales generan expectativa, conversación y repetición. Crumbl o Erewhon utilizan la novedad y la temporalidad como parte de su relación con la comunidad.</a:t>
            </a:r>
            <a:endParaRPr sz="900">
              <a:solidFill>
                <a:schemeClr val="dk1"/>
              </a:solidFill>
            </a:endParaRPr>
          </a:p>
          <a:p>
            <a:pPr indent="-28575" lvl="0" marL="142875" rtl="0" algn="l">
              <a:lnSpc>
                <a:spcPct val="115000"/>
              </a:lnSpc>
              <a:spcBef>
                <a:spcPts val="0"/>
              </a:spcBef>
              <a:spcAft>
                <a:spcPts val="0"/>
              </a:spcAft>
              <a:buClr>
                <a:schemeClr val="dk1"/>
              </a:buClr>
              <a:buSzPts val="900"/>
              <a:buChar char="●"/>
            </a:pPr>
            <a:r>
              <a:rPr b="1" lang="en-US" sz="900">
                <a:solidFill>
                  <a:schemeClr val="dk1"/>
                </a:solidFill>
              </a:rPr>
              <a:t>Memberships y acceso exclusivo:</a:t>
            </a:r>
            <a:r>
              <a:rPr lang="en-US" sz="900">
                <a:solidFill>
                  <a:schemeClr val="dk1"/>
                </a:solidFill>
              </a:rPr>
              <a:t> algunas marcas llevan la idea de pertenencia un paso más allá mediante clubs, acceso anticipado, productos exclusivos o experiencias reservadas a miembros. La comunidad se construye alrededor del acceso y de sentirse parte de algo, no necesariamente alrededor de un espacio físico.</a:t>
            </a:r>
            <a:endParaRPr sz="900">
              <a:solidFill>
                <a:schemeClr val="dk1"/>
              </a:solidFill>
            </a:endParaRPr>
          </a:p>
          <a:p>
            <a:pPr indent="0" lvl="0" marL="457200" rtl="0" algn="l">
              <a:lnSpc>
                <a:spcPct val="115000"/>
              </a:lnSpc>
              <a:spcBef>
                <a:spcPts val="0"/>
              </a:spcBef>
              <a:spcAft>
                <a:spcPts val="0"/>
              </a:spcAft>
              <a:buNone/>
            </a:pPr>
            <a:r>
              <a:t/>
            </a:r>
            <a:endParaRPr sz="900">
              <a:solidFill>
                <a:schemeClr val="dk1"/>
              </a:solidFill>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rPr>
              <a:t>Estos ejemplos muestran que </a:t>
            </a:r>
            <a:r>
              <a:rPr b="1" lang="en-US" sz="900">
                <a:solidFill>
                  <a:schemeClr val="dk1"/>
                </a:solidFill>
              </a:rPr>
              <a:t>“comunidad” no es un único modelo</a:t>
            </a:r>
            <a:r>
              <a:rPr lang="en-US" sz="900">
                <a:solidFill>
                  <a:schemeClr val="dk1"/>
                </a:solidFill>
              </a:rPr>
              <a:t>, sino un ecosistema de comportamientos, rituales y puntos de contacto que una marca puede activar de diferentes maneras.</a:t>
            </a:r>
            <a:endParaRPr sz="900">
              <a:solidFill>
                <a:schemeClr val="dk1"/>
              </a:solidFill>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endParaRPr>
          </a:p>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rPr>
              <a:t>7. </a:t>
            </a:r>
            <a:r>
              <a:rPr b="1" lang="en-US" sz="900">
                <a:solidFill>
                  <a:schemeClr val="dk1"/>
                </a:solidFill>
              </a:rPr>
              <a:t>También cambia la forma de socializar alrededor de la bebida.</a:t>
            </a:r>
            <a:br>
              <a:rPr b="1" lang="en-US" sz="900">
                <a:solidFill>
                  <a:schemeClr val="dk1"/>
                </a:solidFill>
              </a:rPr>
            </a:br>
            <a:r>
              <a:rPr lang="en-US" sz="900">
                <a:solidFill>
                  <a:schemeClr val="dk1"/>
                </a:solidFill>
              </a:rPr>
              <a:t>La aparición y consolidación de propuestas </a:t>
            </a:r>
            <a:r>
              <a:rPr i="1" lang="en-US" sz="900">
                <a:solidFill>
                  <a:schemeClr val="dk1"/>
                </a:solidFill>
              </a:rPr>
              <a:t>zero-proof</a:t>
            </a:r>
            <a:r>
              <a:rPr lang="en-US" sz="900">
                <a:solidFill>
                  <a:schemeClr val="dk1"/>
                </a:solidFill>
              </a:rPr>
              <a:t> refleja una mayor apertura hacia ocasiones sociales en las que el alcohol deja de ser imprescindible. Los cócteles sin alcohol empiezan a ocupar un espacio propio dentro de la cultura de consumo, especialmente vinculados a bienestar, moderación y nuevas formas de socialización.</a:t>
            </a:r>
            <a:endParaRPr sz="900">
              <a:solidFill>
                <a:schemeClr val="dk1"/>
              </a:solidFill>
            </a:endParaRPr>
          </a:p>
          <a:p>
            <a:pPr indent="0" lvl="0" marL="0" marR="0" rtl="0" algn="l">
              <a:lnSpc>
                <a:spcPct val="140100"/>
              </a:lnSpc>
              <a:spcBef>
                <a:spcPts val="1200"/>
              </a:spcBef>
              <a:spcAft>
                <a:spcPts val="0"/>
              </a:spcAft>
              <a:buClr>
                <a:srgbClr val="000000"/>
              </a:buClr>
              <a:buSzPts val="1000"/>
              <a:buFont typeface="Arial"/>
              <a:buNone/>
            </a:pPr>
            <a:r>
              <a:t/>
            </a:r>
            <a:endParaRPr sz="10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fb5eb765e6_0_18"/>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156" name="Google Shape;156;g3fb5eb765e6_0_18"/>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157" name="Google Shape;157;g3fb5eb765e6_0_18"/>
          <p:cNvSpPr txBox="1"/>
          <p:nvPr/>
        </p:nvSpPr>
        <p:spPr>
          <a:xfrm>
            <a:off x="440925" y="1281015"/>
            <a:ext cx="6678082" cy="350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b. </a:t>
            </a:r>
            <a:r>
              <a:rPr lang="en-US" sz="1200">
                <a:latin typeface="Epilogue"/>
                <a:ea typeface="Epilogue"/>
                <a:cs typeface="Epilogue"/>
                <a:sym typeface="Epilogue"/>
              </a:rPr>
              <a:t>Cambios de </a:t>
            </a:r>
            <a:r>
              <a:rPr lang="en-US" sz="1200">
                <a:latin typeface="Epilogue"/>
                <a:ea typeface="Epilogue"/>
                <a:cs typeface="Epilogue"/>
                <a:sym typeface="Epilogue"/>
              </a:rPr>
              <a:t>hábito</a:t>
            </a:r>
            <a:r>
              <a:rPr lang="en-US" sz="1200">
                <a:latin typeface="Epilogue"/>
                <a:ea typeface="Epilogue"/>
                <a:cs typeface="Epilogue"/>
                <a:sym typeface="Epilogue"/>
              </a:rPr>
              <a:t> del consumo</a:t>
            </a:r>
            <a:endParaRPr b="0" i="0" sz="2400" u="none" cap="none" strike="noStrike">
              <a:solidFill>
                <a:srgbClr val="000000"/>
              </a:solidFill>
              <a:latin typeface="Arial"/>
              <a:ea typeface="Arial"/>
              <a:cs typeface="Arial"/>
              <a:sym typeface="Arial"/>
            </a:endParaRPr>
          </a:p>
        </p:txBody>
      </p:sp>
      <p:sp>
        <p:nvSpPr>
          <p:cNvPr id="158" name="Google Shape;158;g3fb5eb765e6_0_18"/>
          <p:cNvSpPr txBox="1"/>
          <p:nvPr/>
        </p:nvSpPr>
        <p:spPr>
          <a:xfrm>
            <a:off x="440959" y="2052584"/>
            <a:ext cx="6678082" cy="6937627"/>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Más allá de las tendencias de mercado, también están cambiando las formas en las que las personas incorporan la hostelería a su día a día. El consumo se vuelve más frecuente, más fragmentado y más conectado con las rutinas personales.</a:t>
            </a:r>
            <a:endParaRPr sz="900">
              <a:solidFill>
                <a:schemeClr val="dk1"/>
              </a:solidFill>
              <a:latin typeface="Helvetica Neue"/>
              <a:ea typeface="Helvetica Neue"/>
              <a:cs typeface="Helvetica Neue"/>
              <a:sym typeface="Helvetica Neue"/>
            </a:endParaRPr>
          </a:p>
          <a:p>
            <a:pPr indent="-28575" lvl="0" marL="85725" rtl="0" algn="l">
              <a:lnSpc>
                <a:spcPct val="115000"/>
              </a:lnSpc>
              <a:spcBef>
                <a:spcPts val="0"/>
              </a:spcBef>
              <a:spcAft>
                <a:spcPts val="0"/>
              </a:spcAft>
              <a:buClr>
                <a:schemeClr val="dk1"/>
              </a:buClr>
              <a:buSzPts val="900"/>
              <a:buFont typeface="Helvetica Neue"/>
              <a:buAutoNum type="arabicPeriod"/>
            </a:pPr>
            <a:r>
              <a:rPr b="1" lang="en-US" sz="900">
                <a:solidFill>
                  <a:schemeClr val="dk1"/>
                </a:solidFill>
                <a:latin typeface="Helvetica Neue"/>
                <a:ea typeface="Helvetica Neue"/>
                <a:cs typeface="Helvetica Neue"/>
                <a:sym typeface="Helvetica Neue"/>
              </a:rPr>
              <a:t>El consumo fuera de casa se integra cada vez más en la rutina diaria.</a:t>
            </a:r>
            <a:br>
              <a:rPr b="1" lang="en-US" sz="900">
                <a:solidFill>
                  <a:schemeClr val="dk1"/>
                </a:solidFill>
                <a:latin typeface="Helvetica Neue"/>
                <a:ea typeface="Helvetica Neue"/>
                <a:cs typeface="Helvetica Neue"/>
                <a:sym typeface="Helvetica Neue"/>
              </a:rPr>
            </a:br>
            <a:r>
              <a:rPr lang="en-US" sz="900">
                <a:solidFill>
                  <a:schemeClr val="dk1"/>
                </a:solidFill>
                <a:latin typeface="Helvetica Neue"/>
                <a:ea typeface="Helvetica Neue"/>
                <a:cs typeface="Helvetica Neue"/>
                <a:sym typeface="Helvetica Neue"/>
              </a:rPr>
              <a:t>Salir a comer o beber ya no se concentra únicamente en las comidas y cenas. El desayuno, el café, el aperitivo y la merienda ganan peso como momentos cotidianos de consumo. En España, el 81% de los consumidores desayuna en un bar o cafetería al menos una vez por semana y el 72% realiza un segundo desayuno a media mañana entre semana.</a:t>
            </a:r>
            <a:endParaRPr sz="900">
              <a:solidFill>
                <a:schemeClr val="dk1"/>
              </a:solidFill>
              <a:latin typeface="Helvetica Neue"/>
              <a:ea typeface="Helvetica Neue"/>
              <a:cs typeface="Helvetica Neue"/>
              <a:sym typeface="Helvetica Neue"/>
            </a:endParaRPr>
          </a:p>
          <a:p>
            <a:pPr indent="0" lvl="0" marL="457200" rtl="0" algn="l">
              <a:lnSpc>
                <a:spcPct val="115000"/>
              </a:lnSpc>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28575" lvl="0" marL="85725" rtl="0" algn="l">
              <a:lnSpc>
                <a:spcPct val="115000"/>
              </a:lnSpc>
              <a:spcBef>
                <a:spcPts val="0"/>
              </a:spcBef>
              <a:spcAft>
                <a:spcPts val="0"/>
              </a:spcAft>
              <a:buClr>
                <a:schemeClr val="dk1"/>
              </a:buClr>
              <a:buSzPts val="900"/>
              <a:buFont typeface="Helvetica Neue"/>
              <a:buAutoNum type="arabicPeriod"/>
            </a:pPr>
            <a:r>
              <a:rPr b="1" lang="en-US" sz="900">
                <a:solidFill>
                  <a:schemeClr val="dk1"/>
                </a:solidFill>
                <a:latin typeface="Helvetica Neue"/>
                <a:ea typeface="Helvetica Neue"/>
                <a:cs typeface="Helvetica Neue"/>
                <a:sym typeface="Helvetica Neue"/>
              </a:rPr>
              <a:t>El día se convierte en una suma de pequeños momentos de consumo.</a:t>
            </a:r>
            <a:br>
              <a:rPr b="1" lang="en-US" sz="900">
                <a:solidFill>
                  <a:schemeClr val="dk1"/>
                </a:solidFill>
                <a:latin typeface="Helvetica Neue"/>
                <a:ea typeface="Helvetica Neue"/>
                <a:cs typeface="Helvetica Neue"/>
                <a:sym typeface="Helvetica Neue"/>
              </a:rPr>
            </a:br>
            <a:r>
              <a:rPr lang="en-US" sz="900">
                <a:solidFill>
                  <a:schemeClr val="dk1"/>
                </a:solidFill>
                <a:latin typeface="Helvetica Neue"/>
                <a:ea typeface="Helvetica Neue"/>
                <a:cs typeface="Helvetica Neue"/>
                <a:sym typeface="Helvetica Neue"/>
              </a:rPr>
              <a:t>La relación con la hostelería se vuelve menos dependiente de una única ocasión. Un mismo consumidor puede tomar un café camino al trabajo, comer algo rápido a mediodía y volver a quedar para tomar algo por la tarde. También se observa un desplazamiento de parte del ocio desde la noche hacia franjas diurnas: el 50% de los consumidores afirma haber trasladado parte de su consumo de ocio nocturno a horarios de día.</a:t>
            </a:r>
            <a:endParaRPr sz="900">
              <a:solidFill>
                <a:schemeClr val="dk1"/>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fb5eb765e6_0_74"/>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164" name="Google Shape;164;g3fb5eb765e6_0_74"/>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165" name="Google Shape;165;g3fb5eb765e6_0_74"/>
          <p:cNvSpPr txBox="1"/>
          <p:nvPr/>
        </p:nvSpPr>
        <p:spPr>
          <a:xfrm>
            <a:off x="440959" y="1082636"/>
            <a:ext cx="6678082" cy="8116272"/>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3. </a:t>
            </a:r>
            <a:r>
              <a:rPr b="1" lang="en-US" sz="900">
                <a:solidFill>
                  <a:schemeClr val="dk1"/>
                </a:solidFill>
                <a:latin typeface="Helvetica Neue"/>
                <a:ea typeface="Helvetica Neue"/>
                <a:cs typeface="Helvetica Neue"/>
                <a:sym typeface="Helvetica Neue"/>
              </a:rPr>
              <a:t>La conveniencia gana peso, especialmente en el consumo cotidiano.</a:t>
            </a:r>
            <a:br>
              <a:rPr b="1" lang="en-US" sz="900">
                <a:solidFill>
                  <a:schemeClr val="dk1"/>
                </a:solidFill>
                <a:latin typeface="Helvetica Neue"/>
                <a:ea typeface="Helvetica Neue"/>
                <a:cs typeface="Helvetica Neue"/>
                <a:sym typeface="Helvetica Neue"/>
              </a:rPr>
            </a:br>
            <a:r>
              <a:rPr lang="en-US" sz="900">
                <a:solidFill>
                  <a:schemeClr val="dk1"/>
                </a:solidFill>
                <a:latin typeface="Helvetica Neue"/>
                <a:ea typeface="Helvetica Neue"/>
                <a:cs typeface="Helvetica Neue"/>
                <a:sym typeface="Helvetica Neue"/>
              </a:rPr>
              <a:t>El consumidor busca poder integrar la comida y la bebida en su ritmo de vida: comprar rápido, llevarse el producto, recogerlo sin esperar o consumirlo mientras continúa con su día. El take-away representa ya una parte significativa del consumo de restauración en España, mientras el crecimiento del delivery y de los formatos grab &amp; go confirma la consolidación de modelos orientados a la inmediatez.</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Pero la conveniencia no implica necesariamente renunciar a la calidad. El crecimiento simultáneo del café de especialidad y de los formatos para llevar muestra una evolución hacia un consumidor que busca </a:t>
            </a:r>
            <a:r>
              <a:rPr b="1" lang="en-US" sz="900">
                <a:solidFill>
                  <a:schemeClr val="dk1"/>
                </a:solidFill>
                <a:latin typeface="Helvetica Neue"/>
                <a:ea typeface="Helvetica Neue"/>
                <a:cs typeface="Helvetica Neue"/>
                <a:sym typeface="Helvetica Neue"/>
              </a:rPr>
              <a:t>rapidez en el servicio, pero mayor exigencia en lo que consume</a:t>
            </a:r>
            <a:r>
              <a:rPr lang="en-US" sz="900">
                <a:solidFill>
                  <a:schemeClr val="dk1"/>
                </a:solidFill>
                <a:latin typeface="Helvetica Neue"/>
                <a:ea typeface="Helvetica Neue"/>
                <a:cs typeface="Helvetica Neue"/>
                <a:sym typeface="Helvetica Neue"/>
              </a:rPr>
              <a:t>. El café de especialidad crece a ritmos de doble dígito en España y Barcelona aparece entre los principales mercados de demanda.</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4. </a:t>
            </a:r>
            <a:r>
              <a:rPr b="1" lang="en-US" sz="900">
                <a:solidFill>
                  <a:schemeClr val="dk1"/>
                </a:solidFill>
                <a:latin typeface="Helvetica Neue"/>
                <a:ea typeface="Helvetica Neue"/>
                <a:cs typeface="Helvetica Neue"/>
                <a:sym typeface="Helvetica Neue"/>
              </a:rPr>
              <a:t>Lo saludable se incorpora al consumo cotidiano, no solo a momentos de dieta.</a:t>
            </a:r>
            <a:br>
              <a:rPr b="1" lang="en-US" sz="900">
                <a:solidFill>
                  <a:schemeClr val="dk1"/>
                </a:solidFill>
                <a:latin typeface="Helvetica Neue"/>
                <a:ea typeface="Helvetica Neue"/>
                <a:cs typeface="Helvetica Neue"/>
                <a:sym typeface="Helvetica Neue"/>
              </a:rPr>
            </a:br>
            <a:r>
              <a:rPr lang="en-US" sz="900">
                <a:solidFill>
                  <a:schemeClr val="dk1"/>
                </a:solidFill>
                <a:latin typeface="Helvetica Neue"/>
                <a:ea typeface="Helvetica Neue"/>
                <a:cs typeface="Helvetica Neue"/>
                <a:sym typeface="Helvetica Neue"/>
              </a:rPr>
              <a:t>El bienestar adquiere un papel cada vez más transversal en las decisiones de alimentación. El consumidor presta más atención a la calidad de los ingredientes, el grado de procesamiento y la relación entre alimentación, energía y bienestar. Entre los consumidores jóvenes, por ejemplo, “comer sano” se relaciona cada vez más con consumir alimentos de calidad y reconocibles que con seguir una dieta basada exclusivamente en restricciones.</a:t>
            </a:r>
            <a:endParaRPr b="0" i="0" sz="10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fb5eb765e6_0_81"/>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171" name="Google Shape;171;g3fb5eb765e6_0_81"/>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172" name="Google Shape;172;g3fb5eb765e6_0_81"/>
          <p:cNvSpPr txBox="1"/>
          <p:nvPr/>
        </p:nvSpPr>
        <p:spPr>
          <a:xfrm>
            <a:off x="440959" y="1082636"/>
            <a:ext cx="6678082" cy="8540164"/>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5. </a:t>
            </a:r>
            <a:r>
              <a:rPr b="1" lang="en-US" sz="900">
                <a:solidFill>
                  <a:schemeClr val="dk1"/>
                </a:solidFill>
                <a:latin typeface="Helvetica Neue"/>
                <a:ea typeface="Helvetica Neue"/>
                <a:cs typeface="Helvetica Neue"/>
                <a:sym typeface="Helvetica Neue"/>
              </a:rPr>
              <a:t>El consumidor busca moderación sin renunciar a la experiencia.</a:t>
            </a:r>
            <a:br>
              <a:rPr b="1" lang="en-US" sz="900">
                <a:solidFill>
                  <a:schemeClr val="dk1"/>
                </a:solidFill>
                <a:latin typeface="Helvetica Neue"/>
                <a:ea typeface="Helvetica Neue"/>
                <a:cs typeface="Helvetica Neue"/>
                <a:sym typeface="Helvetica Neue"/>
              </a:rPr>
            </a:br>
            <a:r>
              <a:rPr lang="en-US" sz="900">
                <a:solidFill>
                  <a:schemeClr val="dk1"/>
                </a:solidFill>
                <a:latin typeface="Helvetica Neue"/>
                <a:ea typeface="Helvetica Neue"/>
                <a:cs typeface="Helvetica Neue"/>
                <a:sym typeface="Helvetica Neue"/>
              </a:rPr>
              <a:t>La reducción del consumo de alcohol no significa necesariamente una reducción del consumo social. En España, el 55% de la población declara consumir bebidas No/Low Alcohol al menos una vez cada tres meses y el 66% de los jóvenes encuestados afirma preferir opciones con menos alcohol. Paralelamente, el consumo social se desplaza hacia momentos más tempranos del día.</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La tendencia apunta hacia una nueva forma de entender la bebida: menos centrada en la graduación y más en </a:t>
            </a:r>
            <a:r>
              <a:rPr b="1" lang="en-US" sz="900">
                <a:solidFill>
                  <a:schemeClr val="dk1"/>
                </a:solidFill>
                <a:latin typeface="Helvetica Neue"/>
                <a:ea typeface="Helvetica Neue"/>
                <a:cs typeface="Helvetica Neue"/>
                <a:sym typeface="Helvetica Neue"/>
              </a:rPr>
              <a:t>el sabor, la experiencia y el contexto social</a:t>
            </a:r>
            <a:r>
              <a:rPr lang="en-US" sz="900">
                <a:solidFill>
                  <a:schemeClr val="dk1"/>
                </a:solidFill>
                <a:latin typeface="Helvetica Neue"/>
                <a:ea typeface="Helvetica Neue"/>
                <a:cs typeface="Helvetica Neue"/>
                <a:sym typeface="Helvetica Neue"/>
              </a:rPr>
              <a:t>.</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6. </a:t>
            </a:r>
            <a:r>
              <a:rPr b="1" lang="en-US" sz="900">
                <a:solidFill>
                  <a:schemeClr val="dk1"/>
                </a:solidFill>
                <a:latin typeface="Helvetica Neue"/>
                <a:ea typeface="Helvetica Neue"/>
                <a:cs typeface="Helvetica Neue"/>
                <a:sym typeface="Helvetica Neue"/>
              </a:rPr>
              <a:t>El consumo también se vuelve más individual y más personal.</a:t>
            </a:r>
            <a:br>
              <a:rPr b="1" lang="en-US" sz="900">
                <a:solidFill>
                  <a:schemeClr val="dk1"/>
                </a:solidFill>
                <a:latin typeface="Helvetica Neue"/>
                <a:ea typeface="Helvetica Neue"/>
                <a:cs typeface="Helvetica Neue"/>
                <a:sym typeface="Helvetica Neue"/>
              </a:rPr>
            </a:br>
            <a:r>
              <a:rPr lang="en-US" sz="900">
                <a:solidFill>
                  <a:schemeClr val="dk1"/>
                </a:solidFill>
                <a:latin typeface="Helvetica Neue"/>
                <a:ea typeface="Helvetica Neue"/>
                <a:cs typeface="Helvetica Neue"/>
                <a:sym typeface="Helvetica Neue"/>
              </a:rPr>
              <a:t>Una parte creciente de las visitas a restauración se realiza en solitario: actualmente, el 32% de las visitas a restaurantes de marca son individuales. Esto refleja una hostelería que no siempre se consume como una actividad social planificada, sino también como parte de la rutina personal: desayunar solo, tomar un café entre reuniones, comer algo rápido o hacer una pausa durante el día.</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Al mismo tiempo, la elección de dónde consumir está cada vez más influida por la identidad de las marcas, las redes sociales y los códigos culturales que las rodean. El consumidor no solo busca resolver una necesidad funcional; también selecciona espacios y productos que se alinean con su forma de vivir, sus intereses y su manera de expresarse.</a:t>
            </a:r>
            <a:endParaRPr sz="900">
              <a:solidFill>
                <a:schemeClr val="dk1"/>
              </a:solidFill>
              <a:latin typeface="Helvetica Neue"/>
              <a:ea typeface="Helvetica Neue"/>
              <a:cs typeface="Helvetica Neue"/>
              <a:sym typeface="Helvetica Neue"/>
            </a:endParaRPr>
          </a:p>
          <a:p>
            <a:pPr indent="0" lvl="0" marL="0" marR="0" rtl="0" algn="l">
              <a:lnSpc>
                <a:spcPct val="140100"/>
              </a:lnSpc>
              <a:spcBef>
                <a:spcPts val="1200"/>
              </a:spcBef>
              <a:spcAft>
                <a:spcPts val="0"/>
              </a:spcAft>
              <a:buClr>
                <a:srgbClr val="000000"/>
              </a:buClr>
              <a:buSzPts val="1000"/>
              <a:buFont typeface="Arial"/>
              <a:buNone/>
            </a:pPr>
            <a:r>
              <a:t/>
            </a:r>
            <a:endParaRPr sz="10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fb5eb765e6_0_88"/>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178" name="Google Shape;178;g3fb5eb765e6_0_88"/>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179" name="Google Shape;179;g3fb5eb765e6_0_88"/>
          <p:cNvSpPr txBox="1"/>
          <p:nvPr/>
        </p:nvSpPr>
        <p:spPr>
          <a:xfrm>
            <a:off x="440925" y="1010328"/>
            <a:ext cx="6678082" cy="350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c. Motivaciones observadas</a:t>
            </a:r>
            <a:endParaRPr b="0" i="0" sz="2400" u="none" cap="none" strike="noStrike">
              <a:solidFill>
                <a:srgbClr val="000000"/>
              </a:solidFill>
              <a:latin typeface="Arial"/>
              <a:ea typeface="Arial"/>
              <a:cs typeface="Arial"/>
              <a:sym typeface="Arial"/>
            </a:endParaRPr>
          </a:p>
        </p:txBody>
      </p:sp>
      <p:sp>
        <p:nvSpPr>
          <p:cNvPr id="180" name="Google Shape;180;g3fb5eb765e6_0_88"/>
          <p:cNvSpPr txBox="1"/>
          <p:nvPr/>
        </p:nvSpPr>
        <p:spPr>
          <a:xfrm>
            <a:off x="440959" y="1624002"/>
            <a:ext cx="6678082" cy="7773828"/>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1. Cuidarse sin renunciar al placer</a:t>
            </a:r>
            <a:br>
              <a:rPr b="1" lang="en-US" sz="900">
                <a:solidFill>
                  <a:schemeClr val="dk1"/>
                </a:solidFill>
                <a:latin typeface="Helvetica Neue"/>
                <a:ea typeface="Helvetica Neue"/>
                <a:cs typeface="Helvetica Neue"/>
                <a:sym typeface="Helvetica Neue"/>
              </a:rPr>
            </a:br>
            <a:r>
              <a:rPr lang="en-US" sz="900">
                <a:solidFill>
                  <a:schemeClr val="dk1"/>
                </a:solidFill>
                <a:latin typeface="Helvetica Neue"/>
                <a:ea typeface="Helvetica Neue"/>
                <a:cs typeface="Helvetica Neue"/>
                <a:sym typeface="Helvetica Neue"/>
              </a:rPr>
              <a:t> El bienestar se incorpora cada vez más a las decisiones cotidianas de consumo, pero no desde una lógica de restricción. El consumidor busca opciones que le hagan sentir bien sin tener que elegir entre cuidarse y disfrutar. La percepción de lo saludable se acerca cada vez más a la calidad de los ingredientes, el menor procesamiento y una alimentación que se siente compatible con el día a día.</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2. Elegir calidad y saber qué hay detrás del producto</a:t>
            </a:r>
            <a:br>
              <a:rPr b="1" lang="en-US" sz="900">
                <a:solidFill>
                  <a:schemeClr val="dk1"/>
                </a:solidFill>
                <a:latin typeface="Helvetica Neue"/>
                <a:ea typeface="Helvetica Neue"/>
                <a:cs typeface="Helvetica Neue"/>
                <a:sym typeface="Helvetica Neue"/>
              </a:rPr>
            </a:br>
            <a:r>
              <a:rPr lang="en-US" sz="900">
                <a:solidFill>
                  <a:schemeClr val="dk1"/>
                </a:solidFill>
                <a:latin typeface="Helvetica Neue"/>
                <a:ea typeface="Helvetica Neue"/>
                <a:cs typeface="Helvetica Neue"/>
                <a:sym typeface="Helvetica Neue"/>
              </a:rPr>
              <a:t> La búsqueda de calidad aparece especialmente clara en categorías como el café de especialidad, donde el origen, la trazabilidad, la sostenibilidad y la forma de elaboración forman parte de la decisión de consumo. Ya no se trata únicamente de consumir un producto mejor, sino de entenderlo, reconocer su calidad y confiar en lo que hay detrás. En Barcelona, este relato ya está presente en distintos operadores de especialidad de la zona.</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1200"/>
              </a:spcAft>
              <a:buClr>
                <a:schemeClr val="dk1"/>
              </a:buClr>
              <a:buSzPts val="2200"/>
              <a:buFont typeface="Arial"/>
              <a:buNone/>
            </a:pPr>
            <a:r>
              <a:rPr b="1" lang="en-US" sz="900">
                <a:solidFill>
                  <a:schemeClr val="dk1"/>
                </a:solidFill>
                <a:latin typeface="Helvetica Neue"/>
                <a:ea typeface="Helvetica Neue"/>
                <a:cs typeface="Helvetica Neue"/>
                <a:sym typeface="Helvetica Neue"/>
              </a:rPr>
              <a:t>3. Resolver el consumo cotidiano de forma fácil</a:t>
            </a:r>
            <a:br>
              <a:rPr b="1" lang="en-US" sz="900">
                <a:solidFill>
                  <a:schemeClr val="dk1"/>
                </a:solidFill>
                <a:latin typeface="Helvetica Neue"/>
                <a:ea typeface="Helvetica Neue"/>
                <a:cs typeface="Helvetica Neue"/>
                <a:sym typeface="Helvetica Neue"/>
              </a:rPr>
            </a:br>
            <a:r>
              <a:rPr lang="en-US" sz="900">
                <a:solidFill>
                  <a:schemeClr val="dk1"/>
                </a:solidFill>
                <a:latin typeface="Helvetica Neue"/>
                <a:ea typeface="Helvetica Neue"/>
                <a:cs typeface="Helvetica Neue"/>
                <a:sym typeface="Helvetica Neue"/>
              </a:rPr>
              <a:t>El consumo fuera de casa está cada vez más integrado en la rutina: desayuno, segundo desayuno, café o lunch forman parte de momentos habituales del día. En este contexto, ahorrar tiempo y encontrar una opción práctica se convierten en motivaciones importantes. La conveniencia gana peso, especialmente cuando permite resolver una necesidad cotidiana sin añadir fricción.</a:t>
            </a:r>
            <a:endParaRPr i="0" sz="10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fb5eb765e6_0_27"/>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186" name="Google Shape;186;g3fb5eb765e6_0_27"/>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187" name="Google Shape;187;g3fb5eb765e6_0_27"/>
          <p:cNvSpPr txBox="1"/>
          <p:nvPr/>
        </p:nvSpPr>
        <p:spPr>
          <a:xfrm>
            <a:off x="440959" y="977229"/>
            <a:ext cx="6678082" cy="8645571"/>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2200"/>
              <a:buFont typeface="Arial"/>
              <a:buNone/>
            </a:pPr>
            <a:r>
              <a:rPr b="1" lang="en-US" sz="900">
                <a:solidFill>
                  <a:schemeClr val="dk1"/>
                </a:solidFill>
              </a:rPr>
              <a:t>4. Encontrar pequeños momentos de disfrute durante el día</a:t>
            </a:r>
            <a:br>
              <a:rPr b="1" lang="en-US" sz="900">
                <a:solidFill>
                  <a:schemeClr val="dk1"/>
                </a:solidFill>
              </a:rPr>
            </a:br>
            <a:r>
              <a:rPr lang="en-US" sz="900">
                <a:solidFill>
                  <a:schemeClr val="dk1"/>
                </a:solidFill>
              </a:rPr>
              <a:t> El consumo se reparte entre más momentos y ocasiones. El desayuno, el café, el aperitivo o el tardeo no responden únicamente a una necesidad funcional, sino también a la búsqueda de una pausa, una recompensa o un momento agradable dentro de la rutina. La experiencia cotidiana adquiere así más importancia, incluso en consumos pequeños.</a:t>
            </a:r>
            <a:endParaRPr sz="900">
              <a:solidFill>
                <a:schemeClr val="dk1"/>
              </a:solidFill>
            </a:endParaRPr>
          </a:p>
          <a:p>
            <a:pPr indent="0" lvl="0" marL="0" rtl="0" algn="l">
              <a:lnSpc>
                <a:spcPct val="115000"/>
              </a:lnSpc>
              <a:spcBef>
                <a:spcPts val="1200"/>
              </a:spcBef>
              <a:spcAft>
                <a:spcPts val="0"/>
              </a:spcAft>
              <a:buClr>
                <a:schemeClr val="dk1"/>
              </a:buClr>
              <a:buSzPts val="2200"/>
              <a:buFont typeface="Arial"/>
              <a:buNone/>
            </a:pPr>
            <a:r>
              <a:rPr b="1" lang="en-US" sz="900">
                <a:solidFill>
                  <a:schemeClr val="dk1"/>
                </a:solidFill>
              </a:rPr>
              <a:t>5. Socializar de una forma más flexible</a:t>
            </a:r>
            <a:br>
              <a:rPr b="1" lang="en-US" sz="900">
                <a:solidFill>
                  <a:schemeClr val="dk1"/>
                </a:solidFill>
              </a:rPr>
            </a:br>
            <a:r>
              <a:rPr lang="en-US" sz="900">
                <a:solidFill>
                  <a:schemeClr val="dk1"/>
                </a:solidFill>
              </a:rPr>
              <a:t> La socialización también está cambiando. Parte del consumo social se desplaza hacia el día y aparecen nuevas ocasiones alrededor del desayuno, el café, el aperitivo o las bebidas sin alcohol. El encuentro no depende necesariamente de una comida completa, de la noche o del alcohol: existen más formas y momentos de compartir.</a:t>
            </a:r>
            <a:endParaRPr sz="900">
              <a:solidFill>
                <a:schemeClr val="dk1"/>
              </a:solidFill>
            </a:endParaRPr>
          </a:p>
          <a:p>
            <a:pPr indent="0" lvl="0" marL="0" rtl="0" algn="l">
              <a:lnSpc>
                <a:spcPct val="115000"/>
              </a:lnSpc>
              <a:spcBef>
                <a:spcPts val="1200"/>
              </a:spcBef>
              <a:spcAft>
                <a:spcPts val="0"/>
              </a:spcAft>
              <a:buClr>
                <a:schemeClr val="dk1"/>
              </a:buClr>
              <a:buSzPts val="2200"/>
              <a:buFont typeface="Arial"/>
              <a:buNone/>
            </a:pPr>
            <a:r>
              <a:rPr b="1" lang="en-US" sz="900">
                <a:solidFill>
                  <a:schemeClr val="dk1"/>
                </a:solidFill>
              </a:rPr>
              <a:t>6. Elegir lugares y productos que encajan con la propia identidad</a:t>
            </a:r>
            <a:br>
              <a:rPr b="1" lang="en-US" sz="900">
                <a:solidFill>
                  <a:schemeClr val="dk1"/>
                </a:solidFill>
              </a:rPr>
            </a:br>
            <a:r>
              <a:rPr lang="en-US" sz="900">
                <a:solidFill>
                  <a:schemeClr val="dk1"/>
                </a:solidFill>
              </a:rPr>
              <a:t> La elección de dónde consumir está cada vez más vinculada a estilos de vida, valores y códigos culturales. Especialmente entre consumidores jóvenes, las redes sociales tienen peso en la elección de establecimientos, mientras que la autenticidad y la experiencia física siguen siendo relevantes. El lugar y el producto dejan de ser únicamente una elección funcional y pueden convertirse también en una forma de expresión personal.</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120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fb5eb765e6_0_35"/>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193" name="Google Shape;193;g3fb5eb765e6_0_35"/>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194" name="Google Shape;194;g3fb5eb765e6_0_35"/>
          <p:cNvSpPr txBox="1"/>
          <p:nvPr/>
        </p:nvSpPr>
        <p:spPr>
          <a:xfrm>
            <a:off x="440925" y="2798597"/>
            <a:ext cx="6678082" cy="350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d</a:t>
            </a:r>
            <a:r>
              <a:rPr lang="en-US" sz="1200">
                <a:latin typeface="Epilogue"/>
                <a:ea typeface="Epilogue"/>
                <a:cs typeface="Epilogue"/>
                <a:sym typeface="Epilogue"/>
              </a:rPr>
              <a:t>. Necesidades detectadas</a:t>
            </a:r>
            <a:endParaRPr b="0" i="0" sz="2400" u="none" cap="none" strike="noStrike">
              <a:solidFill>
                <a:srgbClr val="000000"/>
              </a:solidFill>
              <a:latin typeface="Arial"/>
              <a:ea typeface="Arial"/>
              <a:cs typeface="Arial"/>
              <a:sym typeface="Arial"/>
            </a:endParaRPr>
          </a:p>
        </p:txBody>
      </p:sp>
      <p:sp>
        <p:nvSpPr>
          <p:cNvPr id="195" name="Google Shape;195;g3fb5eb765e6_0_35"/>
          <p:cNvSpPr txBox="1"/>
          <p:nvPr/>
        </p:nvSpPr>
        <p:spPr>
          <a:xfrm>
            <a:off x="440959" y="3354479"/>
            <a:ext cx="6678082" cy="6268321"/>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1. Hacer del bienestar algo cotidiano, no excepcional</a:t>
            </a:r>
            <a:br>
              <a:rPr b="1" lang="en-US" sz="900">
                <a:solidFill>
                  <a:schemeClr val="dk1"/>
                </a:solidFill>
                <a:latin typeface="Helvetica Neue"/>
                <a:ea typeface="Helvetica Neue"/>
                <a:cs typeface="Helvetica Neue"/>
                <a:sym typeface="Helvetica Neue"/>
              </a:rPr>
            </a:br>
            <a:r>
              <a:rPr lang="en-US" sz="900">
                <a:solidFill>
                  <a:schemeClr val="dk1"/>
                </a:solidFill>
                <a:latin typeface="Helvetica Neue"/>
                <a:ea typeface="Helvetica Neue"/>
                <a:cs typeface="Helvetica Neue"/>
                <a:sym typeface="Helvetica Neue"/>
              </a:rPr>
              <a:t> El crecimiento de la alimentación saludable y del consumo orientado al bienestar apunta a un cambio más profundo: cuidarse empieza a formar parte de la rutina, no de momentos concretos de dieta o autocontrol. La necesidad está en encontrar opciones que puedan integrarse naturalmente en el día a día.</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2. Convertir la calidad en algo accesible y habitual</a:t>
            </a:r>
            <a:br>
              <a:rPr b="1" lang="en-US" sz="900">
                <a:solidFill>
                  <a:schemeClr val="dk1"/>
                </a:solidFill>
                <a:latin typeface="Helvetica Neue"/>
                <a:ea typeface="Helvetica Neue"/>
                <a:cs typeface="Helvetica Neue"/>
                <a:sym typeface="Helvetica Neue"/>
              </a:rPr>
            </a:br>
            <a:r>
              <a:rPr lang="en-US" sz="900">
                <a:solidFill>
                  <a:schemeClr val="dk1"/>
                </a:solidFill>
                <a:latin typeface="Helvetica Neue"/>
                <a:ea typeface="Helvetica Neue"/>
                <a:cs typeface="Helvetica Neue"/>
                <a:sym typeface="Helvetica Neue"/>
              </a:rPr>
              <a:t> La especialización y la mayor exigencia del consumidor están elevando el estándar de calidad, especialmente en categorías como el café. Pero la calidad no parece reservarse únicamente para experiencias especiales: empieza a esperarse también en consumos pequeños y frecuentes. La oportunidad está en hacer que </a:t>
            </a:r>
            <a:r>
              <a:rPr i="1" lang="en-US" sz="900">
                <a:solidFill>
                  <a:schemeClr val="dk1"/>
                </a:solidFill>
                <a:latin typeface="Helvetica Neue"/>
                <a:ea typeface="Helvetica Neue"/>
                <a:cs typeface="Helvetica Neue"/>
                <a:sym typeface="Helvetica Neue"/>
              </a:rPr>
              <a:t>lo bueno</a:t>
            </a:r>
            <a:r>
              <a:rPr lang="en-US" sz="900">
                <a:solidFill>
                  <a:schemeClr val="dk1"/>
                </a:solidFill>
                <a:latin typeface="Helvetica Neue"/>
                <a:ea typeface="Helvetica Neue"/>
                <a:cs typeface="Helvetica Neue"/>
                <a:sym typeface="Helvetica Neue"/>
              </a:rPr>
              <a:t> pueda formar parte de la rutina.</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3. Hacer que la conveniencia deje de significar renuncia</a:t>
            </a:r>
            <a:br>
              <a:rPr b="1" lang="en-US" sz="900">
                <a:solidFill>
                  <a:schemeClr val="dk1"/>
                </a:solidFill>
                <a:latin typeface="Helvetica Neue"/>
                <a:ea typeface="Helvetica Neue"/>
                <a:cs typeface="Helvetica Neue"/>
                <a:sym typeface="Helvetica Neue"/>
              </a:rPr>
            </a:br>
            <a:r>
              <a:rPr lang="en-US" sz="900">
                <a:solidFill>
                  <a:schemeClr val="dk1"/>
                </a:solidFill>
                <a:latin typeface="Helvetica Neue"/>
                <a:ea typeface="Helvetica Neue"/>
                <a:cs typeface="Helvetica Neue"/>
                <a:sym typeface="Helvetica Neue"/>
              </a:rPr>
              <a:t> El take-away responde a una necesidad evidente de tiempo y practicidad, pero el crecimiento de la cultura de especialidad y de consumo consciente eleva las expectativas sobre lo que se recibe a cambio. El reto del mercado ya no es únicamente servir rápido, sino conseguir que la rapidez siga teniendo valor, calidad y personalidad.</a:t>
            </a:r>
            <a:endParaRPr b="0" i="0" sz="1000" u="none" cap="none" strike="noStrike">
              <a:solidFill>
                <a:srgbClr val="000000"/>
              </a:solidFill>
              <a:latin typeface="Helvetica Neue"/>
              <a:ea typeface="Helvetica Neue"/>
              <a:cs typeface="Helvetica Neue"/>
              <a:sym typeface="Helvetica Neue"/>
            </a:endParaRPr>
          </a:p>
        </p:txBody>
      </p:sp>
      <p:sp>
        <p:nvSpPr>
          <p:cNvPr id="196" name="Google Shape;196;g3fb5eb765e6_0_35"/>
          <p:cNvSpPr txBox="1"/>
          <p:nvPr/>
        </p:nvSpPr>
        <p:spPr>
          <a:xfrm>
            <a:off x="560158" y="758509"/>
            <a:ext cx="6303855" cy="947695"/>
          </a:xfrm>
          <a:prstGeom prst="rect">
            <a:avLst/>
          </a:prstGeom>
          <a:noFill/>
          <a:ln>
            <a:noFill/>
          </a:ln>
        </p:spPr>
        <p:txBody>
          <a:bodyPr anchorCtr="0" anchor="t" bIns="91425" lIns="91425" spcFirstLastPara="1" rIns="91425" wrap="square" tIns="91425">
            <a:noAutofit/>
          </a:bodyPr>
          <a:lstStyle/>
          <a:p>
            <a:pPr indent="0" lvl="0" marL="0" marR="0" rtl="0" algn="just">
              <a:spcBef>
                <a:spcPts val="0"/>
              </a:spcBef>
              <a:spcAft>
                <a:spcPts val="0"/>
              </a:spcAft>
              <a:buClr>
                <a:schemeClr val="dk1"/>
              </a:buClr>
              <a:buSzPts val="1000"/>
              <a:buFont typeface="Arial"/>
              <a:buNone/>
            </a:pPr>
            <a:r>
              <a:rPr i="1" lang="en-US" sz="900">
                <a:solidFill>
                  <a:schemeClr val="dk1"/>
                </a:solidFill>
              </a:rPr>
              <a:t>De todas las motivaciones identificadas en la investigación, se han seleccionado aquellas consideradas más relevantes para el contexto del proyecto y para el modelo de negocio que se plantea desarrollar. Esta selección permite centrar el análisis en los comportamientos y necesidades del consumidor con mayor potencial de aplicación a la definición del concepto.</a:t>
            </a:r>
            <a:endParaRPr i="1" sz="900">
              <a:solidFill>
                <a:srgbClr val="FF0000"/>
              </a:solidFill>
            </a:endParaRPr>
          </a:p>
          <a:p>
            <a:pPr indent="0" lvl="0" marL="0" rtl="0" algn="just">
              <a:spcBef>
                <a:spcPts val="0"/>
              </a:spcBef>
              <a:spcAft>
                <a:spcPts val="0"/>
              </a:spcAft>
              <a:buNone/>
            </a:pPr>
            <a:r>
              <a:t/>
            </a:r>
            <a:endParaRPr sz="9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fb5eb765e6_0_96"/>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202" name="Google Shape;202;g3fb5eb765e6_0_96"/>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203" name="Google Shape;203;g3fb5eb765e6_0_96"/>
          <p:cNvSpPr txBox="1"/>
          <p:nvPr/>
        </p:nvSpPr>
        <p:spPr>
          <a:xfrm>
            <a:off x="440959" y="943425"/>
            <a:ext cx="6678082" cy="8679375"/>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4. Adaptarse a un consumidor que ya no organiza su día alrededor de las comidas</a:t>
            </a:r>
            <a:br>
              <a:rPr b="1" lang="en-US" sz="900">
                <a:solidFill>
                  <a:schemeClr val="dk1"/>
                </a:solidFill>
                <a:latin typeface="Helvetica Neue"/>
                <a:ea typeface="Helvetica Neue"/>
                <a:cs typeface="Helvetica Neue"/>
                <a:sym typeface="Helvetica Neue"/>
              </a:rPr>
            </a:br>
            <a:r>
              <a:rPr lang="en-US" sz="900">
                <a:solidFill>
                  <a:schemeClr val="dk1"/>
                </a:solidFill>
                <a:latin typeface="Helvetica Neue"/>
                <a:ea typeface="Helvetica Neue"/>
                <a:cs typeface="Helvetica Neue"/>
                <a:sym typeface="Helvetica Neue"/>
              </a:rPr>
              <a:t> El consumo se fragmenta y aparecen múltiples pequeñas ocasiones a lo largo del día. Esto abre la necesidad de propuestas capaces de acompañar diferentes ritmos, momentos y niveles de consumo, en lugar de depender de una única ocasión gastronómica.</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5. Dar espacio a nuevas formas de consumir y relacionarse</a:t>
            </a:r>
            <a:br>
              <a:rPr b="1" lang="en-US" sz="900">
                <a:solidFill>
                  <a:schemeClr val="dk1"/>
                </a:solidFill>
                <a:latin typeface="Helvetica Neue"/>
                <a:ea typeface="Helvetica Neue"/>
                <a:cs typeface="Helvetica Neue"/>
                <a:sym typeface="Helvetica Neue"/>
              </a:rPr>
            </a:br>
            <a:r>
              <a:rPr lang="en-US" sz="900">
                <a:solidFill>
                  <a:schemeClr val="dk1"/>
                </a:solidFill>
                <a:latin typeface="Helvetica Neue"/>
                <a:ea typeface="Helvetica Neue"/>
                <a:cs typeface="Helvetica Neue"/>
                <a:sym typeface="Helvetica Neue"/>
              </a:rPr>
              <a:t> Consumir solo, consumir acompañado, quedar de día, tomar algo sin alcohol o simplemente pasar a recoger algo forman parte de una realidad cada vez más diversa. La necesidad no es crear una nueva ocasión, sino reconocer que el consumidor ya no espera que la experiencia de hostelería tenga una única forma.</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6. Encontrar marcas que conecten producto y estilo de vida</a:t>
            </a:r>
            <a:br>
              <a:rPr b="1" lang="en-US" sz="900">
                <a:solidFill>
                  <a:schemeClr val="dk1"/>
                </a:solidFill>
                <a:latin typeface="Helvetica Neue"/>
                <a:ea typeface="Helvetica Neue"/>
                <a:cs typeface="Helvetica Neue"/>
                <a:sym typeface="Helvetica Neue"/>
              </a:rPr>
            </a:br>
            <a:r>
              <a:rPr lang="en-US" sz="900">
                <a:solidFill>
                  <a:schemeClr val="dk1"/>
                </a:solidFill>
                <a:latin typeface="Helvetica Neue"/>
                <a:ea typeface="Helvetica Neue"/>
                <a:cs typeface="Helvetica Neue"/>
                <a:sym typeface="Helvetica Neue"/>
              </a:rPr>
              <a:t> A medida que las decisiones de consumo expresan valores, gustos y formas de vivir, aumenta el valor de aquellas marcas capaces de representar algo más allá del producto. El consumidor busca calidad y funcionalidad, pero también afinidad: lugares y marcas con los que pueda identificarse.</a:t>
            </a:r>
            <a:endParaRPr sz="900">
              <a:solidFill>
                <a:schemeClr val="dk1"/>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10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En conjunto, el mercado está evolucionando hacia una nueva expectativa: consumir bien debería ser fácil.</a:t>
            </a:r>
            <a:endParaRPr b="1" sz="900">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1000"/>
              <a:buFont typeface="Arial"/>
              <a:buNone/>
            </a:pPr>
            <a:r>
              <a:rPr lang="en-US" sz="900">
                <a:solidFill>
                  <a:schemeClr val="dk1"/>
                </a:solidFill>
                <a:latin typeface="Helvetica Neue"/>
                <a:ea typeface="Helvetica Neue"/>
                <a:cs typeface="Helvetica Neue"/>
                <a:sym typeface="Helvetica Neue"/>
              </a:rPr>
              <a:t>El consumidor quiere cuidarse sin renunciar al placer, acceder a calidad sin convertirla en una experiencia excepcional y resolver sus necesidades cotidianas sin aceptar propuestas impersonales. La frontera entre funcionalidad y experiencia, entre consumo rápido y consumo consciente, empieza a diluirse.</a:t>
            </a:r>
            <a:endParaRPr sz="900">
              <a:solidFill>
                <a:schemeClr val="dk1"/>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fb5eb765e6_0_43"/>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209" name="Google Shape;209;g3fb5eb765e6_0_43"/>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210" name="Google Shape;210;g3fb5eb765e6_0_43"/>
          <p:cNvSpPr txBox="1"/>
          <p:nvPr/>
        </p:nvSpPr>
        <p:spPr>
          <a:xfrm>
            <a:off x="373007" y="968530"/>
            <a:ext cx="6678082" cy="350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e. Tensiones detectadas</a:t>
            </a:r>
            <a:endParaRPr b="0" i="0" sz="2400" u="none" cap="none" strike="noStrike">
              <a:solidFill>
                <a:srgbClr val="000000"/>
              </a:solidFill>
              <a:latin typeface="Arial"/>
              <a:ea typeface="Arial"/>
              <a:cs typeface="Arial"/>
              <a:sym typeface="Arial"/>
            </a:endParaRPr>
          </a:p>
        </p:txBody>
      </p:sp>
      <p:sp>
        <p:nvSpPr>
          <p:cNvPr id="211" name="Google Shape;211;g3fb5eb765e6_0_43"/>
          <p:cNvSpPr txBox="1"/>
          <p:nvPr/>
        </p:nvSpPr>
        <p:spPr>
          <a:xfrm>
            <a:off x="440959" y="1528963"/>
            <a:ext cx="6678082" cy="8093837"/>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40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1. Funcionalidad vs. experiencia</a:t>
            </a:r>
            <a:endParaRPr b="1" sz="900">
              <a:solidFill>
                <a:schemeClr val="dk1"/>
              </a:solidFill>
              <a:latin typeface="Helvetica Neue"/>
              <a:ea typeface="Helvetica Neue"/>
              <a:cs typeface="Helvetica Neue"/>
              <a:sym typeface="Helvetica Neue"/>
            </a:endParaRPr>
          </a:p>
          <a:p>
            <a:pPr indent="0" lvl="0" marL="0" rtl="0" algn="l">
              <a:lnSpc>
                <a:spcPct val="115000"/>
              </a:lnSpc>
              <a:spcBef>
                <a:spcPts val="40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El take-away responde cada vez mejor a una necesidad de </a:t>
            </a:r>
            <a:r>
              <a:rPr b="1" lang="en-US" sz="900">
                <a:solidFill>
                  <a:schemeClr val="dk1"/>
                </a:solidFill>
                <a:latin typeface="Helvetica Neue"/>
                <a:ea typeface="Helvetica Neue"/>
                <a:cs typeface="Helvetica Neue"/>
                <a:sym typeface="Helvetica Neue"/>
              </a:rPr>
              <a:t>rapidez, conveniencia y adaptación a la rutina</a:t>
            </a:r>
            <a:r>
              <a:rPr lang="en-US" sz="900">
                <a:solidFill>
                  <a:schemeClr val="dk1"/>
                </a:solidFill>
                <a:latin typeface="Helvetica Neue"/>
                <a:ea typeface="Helvetica Neue"/>
                <a:cs typeface="Helvetica Neue"/>
                <a:sym typeface="Helvetica Neue"/>
              </a:rPr>
              <a:t>, mientras que la experiencia gastronómica se ha construido tradicionalmente alrededor del consumo en sala: sentarse, dedicar tiempo y permanecer en el espacio.</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Sin embargo, el crecimiento del café de especialidad y de una mayor exigencia sobre el producto está elevando las expectativas también en los momentos de consumo más rápidos. </a:t>
            </a:r>
            <a:r>
              <a:rPr b="1" lang="en-US" sz="900">
                <a:solidFill>
                  <a:schemeClr val="dk1"/>
                </a:solidFill>
                <a:latin typeface="Helvetica Neue"/>
                <a:ea typeface="Helvetica Neue"/>
                <a:cs typeface="Helvetica Neue"/>
                <a:sym typeface="Helvetica Neue"/>
              </a:rPr>
              <a:t>El consumidor puede querer llevarse un café, desayunar en cinco minutos o recoger algo para comer, pero no por ello espera renunciar a la calidad del producto, al cuidado en la elaboración o a una experiencia de marca.</a:t>
            </a:r>
            <a:endParaRPr b="1"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b="1"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La tensión aparece, por tanto, entre un modelo pensado para </a:t>
            </a:r>
            <a:r>
              <a:rPr b="1" lang="en-US" sz="900">
                <a:solidFill>
                  <a:schemeClr val="dk1"/>
                </a:solidFill>
                <a:latin typeface="Helvetica Neue"/>
                <a:ea typeface="Helvetica Neue"/>
                <a:cs typeface="Helvetica Neue"/>
                <a:sym typeface="Helvetica Neue"/>
              </a:rPr>
              <a:t>hacer el consumo más eficiente</a:t>
            </a:r>
            <a:r>
              <a:rPr lang="en-US" sz="900">
                <a:solidFill>
                  <a:schemeClr val="dk1"/>
                </a:solidFill>
                <a:latin typeface="Helvetica Neue"/>
                <a:ea typeface="Helvetica Neue"/>
                <a:cs typeface="Helvetica Neue"/>
                <a:sym typeface="Helvetica Neue"/>
              </a:rPr>
              <a:t> y una expectativa creciente de que incluso los consumos más funcionales puedan tener </a:t>
            </a:r>
            <a:r>
              <a:rPr b="1" lang="en-US" sz="900">
                <a:solidFill>
                  <a:schemeClr val="dk1"/>
                </a:solidFill>
                <a:latin typeface="Helvetica Neue"/>
                <a:ea typeface="Helvetica Neue"/>
                <a:cs typeface="Helvetica Neue"/>
                <a:sym typeface="Helvetica Neue"/>
              </a:rPr>
              <a:t>calidad, personalidad y experiencia</a:t>
            </a:r>
            <a:r>
              <a:rPr lang="en-US" sz="900">
                <a:solidFill>
                  <a:schemeClr val="dk1"/>
                </a:solidFill>
                <a:latin typeface="Helvetica Neue"/>
                <a:ea typeface="Helvetica Neue"/>
                <a:cs typeface="Helvetica Neue"/>
                <a:sym typeface="Helvetica Neue"/>
              </a:rPr>
              <a:t>.</a:t>
            </a:r>
            <a:endParaRPr sz="900">
              <a:solidFill>
                <a:schemeClr val="dk1"/>
              </a:solidFill>
              <a:latin typeface="Helvetica Neue"/>
              <a:ea typeface="Helvetica Neue"/>
              <a:cs typeface="Helvetica Neue"/>
              <a:sym typeface="Helvetica Neue"/>
            </a:endParaRPr>
          </a:p>
          <a:p>
            <a:pPr indent="0" lvl="0" marL="0" marR="0" rtl="0" algn="l">
              <a:lnSpc>
                <a:spcPct val="140100"/>
              </a:lnSpc>
              <a:spcBef>
                <a:spcPts val="1200"/>
              </a:spcBef>
              <a:spcAft>
                <a:spcPts val="0"/>
              </a:spcAft>
              <a:buClr>
                <a:srgbClr val="000000"/>
              </a:buClr>
              <a:buSzPts val="1000"/>
              <a:buFont typeface="Arial"/>
              <a:buNone/>
            </a:pPr>
            <a:r>
              <a:t/>
            </a:r>
            <a:endParaRPr sz="10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0" i="0" lang="en-US" sz="1000" u="none" cap="none" strike="noStrike">
                <a:solidFill>
                  <a:srgbClr val="000000"/>
                </a:solidFill>
                <a:latin typeface="Helvetica Neue"/>
                <a:ea typeface="Helvetica Neue"/>
                <a:cs typeface="Helvetica Neue"/>
                <a:sym typeface="Helvetica Neue"/>
              </a:rPr>
              <a:t>ffffff</a:t>
            </a:r>
            <a:endParaRPr b="0" i="0" sz="10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fb5eb765e6_0_112"/>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217" name="Google Shape;217;g3fb5eb765e6_0_112"/>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218" name="Google Shape;218;g3fb5eb765e6_0_112"/>
          <p:cNvSpPr txBox="1"/>
          <p:nvPr/>
        </p:nvSpPr>
        <p:spPr>
          <a:xfrm>
            <a:off x="440913" y="943243"/>
            <a:ext cx="6678082" cy="8679557"/>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2. Salud vs. placer</a:t>
            </a:r>
            <a:endParaRPr b="1"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La alimentación saludable gana espacio en la vida cotidiana, pero el consumidor no quiere vivirla como una renuncia. La oferta sigue tendiendo a separar ambos territorios: por un lado, propuestas claramente “healthy”; por otro, propuestas más indulgentes. La expectativa emergente está en poder elegir bienestar sin sacrificar sabor, deseo o espontaneidad.</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3. Especialidad vs. accesibilidad</a:t>
            </a:r>
            <a:endParaRPr b="1"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El café de especialidad está elevando el estándar de calidad y conocimiento del consumidor. Pero cuanto más especializada se vuelve una categoría, mayor puede ser la distancia entre el producto y el consumidor cotidiano. Existe una tensión entre hacer algo muy bien y hacer que resulte fácil de incorporar a la rutina.</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4. Producto vs. universo de marca</a:t>
            </a:r>
            <a:endParaRPr b="1"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La especialización demuestra que un producto concreto puede generar reconocimiento y fidelidad. Pero, al mismo tiempo, las marcas compiten cada vez más por cultura, identidad y estilo de vida. La tensión está entre construir una propuesta suficientemente reconocible alrededor de un producto y conseguir que esa propuesta tenga significado más allá del producto.</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5. Individualidad vs. pertenencia</a:t>
            </a:r>
            <a:endParaRPr b="1"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El consumo individual está creciendo, mientras que la necesidad de conexión y socialización sigue presente. El consumidor puede querer pasar cinco minutos solo tomando un café y, en otro momento, formar parte de una comunidad. Los formatos tradicionales de hostelería no siempre están diseñados para responder bien a ambas situaciones.</a:t>
            </a:r>
            <a:endParaRPr b="1" sz="900">
              <a:solidFill>
                <a:schemeClr val="dk1"/>
              </a:solidFill>
              <a:latin typeface="Helvetica Neue"/>
              <a:ea typeface="Helvetica Neue"/>
              <a:cs typeface="Helvetica Neue"/>
              <a:sym typeface="Helvetica Neue"/>
            </a:endParaRPr>
          </a:p>
          <a:p>
            <a:pPr indent="0" lvl="0" marL="0" marR="0" rtl="0" algn="l">
              <a:lnSpc>
                <a:spcPct val="140100"/>
              </a:lnSpc>
              <a:spcBef>
                <a:spcPts val="1200"/>
              </a:spcBef>
              <a:spcAft>
                <a:spcPts val="0"/>
              </a:spcAft>
              <a:buClr>
                <a:srgbClr val="000000"/>
              </a:buClr>
              <a:buSzPts val="1000"/>
              <a:buFont typeface="Arial"/>
              <a:buNone/>
            </a:pPr>
            <a:r>
              <a:t/>
            </a:r>
            <a:endParaRPr sz="10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0" i="0" lang="en-US" sz="1000" u="none" cap="none" strike="noStrike">
                <a:solidFill>
                  <a:srgbClr val="000000"/>
                </a:solidFill>
                <a:latin typeface="Helvetica Neue"/>
                <a:ea typeface="Helvetica Neue"/>
                <a:cs typeface="Helvetica Neue"/>
                <a:sym typeface="Helvetica Neue"/>
              </a:rPr>
              <a:t>ffffff</a:t>
            </a:r>
            <a:endParaRPr b="0" i="0" sz="10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fb5eb765e6_0_119"/>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224" name="Google Shape;224;g3fb5eb765e6_0_119"/>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225" name="Google Shape;225;g3fb5eb765e6_0_119"/>
          <p:cNvSpPr txBox="1"/>
          <p:nvPr/>
        </p:nvSpPr>
        <p:spPr>
          <a:xfrm>
            <a:off x="440959" y="943243"/>
            <a:ext cx="6678082" cy="7794306"/>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6. Consumo consciente vs. espontaneidad</a:t>
            </a:r>
            <a:endParaRPr b="1"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b="1"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El consumidor presta más atención a lo que consume ,Ingredientes, calidad, alcohol, bienestar, pero no necesariamente quiere convertir cada decisión en un proceso de evaluación. Hay una tensión entre querer consumir mejor y querer que hacerlo siga siendo sencillo, intuitivo y disfrutable.</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7. Rutina vs. descubrimiento</a:t>
            </a:r>
            <a:endParaRPr b="1"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b="1"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Café y desayuno son consumos altamente rutinarios: buscamos lugares que podamos incorporar a nuestro día. Pero las nuevas generaciones también están motivadas por descubrir productos, lugares y experiencias que puedan compartir y convertir en parte de su identidad. La tensión está entre ser suficientemente familiar para convertirse en hábito y suficientemente diferencial para generar deseo.</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El consumidor está dejando de elegir entre funcionalidad y experiencia. Espera cada vez más que ambas convivan.</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Quiere algo rápido, pero bueno.</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Saludable, pero apetecible.</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Especializado, pero fácil de entender.</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Cotidiano, pero con personalidad.</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1200"/>
              </a:spcAft>
              <a:buClr>
                <a:schemeClr val="dk1"/>
              </a:buClr>
              <a:buSzPts val="2200"/>
              <a:buFont typeface="Arial"/>
              <a:buNone/>
            </a:pPr>
            <a:r>
              <a:rPr lang="en-US" sz="900">
                <a:solidFill>
                  <a:schemeClr val="dk1"/>
                </a:solidFill>
                <a:latin typeface="Helvetica Neue"/>
                <a:ea typeface="Helvetica Neue"/>
                <a:cs typeface="Helvetica Neue"/>
                <a:sym typeface="Helvetica Neue"/>
              </a:rPr>
              <a:t>Individual, pero conectado.</a:t>
            </a:r>
            <a:endParaRPr b="0" i="0" sz="10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fb5eb765e6_0_104"/>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231" name="Google Shape;231;g3fb5eb765e6_0_104"/>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232" name="Google Shape;232;g3fb5eb765e6_0_104"/>
          <p:cNvSpPr txBox="1"/>
          <p:nvPr/>
        </p:nvSpPr>
        <p:spPr>
          <a:xfrm>
            <a:off x="373007" y="968530"/>
            <a:ext cx="6678082" cy="350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f</a:t>
            </a:r>
            <a:r>
              <a:rPr lang="en-US" sz="1200">
                <a:latin typeface="Epilogue"/>
                <a:ea typeface="Epilogue"/>
                <a:cs typeface="Epilogue"/>
                <a:sym typeface="Epilogue"/>
              </a:rPr>
              <a:t>. Oportunidades</a:t>
            </a:r>
            <a:endParaRPr sz="1200">
              <a:latin typeface="Epilogue"/>
              <a:ea typeface="Epilogue"/>
              <a:cs typeface="Epilogue"/>
              <a:sym typeface="Epilogue"/>
            </a:endParaRPr>
          </a:p>
        </p:txBody>
      </p:sp>
      <p:sp>
        <p:nvSpPr>
          <p:cNvPr id="233" name="Google Shape;233;g3fb5eb765e6_0_104"/>
          <p:cNvSpPr txBox="1"/>
          <p:nvPr/>
        </p:nvSpPr>
        <p:spPr>
          <a:xfrm>
            <a:off x="440959" y="1528963"/>
            <a:ext cx="6678082" cy="8093837"/>
          </a:xfrm>
          <a:prstGeom prst="rect">
            <a:avLst/>
          </a:prstGeom>
          <a:noFill/>
          <a:ln>
            <a:noFill/>
          </a:ln>
        </p:spPr>
        <p:txBody>
          <a:bodyPr anchorCtr="0" anchor="t" bIns="0" lIns="0" spcFirstLastPara="1" rIns="0" wrap="square" tIns="0">
            <a:spAutoFit/>
          </a:bodyPr>
          <a:lstStyle/>
          <a:p>
            <a:pPr indent="-31750" lvl="0" marL="57150" marR="0" rtl="0" algn="l">
              <a:lnSpc>
                <a:spcPct val="140100"/>
              </a:lnSpc>
              <a:spcBef>
                <a:spcPts val="0"/>
              </a:spcBef>
              <a:spcAft>
                <a:spcPts val="0"/>
              </a:spcAft>
              <a:buSzPts val="1000"/>
              <a:buFont typeface="Helvetica Neue"/>
              <a:buAutoNum type="arabicPeriod"/>
            </a:pPr>
            <a:r>
              <a:rPr b="1" lang="en-US" sz="900">
                <a:solidFill>
                  <a:schemeClr val="dk1"/>
                </a:solidFill>
                <a:latin typeface="Helvetica Neue"/>
                <a:ea typeface="Helvetica Neue"/>
                <a:cs typeface="Helvetica Neue"/>
                <a:sym typeface="Helvetica Neue"/>
              </a:rPr>
              <a:t>Elevar los pequeños consumos del día a día </a:t>
            </a:r>
            <a:endParaRPr b="1" sz="1000">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US" sz="900">
                <a:solidFill>
                  <a:schemeClr val="dk1"/>
                </a:solidFill>
                <a:latin typeface="Helvetica Neue"/>
                <a:ea typeface="Helvetica Neue"/>
                <a:cs typeface="Helvetica Neue"/>
                <a:sym typeface="Helvetica Neue"/>
              </a:rPr>
              <a:t>El consumidor está incorporando nuevas expectativas de calidad y bienestar a consumos que antes eran principalmente funcionales. Café, desayuno, lunch o una bebida pueden convertirse en pequeñas decisiones de cuidado y disfrute dentro de la rutina.</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US" sz="900">
                <a:solidFill>
                  <a:schemeClr val="dk1"/>
                </a:solidFill>
                <a:latin typeface="Helvetica Neue"/>
                <a:ea typeface="Helvetica Neue"/>
                <a:cs typeface="Helvetica Neue"/>
                <a:sym typeface="Helvetica Neue"/>
              </a:rPr>
              <a:t>En un contexto de mayor sensibilidad al gasto, esta evolución no implica necesariamente consumir más, sino </a:t>
            </a:r>
            <a:r>
              <a:rPr b="1" lang="en-US" sz="900">
                <a:solidFill>
                  <a:schemeClr val="dk1"/>
                </a:solidFill>
                <a:latin typeface="Helvetica Neue"/>
                <a:ea typeface="Helvetica Neue"/>
                <a:cs typeface="Helvetica Neue"/>
                <a:sym typeface="Helvetica Neue"/>
              </a:rPr>
              <a:t>elegir mejor aquello que ya forma parte del día</a:t>
            </a:r>
            <a:r>
              <a:rPr lang="en-US" sz="900">
                <a:solidFill>
                  <a:schemeClr val="dk1"/>
                </a:solidFill>
                <a:latin typeface="Helvetica Neue"/>
                <a:ea typeface="Helvetica Neue"/>
                <a:cs typeface="Helvetica Neue"/>
                <a:sym typeface="Helvetica Neue"/>
              </a:rPr>
              <a:t>. La oportunidad está en encontrar productos y experiencias capaces de aportar un valor perceptible en esos pequeños momentos, sin convertirlos en ocasiones extraordinarias.</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US" sz="900">
                <a:solidFill>
                  <a:schemeClr val="dk1"/>
                </a:solidFill>
                <a:latin typeface="Helvetica Neue"/>
                <a:ea typeface="Helvetica Neue"/>
                <a:cs typeface="Helvetica Neue"/>
                <a:sym typeface="Helvetica Neue"/>
              </a:rPr>
              <a:t>2. Reconciliar healthy y deseo</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US" sz="900">
                <a:solidFill>
                  <a:schemeClr val="dk1"/>
                </a:solidFill>
                <a:latin typeface="Helvetica Neue"/>
                <a:ea typeface="Helvetica Neue"/>
                <a:cs typeface="Helvetica Neue"/>
                <a:sym typeface="Helvetica Neue"/>
              </a:rPr>
              <a:t>La categoría healthy está cada vez más asentada en Barcelona, pero buena parte de la oferta continúa comunicándose desde códigos muy asociados a salud, nutrición, brunch o bienestar.</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US" sz="900">
                <a:solidFill>
                  <a:schemeClr val="dk1"/>
                </a:solidFill>
                <a:latin typeface="Helvetica Neue"/>
                <a:ea typeface="Helvetica Neue"/>
                <a:cs typeface="Helvetica Neue"/>
                <a:sym typeface="Helvetica Neue"/>
              </a:rPr>
              <a:t>Al mismo tiempo, el consumidor está demostrando que quiere cuidarse sin renunciar al placer.</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US" sz="900">
                <a:solidFill>
                  <a:schemeClr val="dk1"/>
                </a:solidFill>
                <a:latin typeface="Helvetica Neue"/>
                <a:ea typeface="Helvetica Neue"/>
                <a:cs typeface="Helvetica Neue"/>
                <a:sym typeface="Helvetica Neue"/>
              </a:rPr>
              <a:t>Aquí aparece un espacio interesante: hacer que comer bien resulte apetecible antes que disciplinado. Que lo saludable no tenga que presentarse como una categoría diferenciada, sino como una forma natural y atractiva de comer.</a:t>
            </a:r>
            <a:endParaRPr sz="900">
              <a:solidFill>
                <a:schemeClr val="dk1"/>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10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0" i="0" lang="en-US" sz="1000" u="none" cap="none" strike="noStrike">
                <a:solidFill>
                  <a:srgbClr val="000000"/>
                </a:solidFill>
                <a:latin typeface="Helvetica Neue"/>
                <a:ea typeface="Helvetica Neue"/>
                <a:cs typeface="Helvetica Neue"/>
                <a:sym typeface="Helvetica Neue"/>
              </a:rPr>
              <a:t>ffffff</a:t>
            </a:r>
            <a:endParaRPr b="0" i="0" sz="10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fb5eb765e6_0_126"/>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239" name="Google Shape;239;g3fb5eb765e6_0_126"/>
          <p:cNvSpPr/>
          <p:nvPr/>
        </p:nvSpPr>
        <p:spPr>
          <a:xfrm>
            <a:off x="-159871" y="10223394"/>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240" name="Google Shape;240;g3fb5eb765e6_0_126"/>
          <p:cNvSpPr txBox="1"/>
          <p:nvPr/>
        </p:nvSpPr>
        <p:spPr>
          <a:xfrm>
            <a:off x="440959" y="806496"/>
            <a:ext cx="6678082" cy="8816304"/>
          </a:xfrm>
          <a:prstGeom prst="rect">
            <a:avLst/>
          </a:prstGeom>
          <a:noFill/>
          <a:ln>
            <a:noFill/>
          </a:ln>
        </p:spPr>
        <p:txBody>
          <a:bodyPr anchorCtr="0" anchor="t" bIns="0" lIns="0" spcFirstLastPara="1" rIns="0" wrap="square" tIns="0">
            <a:spAutoFit/>
          </a:bodyPr>
          <a:lstStyle/>
          <a:p>
            <a:pPr indent="0" lvl="0" marL="0" marR="0" rtl="0" algn="l">
              <a:lnSpc>
                <a:spcPct val="140100"/>
              </a:lnSpc>
              <a:spcBef>
                <a:spcPts val="0"/>
              </a:spcBef>
              <a:spcAft>
                <a:spcPts val="0"/>
              </a:spcAft>
              <a:buClr>
                <a:srgbClr val="000000"/>
              </a:buClr>
              <a:buSzPts val="1000"/>
              <a:buFont typeface="Arial"/>
              <a:buNone/>
            </a:pPr>
            <a:r>
              <a:rPr b="1" lang="en-US" sz="900">
                <a:solidFill>
                  <a:schemeClr val="dk1"/>
                </a:solidFill>
                <a:latin typeface="Helvetica Neue"/>
                <a:ea typeface="Helvetica Neue"/>
                <a:cs typeface="Helvetica Neue"/>
                <a:sym typeface="Helvetica Neue"/>
              </a:rPr>
              <a:t>3. Hacer del take-away una experiencia de marca</a:t>
            </a:r>
            <a:endParaRPr b="1" sz="900">
              <a:solidFill>
                <a:schemeClr val="dk1"/>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solidFill>
                  <a:schemeClr val="dk1"/>
                </a:solidFill>
                <a:latin typeface="Helvetica Neue"/>
                <a:ea typeface="Helvetica Neue"/>
                <a:cs typeface="Helvetica Neue"/>
                <a:sym typeface="Helvetica Neue"/>
              </a:rPr>
              <a:t>El take-away responde a una necesidad cada vez más presente en la vida cotidiana: consumir de forma rápida, flexible y adaptada al ritmo del día. Sin embargo, cuando la experiencia se reduce a pedir, recoger y salir, el vínculo con la marca depende casi exclusivamente del producto.</a:t>
            </a:r>
            <a:endParaRPr sz="900">
              <a:solidFill>
                <a:schemeClr val="dk1"/>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solidFill>
                  <a:schemeClr val="dk1"/>
                </a:solidFill>
                <a:latin typeface="Helvetica Neue"/>
                <a:ea typeface="Helvetica Neue"/>
                <a:cs typeface="Helvetica Neue"/>
                <a:sym typeface="Helvetica Neue"/>
              </a:rPr>
              <a:t>Aquí aparece u</a:t>
            </a:r>
            <a:r>
              <a:rPr b="1" lang="en-US" sz="900">
                <a:solidFill>
                  <a:schemeClr val="dk1"/>
                </a:solidFill>
                <a:latin typeface="Helvetica Neue"/>
                <a:ea typeface="Helvetica Neue"/>
                <a:cs typeface="Helvetica Neue"/>
                <a:sym typeface="Helvetica Neue"/>
              </a:rPr>
              <a:t>na oportunidad: construir experiencias de marca que no dependan del tiempo de permanencia en el local. Una experiencia de tres minutos también puede ser reconocible, memorable y generar deseo de volver.</a:t>
            </a:r>
            <a:endParaRPr b="1" sz="900">
              <a:solidFill>
                <a:schemeClr val="dk1"/>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solidFill>
                  <a:schemeClr val="dk1"/>
                </a:solidFill>
                <a:latin typeface="Helvetica Neue"/>
                <a:ea typeface="Helvetica Neue"/>
                <a:cs typeface="Helvetica Neue"/>
                <a:sym typeface="Helvetica Neue"/>
              </a:rPr>
              <a:t>El mercado ya está explorando diferentes mecanismos para conseguirlo: </a:t>
            </a:r>
            <a:r>
              <a:rPr b="1" lang="en-US" sz="900">
                <a:solidFill>
                  <a:schemeClr val="dk1"/>
                </a:solidFill>
                <a:latin typeface="Helvetica Neue"/>
                <a:ea typeface="Helvetica Neue"/>
                <a:cs typeface="Helvetica Neue"/>
                <a:sym typeface="Helvetica Neue"/>
              </a:rPr>
              <a:t>productos que funcionan como códigos propios de marca, rituales alrededor del consumo, packaging convertido en soporte de comunicación, identidades visuales y verbales muy reconocibles, ediciones limitadas y drops que introducen novedad, colaboraciones que conectan la marca con otras comunidades y universos culturales, merchandising que extiende la marca fuera del local y comunidades que se construyen alrededor de intereses compartidos más allá del espacio físico.</a:t>
            </a:r>
            <a:endParaRPr b="1" sz="900">
              <a:solidFill>
                <a:schemeClr val="dk1"/>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solidFill>
                  <a:schemeClr val="dk1"/>
                </a:solidFill>
                <a:latin typeface="Helvetica Neue"/>
                <a:ea typeface="Helvetica Neue"/>
                <a:cs typeface="Helvetica Neue"/>
                <a:sym typeface="Helvetica Neue"/>
              </a:rPr>
              <a:t>Esto permite pensar el take-away no únicamente como un canal de venta, sino como un punto de contacto dentro de un ecosistema de marca: la experiencia puede empezar antes de llegar al local, continuar durante la compra y prolongarse después de salir.</a:t>
            </a:r>
            <a:endParaRPr sz="900">
              <a:solidFill>
                <a:schemeClr val="dk1"/>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1" lang="en-US" sz="900">
                <a:solidFill>
                  <a:schemeClr val="dk1"/>
                </a:solidFill>
                <a:latin typeface="Helvetica Neue"/>
                <a:ea typeface="Helvetica Neue"/>
                <a:cs typeface="Helvetica Neue"/>
                <a:sym typeface="Helvetica Neue"/>
              </a:rPr>
              <a:t>La oportunidad está en transformar una transacción rápida en un momento reconocible de marca.</a:t>
            </a:r>
            <a:endParaRPr b="1" i="0" sz="10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fb5eb765e6_0_133"/>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246" name="Google Shape;246;g3fb5eb765e6_0_133"/>
          <p:cNvSpPr/>
          <p:nvPr/>
        </p:nvSpPr>
        <p:spPr>
          <a:xfrm>
            <a:off x="-159871" y="10223394"/>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247" name="Google Shape;247;g3fb5eb765e6_0_133"/>
          <p:cNvSpPr txBox="1"/>
          <p:nvPr/>
        </p:nvSpPr>
        <p:spPr>
          <a:xfrm>
            <a:off x="440959" y="904121"/>
            <a:ext cx="6678082" cy="4719133"/>
          </a:xfrm>
          <a:prstGeom prst="rect">
            <a:avLst/>
          </a:prstGeom>
          <a:noFill/>
          <a:ln>
            <a:noFill/>
          </a:ln>
        </p:spPr>
        <p:txBody>
          <a:bodyPr anchorCtr="0" anchor="t" bIns="0" lIns="0" spcFirstLastPara="1" rIns="0" wrap="square" tIns="0">
            <a:spAutoFit/>
          </a:bodyPr>
          <a:lstStyle/>
          <a:p>
            <a:pPr indent="0" lvl="0" marL="0" marR="0" rtl="0" algn="l">
              <a:lnSpc>
                <a:spcPct val="140100"/>
              </a:lnSpc>
              <a:spcBef>
                <a:spcPts val="0"/>
              </a:spcBef>
              <a:spcAft>
                <a:spcPts val="0"/>
              </a:spcAft>
              <a:buClr>
                <a:srgbClr val="000000"/>
              </a:buClr>
              <a:buSzPts val="1000"/>
              <a:buFont typeface="Arial"/>
              <a:buNone/>
            </a:pPr>
            <a:r>
              <a:rPr b="1" lang="en-US" sz="1000">
                <a:latin typeface="Helvetica Neue"/>
                <a:ea typeface="Helvetica Neue"/>
                <a:cs typeface="Helvetica Neue"/>
                <a:sym typeface="Helvetica Neue"/>
              </a:rPr>
              <a:t>4</a:t>
            </a:r>
            <a:r>
              <a:rPr b="1" lang="en-US" sz="900">
                <a:latin typeface="Helvetica Neue"/>
                <a:ea typeface="Helvetica Neue"/>
                <a:cs typeface="Helvetica Neue"/>
                <a:sym typeface="Helvetica Neue"/>
              </a:rPr>
              <a:t>. Construir una propuesta que acompañe todo el día</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El consumo fuera de casa está dejando de organizarse únicamente alrededor de comida y cena.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Desayuno, café, lunch, aperitivo y tardeo generan múltiples ocasiones, y además existe una mayor flexibilidad entre consumo individual y social.</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Esto abre la posibilidad de pensar en una propuesta menos vinculada a una única ocasión gastronómica y más conectada con diferentes momentos de la rutina.</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No significa necesariamente ampliar la carta indiscriminadamente. </a:t>
            </a:r>
            <a:r>
              <a:rPr b="1" lang="en-US" sz="900">
                <a:latin typeface="Helvetica Neue"/>
                <a:ea typeface="Helvetica Neue"/>
                <a:cs typeface="Helvetica Neue"/>
                <a:sym typeface="Helvetica Neue"/>
              </a:rPr>
              <a:t>Significa preguntarse qué papel puede jugar una misma marca en diferentes momentos del día.</a:t>
            </a:r>
            <a:endParaRPr b="1" sz="900">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fb5eb765e6_0_140"/>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253" name="Google Shape;253;g3fb5eb765e6_0_140"/>
          <p:cNvSpPr/>
          <p:nvPr/>
        </p:nvSpPr>
        <p:spPr>
          <a:xfrm>
            <a:off x="-159871" y="10223394"/>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254" name="Google Shape;254;g3fb5eb765e6_0_140"/>
          <p:cNvSpPr txBox="1"/>
          <p:nvPr/>
        </p:nvSpPr>
        <p:spPr>
          <a:xfrm>
            <a:off x="440959" y="865072"/>
            <a:ext cx="6678082" cy="8388180"/>
          </a:xfrm>
          <a:prstGeom prst="rect">
            <a:avLst/>
          </a:prstGeom>
          <a:noFill/>
          <a:ln>
            <a:noFill/>
          </a:ln>
        </p:spPr>
        <p:txBody>
          <a:bodyPr anchorCtr="0" anchor="t" bIns="0" lIns="0" spcFirstLastPara="1" rIns="0" wrap="square" tIns="0">
            <a:spAutoFit/>
          </a:bodyPr>
          <a:lstStyle/>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5. Pasar de una categoría de hostelería a una propuesta construida alrededor del día a día</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El consumidor está cruzando cada vez más categorías de consumo. En un mismo día puede buscar café de calidad, una opción saludable, algo rápido para comer, un pequeño momento de placer o una forma de socializar, sin que estas necesidades estén necesariamente vinculadas a establecimientos diferentes.</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Sin embargo, gran parte de la oferta continúa organizada alrededor de categorías muy definidas: cafetería, brunch, bakery, healthy food, juice bar, bar o food-to-go. Cada una responde especialmente bien a una ocasión o necesidad concreta. Esto abre la posibilidad de construir propuestas menos condicionadas por una categoría gastronómica y más centradas en las necesidades y momentos reales del consumidor.</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La oportunidad no consiste en ampliar la oferta indiscriminadamente, sino en seleccionar aquellos productos, servicios y experiencias capaces de responder a diferentes momentos del día y conectarlos bajo una misma lógica de marca.</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1000">
              <a:latin typeface="Helvetica Neue"/>
              <a:ea typeface="Helvetica Neue"/>
              <a:cs typeface="Helvetica Neue"/>
              <a:sym typeface="Helvetica Neu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fb5eb765e6_0_153"/>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260" name="Google Shape;260;g3fb5eb765e6_0_153"/>
          <p:cNvSpPr/>
          <p:nvPr/>
        </p:nvSpPr>
        <p:spPr>
          <a:xfrm>
            <a:off x="-159871" y="10223394"/>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261" name="Google Shape;261;g3fb5eb765e6_0_153"/>
          <p:cNvSpPr txBox="1"/>
          <p:nvPr/>
        </p:nvSpPr>
        <p:spPr>
          <a:xfrm>
            <a:off x="440959" y="865072"/>
            <a:ext cx="6678082" cy="8358600"/>
          </a:xfrm>
          <a:prstGeom prst="rect">
            <a:avLst/>
          </a:prstGeom>
          <a:noFill/>
          <a:ln>
            <a:noFill/>
          </a:ln>
        </p:spPr>
        <p:txBody>
          <a:bodyPr anchorCtr="0" anchor="t" bIns="0" lIns="0" spcFirstLastPara="1" rIns="0" wrap="square" tIns="0">
            <a:spAutoFit/>
          </a:bodyPr>
          <a:lstStyle/>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Esta lógica puede trasladarse a diferentes capas del negocio:</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Producto:</a:t>
            </a:r>
            <a:r>
              <a:rPr lang="en-US" sz="900">
                <a:latin typeface="Helvetica Neue"/>
                <a:ea typeface="Helvetica Neue"/>
                <a:cs typeface="Helvetica Neue"/>
                <a:sym typeface="Helvetica Neue"/>
              </a:rPr>
              <a:t> diseñar la oferta desde las necesidades y ocasiones de consumo.</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Carta: </a:t>
            </a:r>
            <a:r>
              <a:rPr lang="en-US" sz="900">
                <a:latin typeface="Helvetica Neue"/>
                <a:ea typeface="Helvetica Neue"/>
                <a:cs typeface="Helvetica Neue"/>
                <a:sym typeface="Helvetica Neue"/>
              </a:rPr>
              <a:t>facilitar la elección según el momento, no únicamente según la categoría.</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Espacio: </a:t>
            </a:r>
            <a:r>
              <a:rPr lang="en-US" sz="900">
                <a:latin typeface="Helvetica Neue"/>
                <a:ea typeface="Helvetica Neue"/>
                <a:cs typeface="Helvetica Neue"/>
                <a:sym typeface="Helvetica Neue"/>
              </a:rPr>
              <a:t>permitir diferentes niveles de permanencia y formas de consumo.</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Servicio:</a:t>
            </a:r>
            <a:r>
              <a:rPr lang="en-US" sz="900">
                <a:latin typeface="Helvetica Neue"/>
                <a:ea typeface="Helvetica Neue"/>
                <a:cs typeface="Helvetica Neue"/>
                <a:sym typeface="Helvetica Neue"/>
              </a:rPr>
              <a:t> adaptarse tanto a quien necesita rapidez como a quien busca quedarse.</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Marca: </a:t>
            </a:r>
            <a:r>
              <a:rPr lang="en-US" sz="900">
                <a:latin typeface="Helvetica Neue"/>
                <a:ea typeface="Helvetica Neue"/>
                <a:cs typeface="Helvetica Neue"/>
                <a:sym typeface="Helvetica Neue"/>
              </a:rPr>
              <a:t>utilizar una narrativa común para conectar productos y experiencias diferentes.</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Ecosistema: </a:t>
            </a:r>
            <a:r>
              <a:rPr lang="en-US" sz="900">
                <a:latin typeface="Helvetica Neue"/>
                <a:ea typeface="Helvetica Neue"/>
                <a:cs typeface="Helvetica Neue"/>
                <a:sym typeface="Helvetica Neue"/>
              </a:rPr>
              <a:t>extender la relación más allá del local mediante contenidos, colaboraciones, comunidad o productos de marca.</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1" lang="en-US" sz="900">
                <a:latin typeface="Helvetica Neue"/>
                <a:ea typeface="Helvetica Neue"/>
                <a:cs typeface="Helvetica Neue"/>
                <a:sym typeface="Helvetica Neue"/>
              </a:rPr>
              <a:t>La oportunidad está en crear una propuesta con suficiente foco para ser reconocible, pero suficientemente flexible para acompañar diferentes momentos de la vida cotidiana.</a:t>
            </a:r>
            <a:endParaRPr sz="900">
              <a:latin typeface="Helvetica Neue"/>
              <a:ea typeface="Helvetica Neue"/>
              <a:cs typeface="Helvetica Neue"/>
              <a:sym typeface="Helvetica Neu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fb5eb765e6_0_159"/>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267" name="Google Shape;267;g3fb5eb765e6_0_159"/>
          <p:cNvSpPr/>
          <p:nvPr/>
        </p:nvSpPr>
        <p:spPr>
          <a:xfrm>
            <a:off x="-159871" y="10223394"/>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268" name="Google Shape;268;g3fb5eb765e6_0_159"/>
          <p:cNvSpPr txBox="1"/>
          <p:nvPr/>
        </p:nvSpPr>
        <p:spPr>
          <a:xfrm>
            <a:off x="440959" y="865072"/>
            <a:ext cx="6678082" cy="8032083"/>
          </a:xfrm>
          <a:prstGeom prst="rect">
            <a:avLst/>
          </a:prstGeom>
          <a:noFill/>
          <a:ln>
            <a:noFill/>
          </a:ln>
        </p:spPr>
        <p:txBody>
          <a:bodyPr anchorCtr="0" anchor="t" bIns="0" lIns="0" spcFirstLastPara="1" rIns="0" wrap="square" tIns="0">
            <a:spAutoFit/>
          </a:bodyPr>
          <a:lstStyle/>
          <a:p>
            <a:pPr indent="0" lvl="0" marL="0" marR="0" rtl="0" algn="l">
              <a:lnSpc>
                <a:spcPct val="140100"/>
              </a:lnSpc>
              <a:spcBef>
                <a:spcPts val="0"/>
              </a:spcBef>
              <a:spcAft>
                <a:spcPts val="0"/>
              </a:spcAft>
              <a:buClr>
                <a:srgbClr val="000000"/>
              </a:buClr>
              <a:buSzPts val="1000"/>
              <a:buFont typeface="Arial"/>
              <a:buNone/>
            </a:pPr>
            <a:r>
              <a:rPr b="1" lang="en-US" sz="1000">
                <a:latin typeface="Helvetica Neue"/>
                <a:ea typeface="Helvetica Neue"/>
                <a:cs typeface="Helvetica Neue"/>
                <a:sym typeface="Helvetica Neue"/>
              </a:rPr>
              <a:t>6</a:t>
            </a:r>
            <a:r>
              <a:rPr b="1" lang="en-US" sz="900">
                <a:latin typeface="Helvetica Neue"/>
                <a:ea typeface="Helvetica Neue"/>
                <a:cs typeface="Helvetica Neue"/>
                <a:sym typeface="Helvetica Neue"/>
              </a:rPr>
              <a:t>. Convertir la proximidad en pertenencia</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En un mercado donde proliferan propuestas cada vez más especializadas, la proximidad puede convertirse en algo más que una ventaja geográfica. Un negocio local puede adquirir valor cuando consigue integrarse en la vida cotidiana de las personas y representar una determinada manera de vivir.</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El consumidor no solo elige dónde consumir por producto, precio o conveniencia. </a:t>
            </a:r>
            <a:r>
              <a:rPr b="1" lang="en-US" sz="900">
                <a:latin typeface="Helvetica Neue"/>
                <a:ea typeface="Helvetica Neue"/>
                <a:cs typeface="Helvetica Neue"/>
                <a:sym typeface="Helvetica Neue"/>
              </a:rPr>
              <a:t>También busca lugares y marcas que encajen con sus hábitos, sus formas de relacionarse y la manera en la que quiere vivir su día a día. Esto abre la posibilidad de construir propuestas alrededor de comportamientos, rituales y formas de vida compartidas, en lugar de hacerlo únicamente alrededor de una categoría gastronómica.</a:t>
            </a:r>
            <a:endParaRPr b="1"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En hostelería, </a:t>
            </a:r>
            <a:r>
              <a:rPr b="1" lang="en-US" sz="900">
                <a:latin typeface="Helvetica Neue"/>
                <a:ea typeface="Helvetica Neue"/>
                <a:cs typeface="Helvetica Neue"/>
                <a:sym typeface="Helvetica Neue"/>
              </a:rPr>
              <a:t>esto significa utilizar el concepto de lifestyle como una herramienta para tomar decisiones de negocio. No se trata simplemente de construir una estética determinada, sino de identificar qué momentos, hábitos y comportamientos queremos acompañar y traducirlos en producto, servicio, espacio y marca.</a:t>
            </a:r>
            <a:endParaRPr b="1" sz="900">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fb5eb765e6_0_165"/>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274" name="Google Shape;274;g3fb5eb765e6_0_165"/>
          <p:cNvSpPr/>
          <p:nvPr/>
        </p:nvSpPr>
        <p:spPr>
          <a:xfrm>
            <a:off x="-159871" y="10223394"/>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275" name="Google Shape;275;g3fb5eb765e6_0_165"/>
          <p:cNvSpPr txBox="1"/>
          <p:nvPr/>
        </p:nvSpPr>
        <p:spPr>
          <a:xfrm>
            <a:off x="440959" y="806470"/>
            <a:ext cx="6678082" cy="881633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Por eso, la conceptualización puede partir de las ocasiones de consumo antes que de los productos.</a:t>
            </a:r>
            <a:endParaRPr b="1"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b="1" sz="900">
              <a:solidFill>
                <a:schemeClr val="dk1"/>
              </a:solidFill>
              <a:latin typeface="Helvetica Neue"/>
              <a:ea typeface="Helvetica Neue"/>
              <a:cs typeface="Helvetica Neue"/>
              <a:sym typeface="Helvetica Neue"/>
            </a:endParaRPr>
          </a:p>
          <a:p>
            <a:pPr indent="-28575" lvl="0" marL="114300" rtl="0" algn="l">
              <a:lnSpc>
                <a:spcPct val="115000"/>
              </a:lnSpc>
              <a:spcBef>
                <a:spcPts val="0"/>
              </a:spcBef>
              <a:spcAft>
                <a:spcPts val="0"/>
              </a:spcAft>
              <a:buClr>
                <a:schemeClr val="dk1"/>
              </a:buClr>
              <a:buSzPts val="900"/>
              <a:buFont typeface="Helvetica Neue"/>
              <a:buChar char="-"/>
            </a:pPr>
            <a:r>
              <a:rPr lang="en-US" sz="900">
                <a:solidFill>
                  <a:schemeClr val="dk1"/>
                </a:solidFill>
                <a:latin typeface="Helvetica Neue"/>
                <a:ea typeface="Helvetica Neue"/>
                <a:cs typeface="Helvetica Neue"/>
                <a:sym typeface="Helvetica Neue"/>
              </a:rPr>
              <a:t>C</a:t>
            </a:r>
            <a:r>
              <a:rPr lang="en-US" sz="900" u="sng">
                <a:solidFill>
                  <a:schemeClr val="dk1"/>
                </a:solidFill>
                <a:latin typeface="Helvetica Neue"/>
                <a:ea typeface="Helvetica Neue"/>
                <a:cs typeface="Helvetica Neue"/>
                <a:sym typeface="Helvetica Neue"/>
              </a:rPr>
              <a:t>ómo empieza el día</a:t>
            </a:r>
            <a:r>
              <a:rPr lang="en-US" sz="900">
                <a:solidFill>
                  <a:schemeClr val="dk1"/>
                </a:solidFill>
                <a:latin typeface="Helvetica Neue"/>
                <a:ea typeface="Helvetica Neue"/>
                <a:cs typeface="Helvetica Neue"/>
                <a:sym typeface="Helvetica Neue"/>
              </a:rPr>
              <a:t> determina qué momentos de consumo tienen sentido, qué horarios necesita el negocio y qué papel pueden jugar el café y el desayuno.</a:t>
            </a:r>
            <a:endParaRPr sz="900">
              <a:solidFill>
                <a:schemeClr val="dk1"/>
              </a:solidFill>
              <a:latin typeface="Helvetica Neue"/>
              <a:ea typeface="Helvetica Neue"/>
              <a:cs typeface="Helvetica Neue"/>
              <a:sym typeface="Helvetica Neue"/>
            </a:endParaRPr>
          </a:p>
          <a:p>
            <a:pPr indent="-28575" lvl="0" marL="114300" rtl="0" algn="l">
              <a:lnSpc>
                <a:spcPct val="115000"/>
              </a:lnSpc>
              <a:spcBef>
                <a:spcPts val="0"/>
              </a:spcBef>
              <a:spcAft>
                <a:spcPts val="0"/>
              </a:spcAft>
              <a:buClr>
                <a:schemeClr val="dk1"/>
              </a:buClr>
              <a:buSzPts val="900"/>
              <a:buFont typeface="Helvetica Neue"/>
              <a:buChar char="-"/>
            </a:pPr>
            <a:r>
              <a:rPr lang="en-US" sz="900" u="sng">
                <a:solidFill>
                  <a:schemeClr val="dk1"/>
                </a:solidFill>
                <a:latin typeface="Helvetica Neue"/>
                <a:ea typeface="Helvetica Neue"/>
                <a:cs typeface="Helvetica Neue"/>
                <a:sym typeface="Helvetica Neue"/>
              </a:rPr>
              <a:t>Cuánto tiempo</a:t>
            </a:r>
            <a:r>
              <a:rPr lang="en-US" sz="900">
                <a:solidFill>
                  <a:schemeClr val="dk1"/>
                </a:solidFill>
                <a:latin typeface="Helvetica Neue"/>
                <a:ea typeface="Helvetica Neue"/>
                <a:cs typeface="Helvetica Neue"/>
                <a:sym typeface="Helvetica Neue"/>
              </a:rPr>
              <a:t> tiene condiciona el formato, el servicio, el nivel de permanencia y la importancia del take away.</a:t>
            </a:r>
            <a:endParaRPr sz="900">
              <a:solidFill>
                <a:schemeClr val="dk1"/>
              </a:solidFill>
              <a:latin typeface="Helvetica Neue"/>
              <a:ea typeface="Helvetica Neue"/>
              <a:cs typeface="Helvetica Neue"/>
              <a:sym typeface="Helvetica Neue"/>
            </a:endParaRPr>
          </a:p>
          <a:p>
            <a:pPr indent="-28575" lvl="0" marL="114300" rtl="0" algn="l">
              <a:lnSpc>
                <a:spcPct val="115000"/>
              </a:lnSpc>
              <a:spcBef>
                <a:spcPts val="0"/>
              </a:spcBef>
              <a:spcAft>
                <a:spcPts val="0"/>
              </a:spcAft>
              <a:buClr>
                <a:schemeClr val="dk1"/>
              </a:buClr>
              <a:buSzPts val="900"/>
              <a:buFont typeface="Helvetica Neue"/>
              <a:buChar char="-"/>
            </a:pPr>
            <a:r>
              <a:rPr lang="en-US" sz="900" u="sng">
                <a:solidFill>
                  <a:schemeClr val="dk1"/>
                </a:solidFill>
                <a:latin typeface="Helvetica Neue"/>
                <a:ea typeface="Helvetica Neue"/>
                <a:cs typeface="Helvetica Neue"/>
                <a:sym typeface="Helvetica Neue"/>
              </a:rPr>
              <a:t>Dónde va a consumirlo </a:t>
            </a:r>
            <a:r>
              <a:rPr lang="en-US" sz="900">
                <a:solidFill>
                  <a:schemeClr val="dk1"/>
                </a:solidFill>
                <a:latin typeface="Helvetica Neue"/>
                <a:ea typeface="Helvetica Neue"/>
                <a:cs typeface="Helvetica Neue"/>
                <a:sym typeface="Helvetica Neue"/>
              </a:rPr>
              <a:t>puede cambiar completamente la propuesta: no es lo mismo comer caminando, llevarlo a la oficina, consumirlo en el local o comprarlo para compartir.</a:t>
            </a:r>
            <a:endParaRPr sz="900">
              <a:solidFill>
                <a:schemeClr val="dk1"/>
              </a:solidFill>
              <a:latin typeface="Helvetica Neue"/>
              <a:ea typeface="Helvetica Neue"/>
              <a:cs typeface="Helvetica Neue"/>
              <a:sym typeface="Helvetica Neue"/>
            </a:endParaRPr>
          </a:p>
          <a:p>
            <a:pPr indent="-28575" lvl="0" marL="114300" rtl="0" algn="l">
              <a:lnSpc>
                <a:spcPct val="115000"/>
              </a:lnSpc>
              <a:spcBef>
                <a:spcPts val="0"/>
              </a:spcBef>
              <a:spcAft>
                <a:spcPts val="0"/>
              </a:spcAft>
              <a:buClr>
                <a:schemeClr val="dk1"/>
              </a:buClr>
              <a:buSzPts val="900"/>
              <a:buFont typeface="Helvetica Neue"/>
              <a:buChar char="-"/>
            </a:pPr>
            <a:r>
              <a:rPr lang="en-US" sz="900" u="sng">
                <a:solidFill>
                  <a:schemeClr val="dk1"/>
                </a:solidFill>
                <a:latin typeface="Helvetica Neue"/>
                <a:ea typeface="Helvetica Neue"/>
                <a:cs typeface="Helvetica Neue"/>
                <a:sym typeface="Helvetica Neue"/>
              </a:rPr>
              <a:t>Qué entiende por cuidarse</a:t>
            </a:r>
            <a:r>
              <a:rPr lang="en-US" sz="900">
                <a:solidFill>
                  <a:schemeClr val="dk1"/>
                </a:solidFill>
                <a:latin typeface="Helvetica Neue"/>
                <a:ea typeface="Helvetica Neue"/>
                <a:cs typeface="Helvetica Neue"/>
                <a:sym typeface="Helvetica Neue"/>
              </a:rPr>
              <a:t> determina qué significa “healthy” para esa ocasión: puede ser buscar ingredientes reconocibles, una comida equilibrada, una opción vegetal, reducir el alcohol o simplemente permitirse una elección que siente que le sienta bien.</a:t>
            </a:r>
            <a:endParaRPr sz="900">
              <a:solidFill>
                <a:schemeClr val="dk1"/>
              </a:solidFill>
              <a:latin typeface="Helvetica Neue"/>
              <a:ea typeface="Helvetica Neue"/>
              <a:cs typeface="Helvetica Neue"/>
              <a:sym typeface="Helvetica Neue"/>
            </a:endParaRPr>
          </a:p>
          <a:p>
            <a:pPr indent="-28575" lvl="0" marL="114300" rtl="0" algn="l">
              <a:lnSpc>
                <a:spcPct val="115000"/>
              </a:lnSpc>
              <a:spcBef>
                <a:spcPts val="0"/>
              </a:spcBef>
              <a:spcAft>
                <a:spcPts val="0"/>
              </a:spcAft>
              <a:buClr>
                <a:schemeClr val="dk1"/>
              </a:buClr>
              <a:buSzPts val="900"/>
              <a:buFont typeface="Helvetica Neue"/>
              <a:buChar char="-"/>
            </a:pPr>
            <a:r>
              <a:rPr lang="en-US" sz="900" u="sng">
                <a:solidFill>
                  <a:schemeClr val="dk1"/>
                </a:solidFill>
                <a:latin typeface="Helvetica Neue"/>
                <a:ea typeface="Helvetica Neue"/>
                <a:cs typeface="Helvetica Neue"/>
                <a:sym typeface="Helvetica Neue"/>
              </a:rPr>
              <a:t>Qué busca emocionalmente </a:t>
            </a:r>
            <a:r>
              <a:rPr lang="en-US" sz="900">
                <a:solidFill>
                  <a:schemeClr val="dk1"/>
                </a:solidFill>
                <a:latin typeface="Helvetica Neue"/>
                <a:ea typeface="Helvetica Neue"/>
                <a:cs typeface="Helvetica Neue"/>
                <a:sym typeface="Helvetica Neue"/>
              </a:rPr>
              <a:t>puede convertir una necesidad funcional en una ocasión de disfrute: un café diario puede ser combustible, pero también un ritual; un lunch puede ser simplemente comida, pero también una pausa; un snack puede resolver el hambre o convertirse en un pequeño premio.</a:t>
            </a:r>
            <a:endParaRPr sz="900">
              <a:solidFill>
                <a:schemeClr val="dk1"/>
              </a:solidFill>
              <a:latin typeface="Helvetica Neue"/>
              <a:ea typeface="Helvetica Neue"/>
              <a:cs typeface="Helvetica Neue"/>
              <a:sym typeface="Helvetica Neue"/>
            </a:endParaRPr>
          </a:p>
          <a:p>
            <a:pPr indent="-28575" lvl="0" marL="114300" rtl="0" algn="l">
              <a:lnSpc>
                <a:spcPct val="115000"/>
              </a:lnSpc>
              <a:spcBef>
                <a:spcPts val="0"/>
              </a:spcBef>
              <a:spcAft>
                <a:spcPts val="0"/>
              </a:spcAft>
              <a:buClr>
                <a:schemeClr val="dk1"/>
              </a:buClr>
              <a:buSzPts val="900"/>
              <a:buFont typeface="Helvetica Neue"/>
              <a:buChar char="-"/>
            </a:pPr>
            <a:r>
              <a:rPr lang="en-US" sz="900" u="sng">
                <a:solidFill>
                  <a:schemeClr val="dk1"/>
                </a:solidFill>
                <a:latin typeface="Helvetica Neue"/>
                <a:ea typeface="Helvetica Neue"/>
                <a:cs typeface="Helvetica Neue"/>
                <a:sym typeface="Helvetica Neue"/>
              </a:rPr>
              <a:t>Cómo se relaciona con los demás</a:t>
            </a:r>
            <a:r>
              <a:rPr lang="en-US" sz="900">
                <a:solidFill>
                  <a:schemeClr val="dk1"/>
                </a:solidFill>
                <a:latin typeface="Helvetica Neue"/>
                <a:ea typeface="Helvetica Neue"/>
                <a:cs typeface="Helvetica Neue"/>
                <a:sym typeface="Helvetica Neue"/>
              </a:rPr>
              <a:t> determina si la experiencia debe favorecer el consumo individual, el encuentro, el compartir o nuevas formas de socialización durante el día.</a:t>
            </a:r>
            <a:endParaRPr sz="900">
              <a:solidFill>
                <a:schemeClr val="dk1"/>
              </a:solidFill>
              <a:latin typeface="Helvetica Neue"/>
              <a:ea typeface="Helvetica Neue"/>
              <a:cs typeface="Helvetica Neue"/>
              <a:sym typeface="Helvetica Neue"/>
            </a:endParaRPr>
          </a:p>
          <a:p>
            <a:pPr indent="-28575" lvl="0" marL="114300" rtl="0" algn="l">
              <a:lnSpc>
                <a:spcPct val="115000"/>
              </a:lnSpc>
              <a:spcBef>
                <a:spcPts val="0"/>
              </a:spcBef>
              <a:spcAft>
                <a:spcPts val="0"/>
              </a:spcAft>
              <a:buClr>
                <a:schemeClr val="dk1"/>
              </a:buClr>
              <a:buSzPts val="900"/>
              <a:buFont typeface="Helvetica Neue"/>
              <a:buChar char="-"/>
            </a:pPr>
            <a:r>
              <a:rPr lang="en-US" sz="900" u="sng">
                <a:solidFill>
                  <a:schemeClr val="dk1"/>
                </a:solidFill>
                <a:latin typeface="Helvetica Neue"/>
                <a:ea typeface="Helvetica Neue"/>
                <a:cs typeface="Helvetica Neue"/>
                <a:sym typeface="Helvetica Neue"/>
              </a:rPr>
              <a:t>Qué repite </a:t>
            </a:r>
            <a:r>
              <a:rPr lang="en-US" sz="900">
                <a:solidFill>
                  <a:schemeClr val="dk1"/>
                </a:solidFill>
                <a:latin typeface="Helvetica Neue"/>
                <a:ea typeface="Helvetica Neue"/>
                <a:cs typeface="Helvetica Neue"/>
                <a:sym typeface="Helvetica Neue"/>
              </a:rPr>
              <a:t>permite identificar rituales y comportamientos susceptibles de convertirse en productos signature, formatos propios o códigos de marca.</a:t>
            </a:r>
            <a:endParaRPr sz="900">
              <a:solidFill>
                <a:schemeClr val="dk1"/>
              </a:solidFill>
              <a:latin typeface="Helvetica Neue"/>
              <a:ea typeface="Helvetica Neue"/>
              <a:cs typeface="Helvetica Neue"/>
              <a:sym typeface="Helvetica Neue"/>
            </a:endParaRPr>
          </a:p>
          <a:p>
            <a:pPr indent="-28575" lvl="0" marL="114300" rtl="0" algn="l">
              <a:lnSpc>
                <a:spcPct val="115000"/>
              </a:lnSpc>
              <a:spcBef>
                <a:spcPts val="0"/>
              </a:spcBef>
              <a:spcAft>
                <a:spcPts val="0"/>
              </a:spcAft>
              <a:buClr>
                <a:schemeClr val="dk1"/>
              </a:buClr>
              <a:buSzPts val="900"/>
              <a:buFont typeface="Helvetica Neue"/>
              <a:buChar char="-"/>
            </a:pPr>
            <a:r>
              <a:rPr lang="en-US" sz="900" u="sng">
                <a:solidFill>
                  <a:schemeClr val="dk1"/>
                </a:solidFill>
                <a:latin typeface="Helvetica Neue"/>
                <a:ea typeface="Helvetica Neue"/>
                <a:cs typeface="Helvetica Neue"/>
                <a:sym typeface="Helvetica Neue"/>
              </a:rPr>
              <a:t>Con qué se identifica </a:t>
            </a:r>
            <a:r>
              <a:rPr lang="en-US" sz="900">
                <a:solidFill>
                  <a:schemeClr val="dk1"/>
                </a:solidFill>
                <a:latin typeface="Helvetica Neue"/>
                <a:ea typeface="Helvetica Neue"/>
                <a:cs typeface="Helvetica Neue"/>
                <a:sym typeface="Helvetica Neue"/>
              </a:rPr>
              <a:t>permite definir qué valores, códigos culturales, lenguaje y universo de marca pueden hacer que el establecimiento represente una determinada forma de vivir.</a:t>
            </a:r>
            <a:endParaRPr sz="900">
              <a:solidFill>
                <a:schemeClr val="dk1"/>
              </a:solidFill>
              <a:latin typeface="Helvetica Neue"/>
              <a:ea typeface="Helvetica Neue"/>
              <a:cs typeface="Helvetica Neue"/>
              <a:sym typeface="Helvetica Neue"/>
            </a:endParaRPr>
          </a:p>
          <a:p>
            <a:pPr indent="0" lvl="0" marL="114300" marR="0" rtl="0" algn="l">
              <a:lnSpc>
                <a:spcPct val="140100"/>
              </a:lnSpc>
              <a:spcBef>
                <a:spcPts val="0"/>
              </a:spcBef>
              <a:spcAft>
                <a:spcPts val="0"/>
              </a:spcAft>
              <a:buClr>
                <a:srgbClr val="000000"/>
              </a:buClr>
              <a:buSzPts val="1000"/>
              <a:buFont typeface="Arial"/>
              <a:buNone/>
            </a:pPr>
            <a:r>
              <a:t/>
            </a:r>
            <a:endParaRPr sz="1000">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fb5eb765e6_0_241"/>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281" name="Google Shape;281;g3fb5eb765e6_0_241"/>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282" name="Google Shape;282;g3fb5eb765e6_0_241"/>
          <p:cNvSpPr txBox="1"/>
          <p:nvPr/>
        </p:nvSpPr>
        <p:spPr>
          <a:xfrm>
            <a:off x="406990" y="6585576"/>
            <a:ext cx="6678082" cy="350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a.</a:t>
            </a:r>
            <a:r>
              <a:rPr lang="en-US" sz="1200">
                <a:latin typeface="Epilogue"/>
                <a:ea typeface="Epilogue"/>
                <a:cs typeface="Epilogue"/>
                <a:sym typeface="Epilogue"/>
              </a:rPr>
              <a:t> </a:t>
            </a:r>
            <a:r>
              <a:rPr lang="en-US" sz="1000">
                <a:solidFill>
                  <a:schemeClr val="dk1"/>
                </a:solidFill>
                <a:latin typeface="Epilogue"/>
                <a:ea typeface="Epilogue"/>
                <a:cs typeface="Epilogue"/>
                <a:sym typeface="Epilogue"/>
              </a:rPr>
              <a:t>Propósito - Por qué existe la marca</a:t>
            </a:r>
            <a:endParaRPr i="0" sz="2400" u="none" cap="none" strike="noStrike">
              <a:solidFill>
                <a:srgbClr val="000000"/>
              </a:solidFill>
              <a:latin typeface="Epilogue"/>
              <a:ea typeface="Epilogue"/>
              <a:cs typeface="Epilogue"/>
              <a:sym typeface="Epilogue"/>
            </a:endParaRPr>
          </a:p>
        </p:txBody>
      </p:sp>
      <p:sp>
        <p:nvSpPr>
          <p:cNvPr id="283" name="Google Shape;283;g3fb5eb765e6_0_241"/>
          <p:cNvSpPr txBox="1"/>
          <p:nvPr/>
        </p:nvSpPr>
        <p:spPr>
          <a:xfrm>
            <a:off x="474943" y="7017906"/>
            <a:ext cx="6678082" cy="2604894"/>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Hacer que vivir bien forme parte de la vida cotidiana.</a:t>
            </a:r>
            <a:endParaRPr b="1"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The Lokal nace de una idea sencilla: cuidarse no debería sentirse como una renuncia ni como algo excepcional.</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Comer bien, disfrutar de lo que comemos, descubrir nuevos sabores, tomar un buen café, hacer una pausa o compartir un momento con otros pueden formar parte de la rutina sin necesidad de complicarla.</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The Lokal busca hacer de esos pequeños momentos cotidianos una forma más consciente, saludable y disfrutable de vivir.</a:t>
            </a:r>
            <a:endParaRPr sz="900">
              <a:solidFill>
                <a:schemeClr val="dk1"/>
              </a:solidFill>
              <a:latin typeface="Helvetica Neue"/>
              <a:ea typeface="Helvetica Neue"/>
              <a:cs typeface="Helvetica Neue"/>
              <a:sym typeface="Helvetica Neue"/>
            </a:endParaRPr>
          </a:p>
        </p:txBody>
      </p:sp>
      <p:sp>
        <p:nvSpPr>
          <p:cNvPr id="284" name="Google Shape;284;g3fb5eb765e6_0_241"/>
          <p:cNvSpPr txBox="1"/>
          <p:nvPr/>
        </p:nvSpPr>
        <p:spPr>
          <a:xfrm>
            <a:off x="440959" y="1737869"/>
            <a:ext cx="6678082" cy="464177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A. </a:t>
            </a:r>
            <a:r>
              <a:rPr lang="en-US" sz="900">
                <a:solidFill>
                  <a:schemeClr val="dk1"/>
                </a:solidFill>
                <a:latin typeface="Helvetica Neue"/>
                <a:ea typeface="Helvetica Neue"/>
                <a:cs typeface="Helvetica Neue"/>
                <a:sym typeface="Helvetica Neue"/>
              </a:rPr>
              <a:t>PROPÓSITO</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Hacer que vivir bien forme parte de la vida cotidiana.</a:t>
            </a:r>
            <a:endParaRPr sz="900">
              <a:solidFill>
                <a:schemeClr val="dk1"/>
              </a:solidFill>
              <a:latin typeface="Helvetica Neue"/>
              <a:ea typeface="Helvetica Neue"/>
              <a:cs typeface="Helvetica Neue"/>
              <a:sym typeface="Helvetica Neue"/>
            </a:endParaRPr>
          </a:p>
          <a:p>
            <a:pPr indent="0" lvl="0" marL="85725" rtl="0" algn="l">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Tagline</a:t>
            </a:r>
            <a:r>
              <a:rPr lang="en-US" sz="900">
                <a:solidFill>
                  <a:schemeClr val="dk1"/>
                </a:solidFill>
                <a:latin typeface="Helvetica Neue"/>
                <a:ea typeface="Helvetica Neue"/>
                <a:cs typeface="Helvetica Neue"/>
                <a:sym typeface="Helvetica Neue"/>
              </a:rPr>
              <a:t>: Donde el mundo se siente local</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B. MISIÓN</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Crear productos, experiencias y rituales que hagan fácil vivir bien cada día.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C. VISIÓN</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US" sz="900">
                <a:solidFill>
                  <a:schemeClr val="dk1"/>
                </a:solidFill>
                <a:latin typeface="Helvetica Neue"/>
                <a:ea typeface="Helvetica Neue"/>
                <a:cs typeface="Helvetica Neue"/>
                <a:sym typeface="Helvetica Neue"/>
              </a:rPr>
              <a:t>El mundo nos inspira. Lo local nos define.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Una forma de entender lo local que no mira hacia dentro, sino hacia fuera.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D. VALORES</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US" sz="900">
                <a:solidFill>
                  <a:schemeClr val="dk1"/>
                </a:solidFill>
                <a:latin typeface="Helvetica Neue"/>
                <a:ea typeface="Helvetica Neue"/>
                <a:cs typeface="Helvetica Neue"/>
                <a:sym typeface="Helvetica Neue"/>
              </a:rPr>
              <a:t>Producto que cuida y apetece</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US" sz="900">
                <a:solidFill>
                  <a:schemeClr val="dk1"/>
                </a:solidFill>
                <a:latin typeface="Helvetica Neue"/>
                <a:ea typeface="Helvetica Neue"/>
                <a:cs typeface="Helvetica Neue"/>
                <a:sym typeface="Helvetica Neue"/>
              </a:rPr>
              <a:t>Experiencia cercana</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US" sz="900">
                <a:solidFill>
                  <a:schemeClr val="dk1"/>
                </a:solidFill>
                <a:latin typeface="Helvetica Neue"/>
                <a:ea typeface="Helvetica Neue"/>
                <a:cs typeface="Helvetica Neue"/>
                <a:sym typeface="Helvetica Neue"/>
              </a:rPr>
              <a:t>Rituales cotidianos</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US" sz="900">
                <a:solidFill>
                  <a:schemeClr val="dk1"/>
                </a:solidFill>
                <a:latin typeface="Helvetica Neue"/>
                <a:ea typeface="Helvetica Neue"/>
                <a:cs typeface="Helvetica Neue"/>
                <a:sym typeface="Helvetica Neue"/>
              </a:rPr>
              <a:t>Local + Mundo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US" sz="900">
                <a:solidFill>
                  <a:schemeClr val="dk1"/>
                </a:solidFill>
                <a:latin typeface="Helvetica Neue"/>
                <a:ea typeface="Helvetica Neue"/>
                <a:cs typeface="Helvetica Neue"/>
                <a:sym typeface="Helvetica Neue"/>
              </a:rPr>
              <a:t>Comunidad</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900">
              <a:solidFill>
                <a:schemeClr val="dk1"/>
              </a:solidFill>
            </a:endParaRPr>
          </a:p>
          <a:p>
            <a:pPr indent="0" lvl="0" marL="0" rtl="0" algn="l">
              <a:lnSpc>
                <a:spcPct val="115000"/>
              </a:lnSpc>
              <a:spcBef>
                <a:spcPts val="0"/>
              </a:spcBef>
              <a:spcAft>
                <a:spcPts val="0"/>
              </a:spcAft>
              <a:buNone/>
            </a:pPr>
            <a:r>
              <a:t/>
            </a:r>
            <a:endParaRPr sz="900">
              <a:solidFill>
                <a:schemeClr val="dk1"/>
              </a:solidFill>
            </a:endParaRPr>
          </a:p>
          <a:p>
            <a:pPr indent="0" lvl="0" marL="0" rtl="0" algn="l">
              <a:lnSpc>
                <a:spcPct val="100000"/>
              </a:lnSpc>
              <a:spcBef>
                <a:spcPts val="0"/>
              </a:spcBef>
              <a:spcAft>
                <a:spcPts val="0"/>
              </a:spcAft>
              <a:buNone/>
            </a:pPr>
            <a:r>
              <a:t/>
            </a:r>
            <a:endParaRPr sz="900">
              <a:solidFill>
                <a:schemeClr val="dk1"/>
              </a:solidFill>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endParaRPr>
          </a:p>
          <a:p>
            <a:pPr indent="0" lvl="0" marL="0" rtl="0" algn="l">
              <a:spcBef>
                <a:spcPts val="1200"/>
              </a:spcBef>
              <a:spcAft>
                <a:spcPts val="0"/>
              </a:spcAft>
              <a:buNone/>
            </a:pPr>
            <a:r>
              <a:t/>
            </a:r>
            <a:endParaRPr sz="900">
              <a:solidFill>
                <a:schemeClr val="dk1"/>
              </a:solidFill>
              <a:latin typeface="Helvetica Neue"/>
              <a:ea typeface="Helvetica Neue"/>
              <a:cs typeface="Helvetica Neue"/>
              <a:sym typeface="Helvetica Neue"/>
            </a:endParaRPr>
          </a:p>
        </p:txBody>
      </p:sp>
      <p:sp>
        <p:nvSpPr>
          <p:cNvPr id="285" name="Google Shape;285;g3fb5eb765e6_0_241"/>
          <p:cNvSpPr txBox="1"/>
          <p:nvPr/>
        </p:nvSpPr>
        <p:spPr>
          <a:xfrm>
            <a:off x="440925" y="994799"/>
            <a:ext cx="5467815" cy="963622"/>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2200"/>
              <a:buFont typeface="Arial"/>
              <a:buNone/>
            </a:pPr>
            <a:r>
              <a:rPr lang="en-US" sz="2200">
                <a:latin typeface="Epilogue"/>
                <a:ea typeface="Epilogue"/>
                <a:cs typeface="Epilogue"/>
                <a:sym typeface="Epilogue"/>
              </a:rPr>
              <a:t>4. Plataforma de marca</a:t>
            </a:r>
            <a:endParaRPr b="0" i="0" sz="2200" u="none" cap="none" strike="noStrike">
              <a:solidFill>
                <a:srgbClr val="000000"/>
              </a:solidFill>
              <a:latin typeface="Arial"/>
              <a:ea typeface="Arial"/>
              <a:cs typeface="Arial"/>
              <a:sym typeface="Arial"/>
            </a:endParaRPr>
          </a:p>
        </p:txBody>
      </p:sp>
      <p:sp>
        <p:nvSpPr>
          <p:cNvPr id="286" name="Google Shape;286;g3fb5eb765e6_0_241"/>
          <p:cNvSpPr/>
          <p:nvPr/>
        </p:nvSpPr>
        <p:spPr>
          <a:xfrm>
            <a:off x="5908774" y="758558"/>
            <a:ext cx="1474774" cy="1526316"/>
          </a:xfrm>
          <a:custGeom>
            <a:rect b="b" l="l" r="r" t="t"/>
            <a:pathLst>
              <a:path extrusionOk="0" h="600714" w="600714">
                <a:moveTo>
                  <a:pt x="0" y="0"/>
                </a:moveTo>
                <a:lnTo>
                  <a:pt x="600715" y="0"/>
                </a:lnTo>
                <a:lnTo>
                  <a:pt x="600715" y="600714"/>
                </a:lnTo>
                <a:lnTo>
                  <a:pt x="0" y="600714"/>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fb5eb765e6_0_255"/>
          <p:cNvSpPr/>
          <p:nvPr/>
        </p:nvSpPr>
        <p:spPr>
          <a:xfrm>
            <a:off x="14408" y="-595201"/>
            <a:ext cx="7550350"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292" name="Google Shape;292;g3fb5eb765e6_0_255"/>
          <p:cNvSpPr/>
          <p:nvPr/>
        </p:nvSpPr>
        <p:spPr>
          <a:xfrm>
            <a:off x="-159871" y="10223394"/>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293" name="Google Shape;293;g3fb5eb765e6_0_255"/>
          <p:cNvSpPr txBox="1"/>
          <p:nvPr/>
        </p:nvSpPr>
        <p:spPr>
          <a:xfrm>
            <a:off x="373007" y="1101306"/>
            <a:ext cx="6678082" cy="64165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1200">
                <a:solidFill>
                  <a:schemeClr val="dk1"/>
                </a:solidFill>
                <a:latin typeface="Epilogue"/>
                <a:ea typeface="Epilogue"/>
                <a:cs typeface="Epilogue"/>
                <a:sym typeface="Epilogue"/>
              </a:rPr>
              <a:t>B. </a:t>
            </a:r>
            <a:r>
              <a:rPr lang="en-US" sz="1200">
                <a:solidFill>
                  <a:schemeClr val="dk1"/>
                </a:solidFill>
                <a:latin typeface="Epilogue"/>
                <a:ea typeface="Epilogue"/>
                <a:cs typeface="Epilogue"/>
                <a:sym typeface="Epilogue"/>
              </a:rPr>
              <a:t>Misión - Cómo lo consigue.</a:t>
            </a:r>
            <a:endParaRPr sz="1200">
              <a:solidFill>
                <a:schemeClr val="dk1"/>
              </a:solidFill>
              <a:latin typeface="Epilogue"/>
              <a:ea typeface="Epilogue"/>
              <a:cs typeface="Epilogue"/>
              <a:sym typeface="Epilogue"/>
            </a:endParaRPr>
          </a:p>
          <a:p>
            <a:pPr indent="0" lvl="0" marL="0" rtl="0" algn="l">
              <a:spcBef>
                <a:spcPts val="0"/>
              </a:spcBef>
              <a:spcAft>
                <a:spcPts val="0"/>
              </a:spcAft>
              <a:buNone/>
            </a:pPr>
            <a:r>
              <a:t/>
            </a:r>
            <a:endParaRPr sz="1000">
              <a:solidFill>
                <a:schemeClr val="dk1"/>
              </a:solidFill>
              <a:latin typeface="Helvetica Neue"/>
              <a:ea typeface="Helvetica Neue"/>
              <a:cs typeface="Helvetica Neue"/>
              <a:sym typeface="Helvetica Neue"/>
            </a:endParaRPr>
          </a:p>
        </p:txBody>
      </p:sp>
      <p:sp>
        <p:nvSpPr>
          <p:cNvPr id="294" name="Google Shape;294;g3fb5eb765e6_0_255"/>
          <p:cNvSpPr txBox="1"/>
          <p:nvPr/>
        </p:nvSpPr>
        <p:spPr>
          <a:xfrm>
            <a:off x="440959" y="1642026"/>
            <a:ext cx="6678082" cy="525384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200"/>
              <a:buFont typeface="Arial"/>
              <a:buNone/>
            </a:pPr>
            <a:r>
              <a:rPr b="1" lang="en-US" sz="900">
                <a:solidFill>
                  <a:schemeClr val="dk1"/>
                </a:solidFill>
              </a:rPr>
              <a:t>C</a:t>
            </a:r>
            <a:r>
              <a:rPr b="1" lang="en-US" sz="900">
                <a:solidFill>
                  <a:schemeClr val="dk1"/>
                </a:solidFill>
                <a:latin typeface="Helvetica Neue"/>
                <a:ea typeface="Helvetica Neue"/>
                <a:cs typeface="Helvetica Neue"/>
                <a:sym typeface="Helvetica Neue"/>
              </a:rPr>
              <a:t>rear productos, experiencias y rituales que hagan fácil vivir bien cada día.</a:t>
            </a:r>
            <a:endParaRPr b="1"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The Lokal lo hace combinando producto de calidad, ingredientes reconocibles, una mirada local y una inspiración abierta al mundo, para crear una propuesta que se integra de forma natural en diferentes momentos de la vida cotidiana.</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Desde el café de cada mañana hasta un bagel para llevar, un zumo de temporada, algo dulce hecho en casa o una pausa compartida, cada elemento de The Lokal está pensado para ofrecer calidad, nutrición y disfrute en una experiencia cercana y sin pretensiones.</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La marca no entiende lo saludable como una categoría, sino como una forma de hacer las cosas: saber qué estás comiendo, cuidar de dónde viene, cómo se prepara y cómo se siente consumirlo.</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Y tampoco entiende lo local como una limitación. The Lokal toma el mundo como fuente de inspiración y el territorio como punto de partida.</a:t>
            </a:r>
            <a:endParaRPr sz="900">
              <a:solidFill>
                <a:schemeClr val="dk1"/>
              </a:solidFill>
              <a:latin typeface="Helvetica Neue"/>
              <a:ea typeface="Helvetica Neue"/>
              <a:cs typeface="Helvetica Neue"/>
              <a:sym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fb5eb765e6_0_248"/>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300" name="Google Shape;300;g3fb5eb765e6_0_248"/>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301" name="Google Shape;301;g3fb5eb765e6_0_248"/>
          <p:cNvSpPr txBox="1"/>
          <p:nvPr/>
        </p:nvSpPr>
        <p:spPr>
          <a:xfrm>
            <a:off x="373007" y="1101306"/>
            <a:ext cx="6678082" cy="350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C. </a:t>
            </a:r>
            <a:r>
              <a:rPr lang="en-US" sz="1200">
                <a:latin typeface="Epilogue"/>
                <a:ea typeface="Epilogue"/>
                <a:cs typeface="Epilogue"/>
                <a:sym typeface="Epilogue"/>
              </a:rPr>
              <a:t>Visión - Qué quiere llegar a representar.</a:t>
            </a:r>
            <a:endParaRPr sz="1200">
              <a:latin typeface="Epilogue"/>
              <a:ea typeface="Epilogue"/>
              <a:cs typeface="Epilogue"/>
              <a:sym typeface="Epilogue"/>
            </a:endParaRPr>
          </a:p>
        </p:txBody>
      </p:sp>
      <p:sp>
        <p:nvSpPr>
          <p:cNvPr id="302" name="Google Shape;302;g3fb5eb765e6_0_248"/>
          <p:cNvSpPr txBox="1"/>
          <p:nvPr/>
        </p:nvSpPr>
        <p:spPr>
          <a:xfrm>
            <a:off x="617267" y="3263938"/>
            <a:ext cx="6678082" cy="26280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1200"/>
              </a:spcBef>
              <a:spcAft>
                <a:spcPts val="0"/>
              </a:spcAft>
              <a:buClr>
                <a:schemeClr val="dk1"/>
              </a:buClr>
              <a:buSzPts val="2200"/>
              <a:buFont typeface="Arial"/>
              <a:buNone/>
            </a:pPr>
            <a:r>
              <a:t/>
            </a:r>
            <a:endParaRPr sz="900">
              <a:solidFill>
                <a:schemeClr val="dk1"/>
              </a:solidFill>
            </a:endParaRPr>
          </a:p>
        </p:txBody>
      </p:sp>
      <p:sp>
        <p:nvSpPr>
          <p:cNvPr id="303" name="Google Shape;303;g3fb5eb765e6_0_248"/>
          <p:cNvSpPr txBox="1"/>
          <p:nvPr/>
        </p:nvSpPr>
        <p:spPr>
          <a:xfrm>
            <a:off x="440959" y="2004991"/>
            <a:ext cx="6678082" cy="507523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200"/>
              </a:spcBef>
              <a:spcAft>
                <a:spcPts val="0"/>
              </a:spcAft>
              <a:buNone/>
            </a:pPr>
            <a:r>
              <a:rPr b="1" lang="en-US" sz="900">
                <a:solidFill>
                  <a:schemeClr val="dk1"/>
                </a:solidFill>
                <a:latin typeface="Helvetica Neue"/>
                <a:ea typeface="Helvetica Neue"/>
                <a:cs typeface="Helvetica Neue"/>
                <a:sym typeface="Helvetica Neue"/>
              </a:rPr>
              <a:t>BRAND IDEA / PRINCIPIO</a:t>
            </a:r>
            <a:endParaRPr b="1" sz="900">
              <a:solidFill>
                <a:schemeClr val="dk1"/>
              </a:solidFill>
              <a:latin typeface="Helvetica Neue"/>
              <a:ea typeface="Helvetica Neue"/>
              <a:cs typeface="Helvetica Neue"/>
              <a:sym typeface="Helvetica Neue"/>
            </a:endParaRPr>
          </a:p>
          <a:p>
            <a:pPr indent="0" lvl="0" marL="0" rtl="0" algn="ctr">
              <a:lnSpc>
                <a:spcPct val="115000"/>
              </a:lnSpc>
              <a:spcBef>
                <a:spcPts val="0"/>
              </a:spcBef>
              <a:spcAft>
                <a:spcPts val="0"/>
              </a:spcAft>
              <a:buNone/>
            </a:pPr>
            <a:r>
              <a:rPr lang="en-US" sz="900">
                <a:solidFill>
                  <a:schemeClr val="dk1"/>
                </a:solidFill>
                <a:latin typeface="Helvetica Neue"/>
                <a:ea typeface="Helvetica Neue"/>
                <a:cs typeface="Helvetica Neue"/>
                <a:sym typeface="Helvetica Neue"/>
              </a:rPr>
              <a:t>El mundo nos inspira. Lo local nos define.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ctr">
              <a:lnSpc>
                <a:spcPct val="115000"/>
              </a:lnSpc>
              <a:spcBef>
                <a:spcPts val="0"/>
              </a:spcBef>
              <a:spcAft>
                <a:spcPts val="0"/>
              </a:spcAft>
              <a:buNone/>
            </a:pPr>
            <a:r>
              <a:rPr b="1" lang="en-US" sz="900">
                <a:solidFill>
                  <a:schemeClr val="dk1"/>
                </a:solidFill>
                <a:latin typeface="Helvetica Neue"/>
                <a:ea typeface="Helvetica Neue"/>
                <a:cs typeface="Helvetica Neue"/>
                <a:sym typeface="Helvetica Neue"/>
              </a:rPr>
              <a:t>Una forma de entender lo local que no mira hacia dentro, sino hacia fuera. </a:t>
            </a:r>
            <a:endParaRPr b="1"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b="1"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lang="en-US" sz="900">
                <a:solidFill>
                  <a:schemeClr val="dk1"/>
                </a:solidFill>
                <a:latin typeface="Helvetica Neue"/>
                <a:ea typeface="Helvetica Neue"/>
                <a:cs typeface="Helvetica Neue"/>
                <a:sym typeface="Helvetica Neue"/>
              </a:rPr>
              <a:t>The Lokal quiere demostrar que un negocio de barrio puede estar profundamente conectado con su entorno y, al mismo tiempo, abierto al mundo: incorporando ingredientes, sabores, culturas, ideas y formas de hacer de diferentes lugares para re- interpretarlas desde aquí.</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Una marca cercana, pero curiosa. Local, pero no cerrada. Cotidiana, pero nunca predecible.</a:t>
            </a:r>
            <a:endParaRPr sz="900">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120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fb5eb765e6_0_232"/>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309" name="Google Shape;309;g3fb5eb765e6_0_232"/>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310" name="Google Shape;310;g3fb5eb765e6_0_232"/>
          <p:cNvSpPr txBox="1"/>
          <p:nvPr/>
        </p:nvSpPr>
        <p:spPr>
          <a:xfrm>
            <a:off x="440925" y="1217001"/>
            <a:ext cx="6678082" cy="70081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D. Valores - </a:t>
            </a:r>
            <a:r>
              <a:rPr lang="en-US" sz="1200">
                <a:solidFill>
                  <a:schemeClr val="dk1"/>
                </a:solidFill>
                <a:latin typeface="Epilogue"/>
                <a:ea typeface="Epilogue"/>
                <a:cs typeface="Epilogue"/>
                <a:sym typeface="Epilogue"/>
              </a:rPr>
              <a:t>Principios</a:t>
            </a:r>
            <a:r>
              <a:rPr lang="en-US" sz="1200">
                <a:solidFill>
                  <a:schemeClr val="dk1"/>
                </a:solidFill>
                <a:latin typeface="Helvetica Neue"/>
                <a:ea typeface="Helvetica Neue"/>
                <a:cs typeface="Helvetica Neue"/>
                <a:sym typeface="Helvetica Neue"/>
              </a:rPr>
              <a:t> que guían las decisiones.</a:t>
            </a:r>
            <a:endParaRPr sz="800">
              <a:solidFill>
                <a:schemeClr val="dk1"/>
              </a:solidFill>
              <a:latin typeface="Helvetica Neue"/>
              <a:ea typeface="Helvetica Neue"/>
              <a:cs typeface="Helvetica Neue"/>
              <a:sym typeface="Helvetica Neue"/>
            </a:endParaRPr>
          </a:p>
          <a:p>
            <a:pPr indent="0" lvl="0" marL="85725" marR="0" rtl="0" algn="l">
              <a:lnSpc>
                <a:spcPct val="100000"/>
              </a:lnSpc>
              <a:spcBef>
                <a:spcPts val="0"/>
              </a:spcBef>
              <a:spcAft>
                <a:spcPts val="0"/>
              </a:spcAft>
              <a:buNone/>
            </a:pPr>
            <a:r>
              <a:t/>
            </a:r>
            <a:endParaRPr sz="1200">
              <a:latin typeface="Epilogue"/>
              <a:ea typeface="Epilogue"/>
              <a:cs typeface="Epilogue"/>
              <a:sym typeface="Epilogue"/>
            </a:endParaRPr>
          </a:p>
        </p:txBody>
      </p:sp>
      <p:sp>
        <p:nvSpPr>
          <p:cNvPr id="311" name="Google Shape;311;g3fb5eb765e6_0_232"/>
          <p:cNvSpPr txBox="1"/>
          <p:nvPr/>
        </p:nvSpPr>
        <p:spPr>
          <a:xfrm>
            <a:off x="440959" y="1975885"/>
            <a:ext cx="6678082" cy="653716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8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800">
                <a:solidFill>
                  <a:schemeClr val="dk1"/>
                </a:solidFill>
                <a:latin typeface="Helvetica Neue"/>
                <a:ea typeface="Helvetica Neue"/>
                <a:cs typeface="Helvetica Neue"/>
                <a:sym typeface="Helvetica Neue"/>
              </a:rPr>
              <a:t>0</a:t>
            </a:r>
            <a:r>
              <a:rPr lang="en-US" sz="900">
                <a:solidFill>
                  <a:schemeClr val="dk1"/>
                </a:solidFill>
                <a:latin typeface="Helvetica Neue"/>
                <a:ea typeface="Helvetica Neue"/>
                <a:cs typeface="Helvetica Neue"/>
                <a:sym typeface="Helvetica Neue"/>
              </a:rPr>
              <a:t>1 · Producto que cuida y apetece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Cuidar lo que ofrecemos sin convertir el bienestar en renuncia. Producto nutritivo, apetecible, bien hecho y con ingredientes que reconocemos.</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02 · Experiencia cercana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Hacer que las personas se sientan cómodas, reconocidas y bien recibidas. La cercanía está en el trato, en el lenguaje y en los pequeños detalles.</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03 · Rituales cotidianos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Convertir los pequeños momentos del día en experiencias reconocibles que inviten a volver. The Lokal acompaña la rutina, no necesita que el consumidor cambie su forma de vivir para entrar en ella.</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04 · Local + mundo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Partir de lo que tenemos cerca y mantenernos abiertos a lo que ocurre fuera. El mundo inspira; lo local nos define.</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05 · Comunidad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Crear pertenencia a partir de intereses, hábitos y momentos compartidos, tanto dentro como fuera del local.</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fb5eb765e6_0_269"/>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317" name="Google Shape;317;g3fb5eb765e6_0_269"/>
          <p:cNvSpPr/>
          <p:nvPr/>
        </p:nvSpPr>
        <p:spPr>
          <a:xfrm>
            <a:off x="-159871" y="10307924"/>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318" name="Google Shape;318;g3fb5eb765e6_0_269"/>
          <p:cNvSpPr txBox="1"/>
          <p:nvPr/>
        </p:nvSpPr>
        <p:spPr>
          <a:xfrm>
            <a:off x="373044" y="1729670"/>
            <a:ext cx="6678082" cy="789313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01 · Producto que cuida y apetece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¿Qué es “saludable” para The Lokal? </a:t>
            </a:r>
            <a:r>
              <a:rPr lang="en-US" sz="900">
                <a:solidFill>
                  <a:schemeClr val="dk1"/>
                </a:solidFill>
                <a:latin typeface="Helvetica Neue"/>
                <a:ea typeface="Helvetica Neue"/>
                <a:cs typeface="Helvetica Neue"/>
                <a:sym typeface="Helvetica Neue"/>
              </a:rPr>
              <a:t>Saber qué estás comiendo, reconocer los ingredientes y sentir que lo que comes te aporta algo. Sin convertir comer bien en una renuncia. La salud no se comunica como una categoría ni como una restricción, sino que se demuestra en cómo se selecciona, combina y presenta el producto.</a:t>
            </a:r>
            <a:endParaRPr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t/>
            </a:r>
            <a:endParaRPr b="1"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b="1" lang="en-US" sz="900">
                <a:solidFill>
                  <a:schemeClr val="dk1"/>
                </a:solidFill>
                <a:latin typeface="Helvetica Neue"/>
                <a:ea typeface="Helvetica Neue"/>
                <a:cs typeface="Helvetica Neue"/>
                <a:sym typeface="Helvetica Neue"/>
              </a:rPr>
              <a:t>En los bagels</a:t>
            </a:r>
            <a:endParaRPr b="1"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lang="en-US" sz="900">
                <a:solidFill>
                  <a:schemeClr val="dk1"/>
                </a:solidFill>
                <a:latin typeface="Helvetica Neue"/>
                <a:ea typeface="Helvetica Neue"/>
                <a:cs typeface="Helvetica Neue"/>
                <a:sym typeface="Helvetica Neue"/>
              </a:rPr>
              <a:t>Ingredientes identificables. Producto de proximidad.</a:t>
            </a:r>
            <a:endParaRPr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lang="en-US" sz="900">
                <a:solidFill>
                  <a:schemeClr val="dk1"/>
                </a:solidFill>
                <a:latin typeface="Helvetica Neue"/>
                <a:ea typeface="Helvetica Neue"/>
                <a:cs typeface="Helvetica Neue"/>
                <a:sym typeface="Helvetica Neue"/>
              </a:rPr>
              <a:t>Combinaciones nutricionalmente pensadas.</a:t>
            </a:r>
            <a:endParaRPr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lang="en-US" sz="900">
                <a:solidFill>
                  <a:schemeClr val="dk1"/>
                </a:solidFill>
                <a:latin typeface="Helvetica Neue"/>
                <a:ea typeface="Helvetica Neue"/>
                <a:cs typeface="Helvetica Neue"/>
                <a:sym typeface="Helvetica Neue"/>
              </a:rPr>
              <a:t>Información de macros disponible.</a:t>
            </a:r>
            <a:endParaRPr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lang="en-US" sz="900">
                <a:solidFill>
                  <a:schemeClr val="dk1"/>
                </a:solidFill>
                <a:latin typeface="Helvetica Neue"/>
                <a:ea typeface="Helvetica Neue"/>
                <a:cs typeface="Helvetica Neue"/>
                <a:sym typeface="Helvetica Neue"/>
              </a:rPr>
              <a:t>Recetas propias. Mezcla de ingredientes locales con influencias internacionales. Temporada cuando tenga sentido.</a:t>
            </a:r>
            <a:endParaRPr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lang="en-US" sz="900">
                <a:solidFill>
                  <a:schemeClr val="dk1"/>
                </a:solidFill>
                <a:latin typeface="Helvetica Neue"/>
                <a:ea typeface="Helvetica Neue"/>
                <a:cs typeface="Helvetica Neue"/>
                <a:sym typeface="Helvetica Neue"/>
              </a:rPr>
              <a:t>Transparencia sobre ingredientes y procedencia.</a:t>
            </a:r>
            <a:endParaRPr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b="1" lang="en-US" sz="900">
                <a:solidFill>
                  <a:schemeClr val="dk1"/>
                </a:solidFill>
                <a:latin typeface="Helvetica Neue"/>
                <a:ea typeface="Helvetica Neue"/>
                <a:cs typeface="Helvetica Neue"/>
                <a:sym typeface="Helvetica Neue"/>
              </a:rPr>
              <a:t>Ejemplo:</a:t>
            </a:r>
            <a:endParaRPr b="1"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lang="en-US" sz="900">
                <a:solidFill>
                  <a:schemeClr val="dk1"/>
                </a:solidFill>
                <a:latin typeface="Helvetica Neue"/>
                <a:ea typeface="Helvetica Neue"/>
                <a:cs typeface="Helvetica Neue"/>
                <a:sym typeface="Helvetica Neue"/>
              </a:rPr>
              <a:t>Tomate de La Bisbal + anchoas de L'Escala + una receta inspirada en otra cultura.</a:t>
            </a:r>
            <a:endParaRPr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t/>
            </a:r>
            <a:endParaRPr b="1"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b="1" lang="en-US" sz="900">
                <a:solidFill>
                  <a:schemeClr val="dk1"/>
                </a:solidFill>
                <a:latin typeface="Helvetica Neue"/>
                <a:ea typeface="Helvetica Neue"/>
                <a:cs typeface="Helvetica Neue"/>
                <a:sym typeface="Helvetica Neue"/>
              </a:rPr>
              <a:t>En las bebidas</a:t>
            </a:r>
            <a:endParaRPr b="1"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lang="en-US" sz="900">
                <a:solidFill>
                  <a:schemeClr val="dk1"/>
                </a:solidFill>
                <a:latin typeface="Helvetica Neue"/>
                <a:ea typeface="Helvetica Neue"/>
                <a:cs typeface="Helvetica Neue"/>
                <a:sym typeface="Helvetica Neue"/>
              </a:rPr>
              <a:t>Producto de temporada. Zumos hechos en el propio local.</a:t>
            </a:r>
            <a:endParaRPr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lang="en-US" sz="900">
                <a:solidFill>
                  <a:schemeClr val="dk1"/>
                </a:solidFill>
                <a:latin typeface="Helvetica Neue"/>
                <a:ea typeface="Helvetica Neue"/>
                <a:cs typeface="Helvetica Neue"/>
                <a:sym typeface="Helvetica Neue"/>
              </a:rPr>
              <a:t>Ingredientes reconocibles.</a:t>
            </a:r>
            <a:endParaRPr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lang="en-US" sz="900">
                <a:solidFill>
                  <a:schemeClr val="dk1"/>
                </a:solidFill>
                <a:latin typeface="Helvetica Neue"/>
                <a:ea typeface="Helvetica Neue"/>
                <a:cs typeface="Helvetica Neue"/>
                <a:sym typeface="Helvetica Neue"/>
              </a:rPr>
              <a:t>Funcionalidad cuando tenga sentido: proteína, creatina, colágeno, etc.</a:t>
            </a:r>
            <a:endParaRPr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lang="en-US" sz="900">
                <a:solidFill>
                  <a:schemeClr val="dk1"/>
                </a:solidFill>
                <a:latin typeface="Helvetica Neue"/>
                <a:ea typeface="Helvetica Neue"/>
                <a:cs typeface="Helvetica Neue"/>
                <a:sym typeface="Helvetica Neue"/>
              </a:rPr>
              <a:t>Pairings pensados con la comida.</a:t>
            </a:r>
            <a:endParaRPr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t/>
            </a:r>
            <a:endParaRPr b="1"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b="1" lang="en-US" sz="900">
                <a:solidFill>
                  <a:schemeClr val="dk1"/>
                </a:solidFill>
                <a:latin typeface="Helvetica Neue"/>
                <a:ea typeface="Helvetica Neue"/>
                <a:cs typeface="Helvetica Neue"/>
                <a:sym typeface="Helvetica Neue"/>
              </a:rPr>
              <a:t>En la parte dulce</a:t>
            </a:r>
            <a:endParaRPr b="1"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lang="en-US" sz="900">
                <a:solidFill>
                  <a:schemeClr val="dk1"/>
                </a:solidFill>
                <a:latin typeface="Helvetica Neue"/>
                <a:ea typeface="Helvetica Neue"/>
                <a:cs typeface="Helvetica Neue"/>
                <a:sym typeface="Helvetica Neue"/>
              </a:rPr>
              <a:t>Homemade. Ingredientes reconocibles.</a:t>
            </a:r>
            <a:endParaRPr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lang="en-US" sz="900">
                <a:solidFill>
                  <a:schemeClr val="dk1"/>
                </a:solidFill>
                <a:latin typeface="Helvetica Neue"/>
                <a:ea typeface="Helvetica Neue"/>
                <a:cs typeface="Helvetica Neue"/>
                <a:sym typeface="Helvetica Neue"/>
              </a:rPr>
              <a:t>Sin azúcares refinados cuando sea parte de la receta.</a:t>
            </a:r>
            <a:endParaRPr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lang="en-US" sz="900">
                <a:solidFill>
                  <a:schemeClr val="dk1"/>
                </a:solidFill>
                <a:latin typeface="Helvetica Neue"/>
                <a:ea typeface="Helvetica Neue"/>
                <a:cs typeface="Helvetica Neue"/>
                <a:sym typeface="Helvetica Neue"/>
              </a:rPr>
              <a:t>Ingredientes nutritivos.</a:t>
            </a:r>
            <a:endParaRPr sz="900">
              <a:solidFill>
                <a:schemeClr val="dk1"/>
              </a:solidFill>
              <a:latin typeface="Helvetica Neue"/>
              <a:ea typeface="Helvetica Neue"/>
              <a:cs typeface="Helvetica Neue"/>
              <a:sym typeface="Helvetica Neue"/>
            </a:endParaRPr>
          </a:p>
          <a:p>
            <a:pPr indent="0" lvl="0" marL="171450" rtl="0" algn="l">
              <a:spcBef>
                <a:spcPts val="0"/>
              </a:spcBef>
              <a:spcAft>
                <a:spcPts val="0"/>
              </a:spcAft>
              <a:buNone/>
            </a:pPr>
            <a:r>
              <a:rPr lang="en-US" sz="900">
                <a:solidFill>
                  <a:schemeClr val="dk1"/>
                </a:solidFill>
                <a:latin typeface="Helvetica Neue"/>
                <a:ea typeface="Helvetica Neue"/>
                <a:cs typeface="Helvetica Neue"/>
                <a:sym typeface="Helvetica Neue"/>
              </a:rPr>
              <a:t>Placer sin plantearlo como “cheat”, excepción o recompensa.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b="1"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Principio de decisión Si cuidarse implica renunciar a que algo apetezca, todavía no es suficientemente The Lokal.</a:t>
            </a:r>
            <a:endParaRPr b="1" sz="900">
              <a:solidFill>
                <a:schemeClr val="dk1"/>
              </a:solidFill>
              <a:latin typeface="Helvetica Neue"/>
              <a:ea typeface="Helvetica Neue"/>
              <a:cs typeface="Helvetica Neue"/>
              <a:sym typeface="Helvetica Neue"/>
            </a:endParaRPr>
          </a:p>
        </p:txBody>
      </p:sp>
      <p:sp>
        <p:nvSpPr>
          <p:cNvPr id="319" name="Google Shape;319;g3fb5eb765e6_0_269"/>
          <p:cNvSpPr txBox="1"/>
          <p:nvPr/>
        </p:nvSpPr>
        <p:spPr>
          <a:xfrm>
            <a:off x="350716" y="904986"/>
            <a:ext cx="6678082" cy="70081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E. Como damos vida a estos valores</a:t>
            </a:r>
            <a:endParaRPr sz="1200">
              <a:latin typeface="Epilogue"/>
              <a:ea typeface="Epilogue"/>
              <a:cs typeface="Epilogue"/>
              <a:sym typeface="Epilogue"/>
            </a:endParaRPr>
          </a:p>
          <a:p>
            <a:pPr indent="0" lvl="0" marL="0" marR="0" rtl="0" algn="l">
              <a:lnSpc>
                <a:spcPct val="100000"/>
              </a:lnSpc>
              <a:spcBef>
                <a:spcPts val="0"/>
              </a:spcBef>
              <a:spcAft>
                <a:spcPts val="0"/>
              </a:spcAft>
              <a:buNone/>
            </a:pPr>
            <a:r>
              <a:rPr lang="en-US" sz="1200">
                <a:latin typeface="Epilogue"/>
                <a:ea typeface="Epilogue"/>
                <a:cs typeface="Epilogue"/>
                <a:sym typeface="Epilogue"/>
              </a:rPr>
              <a:t>¿</a:t>
            </a:r>
            <a:r>
              <a:rPr lang="en-US" sz="1000">
                <a:latin typeface="Helvetica Neue"/>
                <a:ea typeface="Helvetica Neue"/>
                <a:cs typeface="Helvetica Neue"/>
                <a:sym typeface="Helvetica Neue"/>
              </a:rPr>
              <a:t>Cómo se ve un valor cuando entra en la operativa?</a:t>
            </a:r>
            <a:endParaRPr sz="1000">
              <a:latin typeface="Helvetica Neue"/>
              <a:ea typeface="Helvetica Neue"/>
              <a:cs typeface="Helvetica Neue"/>
              <a:sym typeface="Helvetica Neu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h304546d401aaba72_0_12"/>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325" name="Google Shape;325;h304546d401aaba72_0_12"/>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326" name="Google Shape;326;h304546d401aaba72_0_12"/>
          <p:cNvSpPr txBox="1"/>
          <p:nvPr/>
        </p:nvSpPr>
        <p:spPr>
          <a:xfrm>
            <a:off x="440925" y="994799"/>
            <a:ext cx="5467815" cy="963622"/>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2200"/>
              <a:buFont typeface="Arial"/>
              <a:buNone/>
            </a:pPr>
            <a:r>
              <a:rPr lang="en-US" sz="2200">
                <a:latin typeface="Epilogue"/>
                <a:ea typeface="Epilogue"/>
                <a:cs typeface="Epilogue"/>
                <a:sym typeface="Epilogue"/>
              </a:rPr>
              <a:t>5. Diseño del ecosistema </a:t>
            </a:r>
            <a:endParaRPr b="0" i="0" sz="2200" u="none" cap="none" strike="noStrike">
              <a:solidFill>
                <a:srgbClr val="000000"/>
              </a:solidFill>
              <a:latin typeface="Arial"/>
              <a:ea typeface="Arial"/>
              <a:cs typeface="Arial"/>
              <a:sym typeface="Arial"/>
            </a:endParaRPr>
          </a:p>
        </p:txBody>
      </p:sp>
      <p:sp>
        <p:nvSpPr>
          <p:cNvPr id="327" name="Google Shape;327;h304546d401aaba72_0_12"/>
          <p:cNvSpPr txBox="1"/>
          <p:nvPr/>
        </p:nvSpPr>
        <p:spPr>
          <a:xfrm>
            <a:off x="440925" y="2194655"/>
            <a:ext cx="6678082" cy="408430"/>
          </a:xfrm>
          <a:prstGeom prst="rect">
            <a:avLst/>
          </a:prstGeom>
          <a:noFill/>
          <a:ln>
            <a:noFill/>
          </a:ln>
        </p:spPr>
        <p:txBody>
          <a:bodyPr anchorCtr="0" anchor="t" bIns="0" lIns="0" spcFirstLastPara="1" rIns="0" wrap="square" tIns="0">
            <a:spAutoFit/>
          </a:bodyPr>
          <a:lstStyle/>
          <a:p>
            <a:pPr indent="-44450" lvl="0" marL="85725" marR="0" rtl="0" algn="l">
              <a:lnSpc>
                <a:spcPct val="100000"/>
              </a:lnSpc>
              <a:spcBef>
                <a:spcPts val="0"/>
              </a:spcBef>
              <a:spcAft>
                <a:spcPts val="0"/>
              </a:spcAft>
              <a:buClr>
                <a:srgbClr val="000000"/>
              </a:buClr>
              <a:buSzPts val="1400"/>
              <a:buFont typeface="Epilogue"/>
              <a:buAutoNum type="alphaLcPeriod"/>
            </a:pPr>
            <a:r>
              <a:rPr lang="en-US" sz="1200">
                <a:latin typeface="Epilogue"/>
                <a:ea typeface="Epilogue"/>
                <a:cs typeface="Epilogue"/>
                <a:sym typeface="Epilogue"/>
              </a:rPr>
              <a:t>Cómo</a:t>
            </a:r>
            <a:r>
              <a:rPr lang="en-US" sz="1200">
                <a:latin typeface="Epilogue"/>
                <a:ea typeface="Epilogue"/>
                <a:cs typeface="Epilogue"/>
                <a:sym typeface="Epilogue"/>
              </a:rPr>
              <a:t> se materializa la identidad</a:t>
            </a:r>
            <a:endParaRPr b="0" i="0" sz="2400" u="none" cap="none" strike="noStrike">
              <a:solidFill>
                <a:srgbClr val="000000"/>
              </a:solidFill>
              <a:latin typeface="Arial"/>
              <a:ea typeface="Arial"/>
              <a:cs typeface="Arial"/>
              <a:sym typeface="Arial"/>
            </a:endParaRPr>
          </a:p>
        </p:txBody>
      </p:sp>
      <p:sp>
        <p:nvSpPr>
          <p:cNvPr id="328" name="Google Shape;328;h304546d401aaba72_0_12"/>
          <p:cNvSpPr txBox="1"/>
          <p:nvPr/>
        </p:nvSpPr>
        <p:spPr>
          <a:xfrm>
            <a:off x="578214" y="2720218"/>
            <a:ext cx="6678082" cy="6333514"/>
          </a:xfrm>
          <a:prstGeom prst="rect">
            <a:avLst/>
          </a:prstGeom>
          <a:noFill/>
          <a:ln>
            <a:noFill/>
          </a:ln>
        </p:spPr>
        <p:txBody>
          <a:bodyPr anchorCtr="0" anchor="t" bIns="0" lIns="0" spcFirstLastPara="1" rIns="0" wrap="square" tIns="0">
            <a:spAutoFit/>
          </a:bodyPr>
          <a:lstStyle/>
          <a:p>
            <a:pPr indent="-31750" lvl="0" marL="85725" rtl="0" algn="l">
              <a:spcBef>
                <a:spcPts val="0"/>
              </a:spcBef>
              <a:spcAft>
                <a:spcPts val="0"/>
              </a:spcAft>
              <a:buClr>
                <a:schemeClr val="dk1"/>
              </a:buClr>
              <a:buSzPts val="1000"/>
              <a:buFont typeface="Helvetica Neue"/>
              <a:buAutoNum type="arabicPeriod"/>
            </a:pPr>
            <a:r>
              <a:rPr b="1" lang="en-US" sz="1000">
                <a:solidFill>
                  <a:schemeClr val="dk1"/>
                </a:solidFill>
                <a:latin typeface="Helvetica Neue"/>
                <a:ea typeface="Helvetica Neue"/>
                <a:cs typeface="Helvetica Neue"/>
                <a:sym typeface="Helvetica Neue"/>
              </a:rPr>
              <a:t>Product </a:t>
            </a:r>
            <a:r>
              <a:rPr b="1" lang="en-US" sz="1000">
                <a:solidFill>
                  <a:schemeClr val="dk1"/>
                </a:solidFill>
                <a:latin typeface="Helvetica Neue"/>
                <a:ea typeface="Helvetica Neue"/>
                <a:cs typeface="Helvetica Neue"/>
                <a:sym typeface="Helvetica Neue"/>
              </a:rPr>
              <a:t>language</a:t>
            </a:r>
            <a:r>
              <a:rPr b="1" lang="en-US" sz="1000">
                <a:solidFill>
                  <a:schemeClr val="dk1"/>
                </a:solidFill>
                <a:latin typeface="Helvetica Neue"/>
                <a:ea typeface="Helvetica Neue"/>
                <a:cs typeface="Helvetica Neue"/>
                <a:sym typeface="Helvetica Neue"/>
              </a:rPr>
              <a:t> </a:t>
            </a:r>
            <a:endParaRPr sz="10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i="1" lang="en-US" sz="900" u="sng">
                <a:solidFill>
                  <a:schemeClr val="dk1"/>
                </a:solidFill>
                <a:latin typeface="Helvetica Neue"/>
                <a:ea typeface="Helvetica Neue"/>
                <a:cs typeface="Helvetica Neue"/>
                <a:sym typeface="Helvetica Neue"/>
              </a:rPr>
              <a:t>Los ingredientes se nombran</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No hablamos de ingredientes genéricos cuando podemos ser concretos.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NO: Tomate · anchoas · hummus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SÍ: Tomate de La Bisbal · Anchoas de L’Escala · Hummus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ADOPTED - se puede utilizar como termino para referirse a los productos o ingredientes adaptados de otras culturas o orígenes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Esto refuerza: transparencia, proximidad y conocimiento del producto</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28575" lvl="0" marL="85725" rtl="0" algn="l">
              <a:lnSpc>
                <a:spcPct val="100000"/>
              </a:lnSpc>
              <a:spcBef>
                <a:spcPts val="0"/>
              </a:spcBef>
              <a:spcAft>
                <a:spcPts val="0"/>
              </a:spcAft>
              <a:buClr>
                <a:schemeClr val="dk1"/>
              </a:buClr>
              <a:buSzPts val="900"/>
              <a:buFont typeface="Helvetica Neue"/>
              <a:buAutoNum type="arabicPeriod"/>
            </a:pPr>
            <a:r>
              <a:rPr b="1" lang="en-US" sz="900">
                <a:solidFill>
                  <a:schemeClr val="dk1"/>
                </a:solidFill>
                <a:latin typeface="Helvetica Neue"/>
                <a:ea typeface="Helvetica Neue"/>
                <a:cs typeface="Helvetica Neue"/>
                <a:sym typeface="Helvetica Neue"/>
              </a:rPr>
              <a:t> Lenguaje nutricional</a:t>
            </a:r>
            <a:endParaRPr b="1"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None/>
            </a:pPr>
            <a:r>
              <a:rPr lang="en-US" sz="900">
                <a:solidFill>
                  <a:schemeClr val="dk1"/>
                </a:solidFill>
                <a:latin typeface="Helvetica Neue"/>
                <a:ea typeface="Helvetica Neue"/>
                <a:cs typeface="Helvetica Neue"/>
                <a:sym typeface="Helvetica Neue"/>
              </a:rPr>
              <a:t>Crear un formato propio, evitar lenguaje tipo:</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None/>
            </a:pPr>
            <a:r>
              <a:rPr lang="en-US" sz="900">
                <a:solidFill>
                  <a:schemeClr val="dk1"/>
                </a:solidFill>
                <a:latin typeface="Helvetica Neue"/>
                <a:ea typeface="Helvetica Neue"/>
                <a:cs typeface="Helvetica Neue"/>
                <a:sym typeface="Helvetica Neue"/>
              </a:rPr>
              <a:t>“healthy / guilt-free / clean / detox / low carb”</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None/>
            </a:pPr>
            <a:r>
              <a:rPr lang="en-US" sz="900">
                <a:solidFill>
                  <a:schemeClr val="dk1"/>
                </a:solidFill>
                <a:latin typeface="Helvetica Neue"/>
                <a:ea typeface="Helvetica Neue"/>
                <a:cs typeface="Helvetica Neue"/>
                <a:sym typeface="Helvetica Neue"/>
              </a:rPr>
              <a:t>y trabajar desde información + transparencia + funcionalidad.</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None/>
            </a:pPr>
            <a:r>
              <a:rPr lang="en-US" sz="900">
                <a:solidFill>
                  <a:schemeClr val="dk1"/>
                </a:solidFill>
                <a:latin typeface="Helvetica Neue"/>
                <a:ea typeface="Helvetica Neue"/>
                <a:cs typeface="Helvetica Neue"/>
                <a:sym typeface="Helvetica Neue"/>
              </a:rPr>
              <a:t>Opcion 1: P 24g · C 38g · F 14g</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None/>
            </a:pPr>
            <a:r>
              <a:rPr lang="en-US" sz="900">
                <a:solidFill>
                  <a:schemeClr val="dk1"/>
                </a:solidFill>
                <a:latin typeface="Helvetica Neue"/>
                <a:ea typeface="Helvetica Neue"/>
                <a:cs typeface="Helvetica Neue"/>
                <a:sym typeface="Helvetica Neue"/>
              </a:rPr>
              <a:t>Opcion 2: PROTEIN 24G, CARBS 38G, FAT 14G</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None/>
            </a:pPr>
            <a:r>
              <a:rPr lang="en-US" sz="900">
                <a:solidFill>
                  <a:schemeClr val="dk1"/>
                </a:solidFill>
                <a:latin typeface="Helvetica Neue"/>
                <a:ea typeface="Helvetica Neue"/>
                <a:cs typeface="Helvetica Neue"/>
                <a:sym typeface="Helvetica Neue"/>
              </a:rPr>
              <a:t>Opcion 3: 4g protein · 38g carbs · 14g fat</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None/>
            </a:pPr>
            <a:r>
              <a:t/>
            </a:r>
            <a:endParaRPr b="1"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None/>
            </a:pPr>
            <a:r>
              <a:rPr lang="en-US" sz="900">
                <a:solidFill>
                  <a:schemeClr val="dk1"/>
                </a:solidFill>
                <a:latin typeface="Helvetica Neue"/>
                <a:ea typeface="Helvetica Neue"/>
                <a:cs typeface="Helvetica Neue"/>
                <a:sym typeface="Helvetica Neue"/>
              </a:rPr>
              <a:t>Productos en los que se comunica la </a:t>
            </a:r>
            <a:r>
              <a:rPr lang="en-US" sz="900">
                <a:solidFill>
                  <a:schemeClr val="dk1"/>
                </a:solidFill>
                <a:latin typeface="Helvetica Neue"/>
                <a:ea typeface="Helvetica Neue"/>
                <a:cs typeface="Helvetica Neue"/>
                <a:sym typeface="Helvetica Neue"/>
              </a:rPr>
              <a:t>información</a:t>
            </a:r>
            <a:r>
              <a:rPr lang="en-US" sz="900">
                <a:solidFill>
                  <a:schemeClr val="dk1"/>
                </a:solidFill>
                <a:latin typeface="Helvetica Neue"/>
                <a:ea typeface="Helvetica Neue"/>
                <a:cs typeface="Helvetica Neue"/>
                <a:sym typeface="Helvetica Neue"/>
              </a:rPr>
              <a:t> nutricional:</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None/>
            </a:pPr>
            <a:r>
              <a:rPr b="1" lang="en-US" sz="900">
                <a:solidFill>
                  <a:schemeClr val="dk1"/>
                </a:solidFill>
                <a:latin typeface="Helvetica Neue"/>
                <a:ea typeface="Helvetica Neue"/>
                <a:cs typeface="Helvetica Neue"/>
                <a:sym typeface="Helvetica Neue"/>
              </a:rPr>
              <a:t>Bagels y Dulces (no en café, zumos…) </a:t>
            </a:r>
            <a:endParaRPr b="1"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None/>
            </a:pPr>
            <a:r>
              <a:t/>
            </a:r>
            <a:endParaRPr b="1" sz="900">
              <a:solidFill>
                <a:schemeClr val="dk1"/>
              </a:solidFill>
              <a:latin typeface="Helvetica Neue"/>
              <a:ea typeface="Helvetica Neue"/>
              <a:cs typeface="Helvetica Neue"/>
              <a:sym typeface="Helvetica Neue"/>
            </a:endParaRPr>
          </a:p>
        </p:txBody>
      </p:sp>
      <p:sp>
        <p:nvSpPr>
          <p:cNvPr id="329" name="Google Shape;329;h304546d401aaba72_0_12"/>
          <p:cNvSpPr/>
          <p:nvPr/>
        </p:nvSpPr>
        <p:spPr>
          <a:xfrm>
            <a:off x="5908774" y="758558"/>
            <a:ext cx="1474774" cy="1526316"/>
          </a:xfrm>
          <a:custGeom>
            <a:rect b="b" l="l" r="r" t="t"/>
            <a:pathLst>
              <a:path extrusionOk="0" h="600714" w="600714">
                <a:moveTo>
                  <a:pt x="0" y="0"/>
                </a:moveTo>
                <a:lnTo>
                  <a:pt x="600715" y="0"/>
                </a:lnTo>
                <a:lnTo>
                  <a:pt x="600715" y="600714"/>
                </a:lnTo>
                <a:lnTo>
                  <a:pt x="0" y="600714"/>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h304546d401aaba72_0_62"/>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335" name="Google Shape;335;h304546d401aaba72_0_62"/>
          <p:cNvSpPr/>
          <p:nvPr/>
        </p:nvSpPr>
        <p:spPr>
          <a:xfrm>
            <a:off x="-159871" y="9990050"/>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336" name="Google Shape;336;h304546d401aaba72_0_62"/>
          <p:cNvSpPr txBox="1"/>
          <p:nvPr/>
        </p:nvSpPr>
        <p:spPr>
          <a:xfrm>
            <a:off x="372995" y="905483"/>
            <a:ext cx="6678082" cy="871731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3. Como hablamos de los momentos del día y estructuramos la oferta </a:t>
            </a:r>
            <a:endParaRPr b="1"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La marca no empieza hablando de sí misma : “somos healthy”, “tenemos specialty coffee”, “nuestros bagels…”, sino que parte de algo que está pasando en la vida de la persona, formula una pregunta que reconoce esa situación y después presenta The Lokal como una respuesta sencilla.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10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i="1" lang="en-US" sz="900" u="sng">
                <a:solidFill>
                  <a:schemeClr val="dk1"/>
                </a:solidFill>
                <a:latin typeface="Helvetica Neue"/>
                <a:ea typeface="Helvetica Neue"/>
                <a:cs typeface="Helvetica Neue"/>
                <a:sym typeface="Helvetica Neue"/>
              </a:rPr>
              <a:t>Esto encaja especialmente bien con un negocio de barrio y take-away: The Lokal no pretende cambiar tu rutina; entra en ella.</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i="1" lang="en-US" sz="900" u="sng">
                <a:solidFill>
                  <a:schemeClr val="dk1"/>
                </a:solidFill>
                <a:latin typeface="Helvetica Neue"/>
                <a:ea typeface="Helvetica Neue"/>
                <a:cs typeface="Helvetica Neue"/>
                <a:sym typeface="Helvetica Neue"/>
              </a:rPr>
              <a:t>¿Te lo llevas? The Lokal contigo.</a:t>
            </a:r>
            <a:endParaRPr i="1"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Porque el take-away no es un momento concreto: es la forma en la que la marca entra en todos estos momentos.</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None/>
            </a:pPr>
            <a:r>
              <a:t/>
            </a:r>
            <a:endParaRPr b="1"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None/>
            </a:pPr>
            <a:r>
              <a:t/>
            </a:r>
            <a:endParaRPr b="1" sz="900">
              <a:solidFill>
                <a:schemeClr val="dk1"/>
              </a:solidFill>
              <a:latin typeface="Helvetica Neue"/>
              <a:ea typeface="Helvetica Neue"/>
              <a:cs typeface="Helvetica Neue"/>
              <a:sym typeface="Helvetica Neue"/>
            </a:endParaRPr>
          </a:p>
        </p:txBody>
      </p:sp>
      <p:graphicFrame>
        <p:nvGraphicFramePr>
          <p:cNvPr id="337" name="Google Shape;337;h304546d401aaba72_0_62"/>
          <p:cNvGraphicFramePr/>
          <p:nvPr/>
        </p:nvGraphicFramePr>
        <p:xfrm>
          <a:off x="907204" y="3888700"/>
          <a:ext cx="11374693" cy="5734100"/>
        </p:xfrm>
        <a:graphic>
          <a:graphicData uri="http://schemas.openxmlformats.org/drawingml/2006/table">
            <a:tbl>
              <a:tblPr>
                <a:noFill/>
                <a:tableStyleId>{9C35E03D-491C-4C38-A55B-633A75B50BDB}</a:tableStyleId>
              </a:tblPr>
              <a:tblGrid>
                <a:gridCol w="1869905"/>
                <a:gridCol w="1869905"/>
                <a:gridCol w="1869905"/>
              </a:tblGrid>
              <a:tr h="754098">
                <a:tc>
                  <a:txBody>
                    <a:bodyPr/>
                    <a:lstStyle/>
                    <a:p>
                      <a:pPr indent="0" lvl="0" marL="0" rtl="0" algn="ctr">
                        <a:lnSpc>
                          <a:spcPct val="100000"/>
                        </a:lnSpc>
                        <a:spcBef>
                          <a:spcPts val="0"/>
                        </a:spcBef>
                        <a:spcAft>
                          <a:spcPts val="0"/>
                        </a:spcAft>
                        <a:buNone/>
                      </a:pPr>
                      <a:r>
                        <a:rPr b="1" lang="en-US" sz="900">
                          <a:solidFill>
                            <a:srgbClr val="FFFFFF"/>
                          </a:solidFill>
                          <a:latin typeface="Epilogue"/>
                          <a:ea typeface="Epilogue"/>
                          <a:cs typeface="Epilogue"/>
                          <a:sym typeface="Epilogue"/>
                        </a:rPr>
                        <a:t>Situación</a:t>
                      </a:r>
                      <a:endParaRPr b="1" sz="900">
                        <a:solidFill>
                          <a:srgbClr val="FFFFFF"/>
                        </a:solidFill>
                        <a:latin typeface="Epilogue"/>
                        <a:ea typeface="Epilogue"/>
                        <a:cs typeface="Epilogue"/>
                        <a:sym typeface="Epilogue"/>
                      </a:endParaRPr>
                    </a:p>
                  </a:txBody>
                  <a:tcPr marT="0" marB="0" marR="0" marL="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33B086"/>
                    </a:solidFill>
                  </a:tcPr>
                </a:tc>
                <a:tc>
                  <a:txBody>
                    <a:bodyPr/>
                    <a:lstStyle/>
                    <a:p>
                      <a:pPr indent="0" lvl="0" marL="0" rtl="0" algn="ctr">
                        <a:lnSpc>
                          <a:spcPct val="100000"/>
                        </a:lnSpc>
                        <a:spcBef>
                          <a:spcPts val="0"/>
                        </a:spcBef>
                        <a:spcAft>
                          <a:spcPts val="0"/>
                        </a:spcAft>
                        <a:buNone/>
                      </a:pPr>
                      <a:r>
                        <a:rPr b="1" lang="en-US" sz="900">
                          <a:solidFill>
                            <a:srgbClr val="FFFFFF"/>
                          </a:solidFill>
                          <a:latin typeface="Epilogue"/>
                          <a:ea typeface="Epilogue"/>
                          <a:cs typeface="Epilogue"/>
                          <a:sym typeface="Epilogue"/>
                        </a:rPr>
                        <a:t>Pregunta / comunicación</a:t>
                      </a:r>
                      <a:endParaRPr b="1" sz="900">
                        <a:solidFill>
                          <a:srgbClr val="FFFFFF"/>
                        </a:solidFill>
                        <a:latin typeface="Epilogue"/>
                        <a:ea typeface="Epilogue"/>
                        <a:cs typeface="Epilogue"/>
                        <a:sym typeface="Epilogue"/>
                      </a:endParaRPr>
                    </a:p>
                  </a:txBody>
                  <a:tcPr marT="0" marB="0" marR="0" marL="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009FE3"/>
                    </a:solidFill>
                  </a:tcPr>
                </a:tc>
                <a:tc>
                  <a:txBody>
                    <a:bodyPr/>
                    <a:lstStyle/>
                    <a:p>
                      <a:pPr indent="0" lvl="0" marL="0" rtl="0" algn="ctr">
                        <a:lnSpc>
                          <a:spcPct val="100000"/>
                        </a:lnSpc>
                        <a:spcBef>
                          <a:spcPts val="0"/>
                        </a:spcBef>
                        <a:spcAft>
                          <a:spcPts val="0"/>
                        </a:spcAft>
                        <a:buNone/>
                      </a:pPr>
                      <a:r>
                        <a:rPr b="1" lang="en-US" sz="900">
                          <a:solidFill>
                            <a:srgbClr val="FFFFFF"/>
                          </a:solidFill>
                          <a:latin typeface="Epilogue"/>
                          <a:ea typeface="Epilogue"/>
                          <a:cs typeface="Epilogue"/>
                          <a:sym typeface="Epilogue"/>
                        </a:rPr>
                        <a:t>Solución The Lokal</a:t>
                      </a:r>
                      <a:endParaRPr b="1" sz="900">
                        <a:solidFill>
                          <a:srgbClr val="FFFFFF"/>
                        </a:solidFill>
                        <a:latin typeface="Epilogue"/>
                        <a:ea typeface="Epilogue"/>
                        <a:cs typeface="Epilogue"/>
                        <a:sym typeface="Epilogue"/>
                      </a:endParaRPr>
                    </a:p>
                  </a:txBody>
                  <a:tcPr marT="0" marB="0" marR="0" marL="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94A4B"/>
                    </a:solidFill>
                  </a:tcPr>
                </a:tc>
              </a:tr>
              <a:tr h="1005053">
                <a:tc>
                  <a:txBody>
                    <a:bodyPr/>
                    <a:lstStyle/>
                    <a:p>
                      <a:pPr indent="0" lvl="0" marL="0" rtl="0" algn="ctr">
                        <a:lnSpc>
                          <a:spcPct val="100000"/>
                        </a:lnSpc>
                        <a:spcBef>
                          <a:spcPts val="0"/>
                        </a:spcBef>
                        <a:spcAft>
                          <a:spcPts val="0"/>
                        </a:spcAft>
                        <a:buNone/>
                      </a:pPr>
                      <a:r>
                        <a:rPr lang="en-US" sz="900">
                          <a:solidFill>
                            <a:srgbClr val="1D1D1B"/>
                          </a:solidFill>
                          <a:latin typeface="Helvetica Neue"/>
                          <a:ea typeface="Helvetica Neue"/>
                          <a:cs typeface="Helvetica Neue"/>
                          <a:sym typeface="Helvetica Neue"/>
                        </a:rPr>
                        <a:t>Camino al trabajo</a:t>
                      </a:r>
                      <a:endParaRPr sz="900">
                        <a:solidFill>
                          <a:srgbClr val="1D1D1B"/>
                        </a:solidFill>
                        <a:latin typeface="Helvetica Neue"/>
                        <a:ea typeface="Helvetica Neue"/>
                        <a:cs typeface="Helvetica Neue"/>
                        <a:sym typeface="Helvetica Neue"/>
                      </a:endParaRPr>
                    </a:p>
                  </a:txBody>
                  <a:tcPr marT="0" marB="0" marR="0" marL="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6EFE6"/>
                    </a:solidFill>
                  </a:tcPr>
                </a:tc>
                <a:tc>
                  <a:txBody>
                    <a:bodyPr/>
                    <a:lstStyle/>
                    <a:p>
                      <a:pPr indent="0" lvl="0" marL="0" rtl="0" algn="ctr">
                        <a:lnSpc>
                          <a:spcPct val="100000"/>
                        </a:lnSpc>
                        <a:spcBef>
                          <a:spcPts val="0"/>
                        </a:spcBef>
                        <a:spcAft>
                          <a:spcPts val="0"/>
                        </a:spcAft>
                        <a:buNone/>
                      </a:pPr>
                      <a:r>
                        <a:rPr lang="en-US" sz="900">
                          <a:solidFill>
                            <a:srgbClr val="1D1D1B"/>
                          </a:solidFill>
                          <a:latin typeface="Helvetica Neue"/>
                          <a:ea typeface="Helvetica Neue"/>
                          <a:cs typeface="Helvetica Neue"/>
                          <a:sym typeface="Helvetica Neue"/>
                        </a:rPr>
                        <a:t>¿Vas para el trabajo?</a:t>
                      </a:r>
                      <a:endParaRPr sz="900">
                        <a:solidFill>
                          <a:srgbClr val="1D1D1B"/>
                        </a:solidFill>
                        <a:latin typeface="Helvetica Neue"/>
                        <a:ea typeface="Helvetica Neue"/>
                        <a:cs typeface="Helvetica Neue"/>
                        <a:sym typeface="Helvetica Neue"/>
                      </a:endParaRPr>
                    </a:p>
                  </a:txBody>
                  <a:tcPr marT="0" marB="0" marR="0" marL="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CCEBF9"/>
                    </a:solidFill>
                  </a:tcPr>
                </a:tc>
                <a:tc>
                  <a:txBody>
                    <a:bodyPr/>
                    <a:lstStyle/>
                    <a:p>
                      <a:pPr indent="0" lvl="0" marL="0" rtl="0" algn="ctr">
                        <a:lnSpc>
                          <a:spcPct val="100000"/>
                        </a:lnSpc>
                        <a:spcBef>
                          <a:spcPts val="0"/>
                        </a:spcBef>
                        <a:spcAft>
                          <a:spcPts val="0"/>
                        </a:spcAft>
                        <a:buNone/>
                      </a:pPr>
                      <a:r>
                        <a:rPr lang="en-US" sz="900">
                          <a:solidFill>
                            <a:srgbClr val="1D1D1B"/>
                          </a:solidFill>
                          <a:latin typeface="Helvetica Neue"/>
                          <a:ea typeface="Helvetica Neue"/>
                          <a:cs typeface="Helvetica Neue"/>
                          <a:sym typeface="Helvetica Neue"/>
                        </a:rPr>
                        <a:t>Coffee + bagel para empezar bien el día y seguir.</a:t>
                      </a:r>
                      <a:endParaRPr sz="900">
                        <a:solidFill>
                          <a:srgbClr val="1D1D1B"/>
                        </a:solidFill>
                        <a:latin typeface="Helvetica Neue"/>
                        <a:ea typeface="Helvetica Neue"/>
                        <a:cs typeface="Helvetica Neue"/>
                        <a:sym typeface="Helvetica Neue"/>
                      </a:endParaRPr>
                    </a:p>
                  </a:txBody>
                  <a:tcPr marT="0" marB="0" marR="0" marL="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ADADB"/>
                    </a:solidFill>
                  </a:tcPr>
                </a:tc>
              </a:tr>
              <a:tr h="1005053">
                <a:tc>
                  <a:txBody>
                    <a:bodyPr/>
                    <a:lstStyle/>
                    <a:p>
                      <a:pPr indent="0" lvl="0" marL="0" rtl="0" algn="ctr">
                        <a:lnSpc>
                          <a:spcPct val="100000"/>
                        </a:lnSpc>
                        <a:spcBef>
                          <a:spcPts val="0"/>
                        </a:spcBef>
                        <a:spcAft>
                          <a:spcPts val="0"/>
                        </a:spcAft>
                        <a:buNone/>
                      </a:pPr>
                      <a:r>
                        <a:rPr lang="en-US" sz="900">
                          <a:solidFill>
                            <a:srgbClr val="1D1D1B"/>
                          </a:solidFill>
                          <a:latin typeface="Helvetica Neue"/>
                          <a:ea typeface="Helvetica Neue"/>
                          <a:cs typeface="Helvetica Neue"/>
                          <a:sym typeface="Helvetica Neue"/>
                        </a:rPr>
                        <a:t>Break de mañana</a:t>
                      </a:r>
                      <a:endParaRPr sz="900">
                        <a:solidFill>
                          <a:srgbClr val="1D1D1B"/>
                        </a:solidFill>
                        <a:latin typeface="Helvetica Neue"/>
                        <a:ea typeface="Helvetica Neue"/>
                        <a:cs typeface="Helvetica Neue"/>
                        <a:sym typeface="Helvetica Neue"/>
                      </a:endParaRPr>
                    </a:p>
                  </a:txBody>
                  <a:tcPr marT="0" marB="0" marR="0" marL="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6EFE6"/>
                    </a:solidFill>
                  </a:tcPr>
                </a:tc>
                <a:tc>
                  <a:txBody>
                    <a:bodyPr/>
                    <a:lstStyle/>
                    <a:p>
                      <a:pPr indent="0" lvl="0" marL="0" rtl="0" algn="ctr">
                        <a:lnSpc>
                          <a:spcPct val="100000"/>
                        </a:lnSpc>
                        <a:spcBef>
                          <a:spcPts val="0"/>
                        </a:spcBef>
                        <a:spcAft>
                          <a:spcPts val="0"/>
                        </a:spcAft>
                        <a:buNone/>
                      </a:pPr>
                      <a:r>
                        <a:rPr lang="en-US" sz="900">
                          <a:solidFill>
                            <a:srgbClr val="1D1D1B"/>
                          </a:solidFill>
                          <a:latin typeface="Helvetica Neue"/>
                          <a:ea typeface="Helvetica Neue"/>
                          <a:cs typeface="Helvetica Neue"/>
                          <a:sym typeface="Helvetica Neue"/>
                        </a:rPr>
                        <a:t>¿Tienes 15 minutos?</a:t>
                      </a:r>
                      <a:endParaRPr sz="900">
                        <a:solidFill>
                          <a:srgbClr val="1D1D1B"/>
                        </a:solidFill>
                        <a:latin typeface="Helvetica Neue"/>
                        <a:ea typeface="Helvetica Neue"/>
                        <a:cs typeface="Helvetica Neue"/>
                        <a:sym typeface="Helvetica Neue"/>
                      </a:endParaRPr>
                    </a:p>
                  </a:txBody>
                  <a:tcPr marT="0" marB="0" marR="0" marL="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CCEBF9"/>
                    </a:solidFill>
                  </a:tcPr>
                </a:tc>
                <a:tc>
                  <a:txBody>
                    <a:bodyPr/>
                    <a:lstStyle/>
                    <a:p>
                      <a:pPr indent="0" lvl="0" marL="0" rtl="0" algn="ctr">
                        <a:lnSpc>
                          <a:spcPct val="100000"/>
                        </a:lnSpc>
                        <a:spcBef>
                          <a:spcPts val="0"/>
                        </a:spcBef>
                        <a:spcAft>
                          <a:spcPts val="0"/>
                        </a:spcAft>
                        <a:buNone/>
                      </a:pPr>
                      <a:r>
                        <a:rPr lang="en-US" sz="900">
                          <a:solidFill>
                            <a:srgbClr val="1D1D1B"/>
                          </a:solidFill>
                          <a:latin typeface="Helvetica Neue"/>
                          <a:ea typeface="Helvetica Neue"/>
                          <a:cs typeface="Helvetica Neue"/>
                          <a:sym typeface="Helvetica Neue"/>
                        </a:rPr>
                        <a:t>Coffee + algo para comer + una pequeña pausa.</a:t>
                      </a:r>
                      <a:endParaRPr sz="900">
                        <a:solidFill>
                          <a:srgbClr val="1D1D1B"/>
                        </a:solidFill>
                        <a:latin typeface="Helvetica Neue"/>
                        <a:ea typeface="Helvetica Neue"/>
                        <a:cs typeface="Helvetica Neue"/>
                        <a:sym typeface="Helvetica Neue"/>
                      </a:endParaRPr>
                    </a:p>
                  </a:txBody>
                  <a:tcPr marT="0" marB="0" marR="0" marL="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ADADB"/>
                    </a:solidFill>
                  </a:tcPr>
                </a:tc>
              </a:tr>
              <a:tr h="893749">
                <a:tc>
                  <a:txBody>
                    <a:bodyPr/>
                    <a:lstStyle/>
                    <a:p>
                      <a:pPr indent="0" lvl="0" marL="0" rtl="0" algn="ctr">
                        <a:lnSpc>
                          <a:spcPct val="100000"/>
                        </a:lnSpc>
                        <a:spcBef>
                          <a:spcPts val="0"/>
                        </a:spcBef>
                        <a:spcAft>
                          <a:spcPts val="0"/>
                        </a:spcAft>
                        <a:buNone/>
                      </a:pPr>
                      <a:r>
                        <a:rPr lang="en-US" sz="900">
                          <a:solidFill>
                            <a:srgbClr val="1D1D1B"/>
                          </a:solidFill>
                          <a:latin typeface="Helvetica Neue"/>
                          <a:ea typeface="Helvetica Neue"/>
                          <a:cs typeface="Helvetica Neue"/>
                          <a:sym typeface="Helvetica Neue"/>
                        </a:rPr>
                        <a:t>Después de entrenar</a:t>
                      </a:r>
                      <a:endParaRPr sz="900">
                        <a:solidFill>
                          <a:srgbClr val="1D1D1B"/>
                        </a:solidFill>
                        <a:latin typeface="Helvetica Neue"/>
                        <a:ea typeface="Helvetica Neue"/>
                        <a:cs typeface="Helvetica Neue"/>
                        <a:sym typeface="Helvetica Neue"/>
                      </a:endParaRPr>
                    </a:p>
                  </a:txBody>
                  <a:tcPr marT="0" marB="0" marR="0" marL="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6EFE6"/>
                    </a:solidFill>
                  </a:tcPr>
                </a:tc>
                <a:tc>
                  <a:txBody>
                    <a:bodyPr/>
                    <a:lstStyle/>
                    <a:p>
                      <a:pPr indent="0" lvl="0" marL="0" rtl="0" algn="ctr">
                        <a:lnSpc>
                          <a:spcPct val="100000"/>
                        </a:lnSpc>
                        <a:spcBef>
                          <a:spcPts val="0"/>
                        </a:spcBef>
                        <a:spcAft>
                          <a:spcPts val="0"/>
                        </a:spcAft>
                        <a:buNone/>
                      </a:pPr>
                      <a:r>
                        <a:rPr lang="en-US" sz="900">
                          <a:solidFill>
                            <a:srgbClr val="1D1D1B"/>
                          </a:solidFill>
                          <a:latin typeface="Helvetica Neue"/>
                          <a:ea typeface="Helvetica Neue"/>
                          <a:cs typeface="Helvetica Neue"/>
                          <a:sym typeface="Helvetica Neue"/>
                        </a:rPr>
                        <a:t>¿Entrenas por aquí?</a:t>
                      </a:r>
                      <a:endParaRPr sz="900">
                        <a:solidFill>
                          <a:srgbClr val="1D1D1B"/>
                        </a:solidFill>
                        <a:latin typeface="Helvetica Neue"/>
                        <a:ea typeface="Helvetica Neue"/>
                        <a:cs typeface="Helvetica Neue"/>
                        <a:sym typeface="Helvetica Neue"/>
                      </a:endParaRPr>
                    </a:p>
                  </a:txBody>
                  <a:tcPr marT="0" marB="0" marR="0" marL="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CCEBF9"/>
                    </a:solidFill>
                  </a:tcPr>
                </a:tc>
                <a:tc>
                  <a:txBody>
                    <a:bodyPr/>
                    <a:lstStyle/>
                    <a:p>
                      <a:pPr indent="0" lvl="0" marL="0" rtl="0" algn="ctr">
                        <a:lnSpc>
                          <a:spcPct val="100000"/>
                        </a:lnSpc>
                        <a:spcBef>
                          <a:spcPts val="0"/>
                        </a:spcBef>
                        <a:spcAft>
                          <a:spcPts val="0"/>
                        </a:spcAft>
                        <a:buNone/>
                      </a:pPr>
                      <a:r>
                        <a:rPr lang="en-US" sz="900">
                          <a:solidFill>
                            <a:srgbClr val="1D1D1B"/>
                          </a:solidFill>
                          <a:latin typeface="Helvetica Neue"/>
                          <a:ea typeface="Helvetica Neue"/>
                          <a:cs typeface="Helvetica Neue"/>
                          <a:sym typeface="Helvetica Neue"/>
                        </a:rPr>
                        <a:t>Coffee funcional + bagel + zumo para después.</a:t>
                      </a:r>
                      <a:endParaRPr sz="900">
                        <a:solidFill>
                          <a:srgbClr val="1D1D1B"/>
                        </a:solidFill>
                        <a:latin typeface="Helvetica Neue"/>
                        <a:ea typeface="Helvetica Neue"/>
                        <a:cs typeface="Helvetica Neue"/>
                        <a:sym typeface="Helvetica Neue"/>
                      </a:endParaRPr>
                    </a:p>
                  </a:txBody>
                  <a:tcPr marT="0" marB="0" marR="0" marL="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ADADB"/>
                    </a:solidFill>
                  </a:tcPr>
                </a:tc>
              </a:tr>
              <a:tr h="1256388">
                <a:tc>
                  <a:txBody>
                    <a:bodyPr/>
                    <a:lstStyle/>
                    <a:p>
                      <a:pPr indent="0" lvl="0" marL="0" rtl="0" algn="ctr">
                        <a:lnSpc>
                          <a:spcPct val="100000"/>
                        </a:lnSpc>
                        <a:spcBef>
                          <a:spcPts val="0"/>
                        </a:spcBef>
                        <a:spcAft>
                          <a:spcPts val="0"/>
                        </a:spcAft>
                        <a:buNone/>
                      </a:pPr>
                      <a:r>
                        <a:rPr lang="en-US" sz="900">
                          <a:solidFill>
                            <a:srgbClr val="1D1D1B"/>
                          </a:solidFill>
                          <a:latin typeface="Helvetica Neue"/>
                          <a:ea typeface="Helvetica Neue"/>
                          <a:cs typeface="Helvetica Neue"/>
                          <a:sym typeface="Helvetica Neue"/>
                        </a:rPr>
                        <a:t>Comida rápida</a:t>
                      </a:r>
                      <a:endParaRPr sz="900">
                        <a:solidFill>
                          <a:srgbClr val="1D1D1B"/>
                        </a:solidFill>
                        <a:latin typeface="Helvetica Neue"/>
                        <a:ea typeface="Helvetica Neue"/>
                        <a:cs typeface="Helvetica Neue"/>
                        <a:sym typeface="Helvetica Neue"/>
                      </a:endParaRPr>
                    </a:p>
                  </a:txBody>
                  <a:tcPr marT="0" marB="0" marR="0" marL="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D6EFE6"/>
                    </a:solidFill>
                  </a:tcPr>
                </a:tc>
                <a:tc>
                  <a:txBody>
                    <a:bodyPr/>
                    <a:lstStyle/>
                    <a:p>
                      <a:pPr indent="0" lvl="0" marL="0" rtl="0" algn="ctr">
                        <a:lnSpc>
                          <a:spcPct val="100000"/>
                        </a:lnSpc>
                        <a:spcBef>
                          <a:spcPts val="0"/>
                        </a:spcBef>
                        <a:spcAft>
                          <a:spcPts val="0"/>
                        </a:spcAft>
                        <a:buNone/>
                      </a:pPr>
                      <a:r>
                        <a:rPr lang="en-US" sz="900">
                          <a:solidFill>
                            <a:srgbClr val="1D1D1B"/>
                          </a:solidFill>
                          <a:latin typeface="Helvetica Neue"/>
                          <a:ea typeface="Helvetica Neue"/>
                          <a:cs typeface="Helvetica Neue"/>
                          <a:sym typeface="Helvetica Neue"/>
                        </a:rPr>
                        <a:t>¿Solo tienes media hora?</a:t>
                      </a:r>
                      <a:endParaRPr sz="900">
                        <a:solidFill>
                          <a:srgbClr val="1D1D1B"/>
                        </a:solidFill>
                        <a:latin typeface="Helvetica Neue"/>
                        <a:ea typeface="Helvetica Neue"/>
                        <a:cs typeface="Helvetica Neue"/>
                        <a:sym typeface="Helvetica Neue"/>
                      </a:endParaRPr>
                    </a:p>
                  </a:txBody>
                  <a:tcPr marT="0" marB="0" marR="0" marL="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CCEBF9"/>
                    </a:solidFill>
                  </a:tcPr>
                </a:tc>
                <a:tc>
                  <a:txBody>
                    <a:bodyPr/>
                    <a:lstStyle/>
                    <a:p>
                      <a:pPr indent="0" lvl="0" marL="0" rtl="0" algn="ctr">
                        <a:lnSpc>
                          <a:spcPct val="100000"/>
                        </a:lnSpc>
                        <a:spcBef>
                          <a:spcPts val="0"/>
                        </a:spcBef>
                        <a:spcAft>
                          <a:spcPts val="0"/>
                        </a:spcAft>
                        <a:buNone/>
                      </a:pPr>
                      <a:r>
                        <a:rPr lang="en-US" sz="900">
                          <a:solidFill>
                            <a:srgbClr val="1D1D1B"/>
                          </a:solidFill>
                          <a:latin typeface="Helvetica Neue"/>
                          <a:ea typeface="Helvetica Neue"/>
                          <a:cs typeface="Helvetica Neue"/>
                          <a:sym typeface="Helvetica Neue"/>
                        </a:rPr>
                        <a:t>Un bagel completo + bebida. Comer bien sin perder el tiempo.</a:t>
                      </a:r>
                      <a:endParaRPr sz="900">
                        <a:solidFill>
                          <a:srgbClr val="1D1D1B"/>
                        </a:solidFill>
                        <a:latin typeface="Helvetica Neue"/>
                        <a:ea typeface="Helvetica Neue"/>
                        <a:cs typeface="Helvetica Neue"/>
                        <a:sym typeface="Helvetica Neue"/>
                      </a:endParaRPr>
                    </a:p>
                  </a:txBody>
                  <a:tcPr marT="0" marB="0" marR="0" marL="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ADADB"/>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h304546d401aaba72_0_52"/>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343" name="Google Shape;343;h304546d401aaba72_0_52"/>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344" name="Google Shape;344;h304546d401aaba72_0_52"/>
          <p:cNvSpPr txBox="1"/>
          <p:nvPr/>
        </p:nvSpPr>
        <p:spPr>
          <a:xfrm>
            <a:off x="440959" y="1253354"/>
            <a:ext cx="6678082" cy="8369446"/>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4. Tono de marca </a:t>
            </a:r>
            <a:endParaRPr b="1"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The Lokal habla como una marca que conoce su producto, conoce su barrio y tiene una forma de hacer las cosas. Informa sin aleccionar, recomienda sin imponer y comunica sin sobreexplicar.</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1. CERCANO, NO CORPORATIVO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The Lokal habla como habla la gente. </a:t>
            </a:r>
            <a:r>
              <a:rPr lang="en-US" sz="900">
                <a:solidFill>
                  <a:srgbClr val="33B086"/>
                </a:solidFill>
                <a:latin typeface="Helvetica Neue"/>
                <a:ea typeface="Helvetica Neue"/>
                <a:cs typeface="Helvetica Neue"/>
                <a:sym typeface="Helvetica Neue"/>
              </a:rPr>
              <a:t>Si: </a:t>
            </a:r>
            <a:r>
              <a:rPr lang="en-US" sz="900">
                <a:solidFill>
                  <a:schemeClr val="dk1"/>
                </a:solidFill>
                <a:latin typeface="Helvetica Neue"/>
                <a:ea typeface="Helvetica Neue"/>
                <a:cs typeface="Helvetica Neue"/>
                <a:sym typeface="Helvetica Neue"/>
              </a:rPr>
              <a:t>¿vas para el trabajo? </a:t>
            </a:r>
            <a:r>
              <a:rPr lang="en-US" sz="900">
                <a:solidFill>
                  <a:srgbClr val="E94A4B"/>
                </a:solidFill>
                <a:latin typeface="Helvetica Neue"/>
                <a:ea typeface="Helvetica Neue"/>
                <a:cs typeface="Helvetica Neue"/>
                <a:sym typeface="Helvetica Neue"/>
              </a:rPr>
              <a:t>No: </a:t>
            </a:r>
            <a:r>
              <a:rPr lang="en-US" sz="900">
                <a:solidFill>
                  <a:schemeClr val="dk1"/>
                </a:solidFill>
                <a:latin typeface="Helvetica Neue"/>
                <a:ea typeface="Helvetica Neue"/>
                <a:cs typeface="Helvetica Neue"/>
                <a:sym typeface="Helvetica Neue"/>
              </a:rPr>
              <a:t>Descubre nuestros bagels para acompañar tu jornada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2. INFORMADO, NO TÉCNICO</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The Lokal sabe qué hay detrás de cada producto y no tiene miedo de contarlo.</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rgbClr val="33B086"/>
                </a:solidFill>
                <a:latin typeface="Helvetica Neue"/>
                <a:ea typeface="Helvetica Neue"/>
                <a:cs typeface="Helvetica Neue"/>
                <a:sym typeface="Helvetica Neue"/>
              </a:rPr>
              <a:t>Sí: </a:t>
            </a:r>
            <a:r>
              <a:rPr lang="en-US" sz="900">
                <a:solidFill>
                  <a:schemeClr val="dk1"/>
                </a:solidFill>
                <a:latin typeface="Helvetica Neue"/>
                <a:ea typeface="Helvetica Neue"/>
                <a:cs typeface="Helvetica Neue"/>
                <a:sym typeface="Helvetica Neue"/>
              </a:rPr>
              <a:t>Tomate de La Bisbal · Anchoas de L'Escala . 24g protein · 38g carbs · 14g fat</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rgbClr val="E94A4B"/>
                </a:solidFill>
                <a:latin typeface="Helvetica Neue"/>
                <a:ea typeface="Helvetica Neue"/>
                <a:cs typeface="Helvetica Neue"/>
                <a:sym typeface="Helvetica Neue"/>
              </a:rPr>
              <a:t>No: </a:t>
            </a:r>
            <a:r>
              <a:rPr lang="en-US" sz="900">
                <a:solidFill>
                  <a:schemeClr val="dk1"/>
                </a:solidFill>
                <a:latin typeface="Helvetica Neue"/>
                <a:ea typeface="Helvetica Neue"/>
                <a:cs typeface="Helvetica Neue"/>
                <a:sym typeface="Helvetica Neue"/>
              </a:rPr>
              <a:t>Una combinación nutricionalmente optimizada para maximizar tu bienestar.</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3. SALUDABLE, SIN HABLAR COMO UNA MARCA HEALTHY</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The Lokal no habla de culpa, restricciones ni compensaciones.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rgbClr val="E94A4B"/>
                </a:solidFill>
                <a:latin typeface="Helvetica Neue"/>
                <a:ea typeface="Helvetica Neue"/>
                <a:cs typeface="Helvetica Neue"/>
                <a:sym typeface="Helvetica Neue"/>
              </a:rPr>
              <a:t>Evita construir el producto desde: </a:t>
            </a:r>
            <a:r>
              <a:rPr lang="en-US" sz="900">
                <a:solidFill>
                  <a:schemeClr val="dk1"/>
                </a:solidFill>
                <a:latin typeface="Helvetica Neue"/>
                <a:ea typeface="Helvetica Neue"/>
                <a:cs typeface="Helvetica Neue"/>
                <a:sym typeface="Helvetica Neue"/>
              </a:rPr>
              <a:t>guilt-free / cheat / detox / clean / forbidden / light. </a:t>
            </a:r>
            <a:r>
              <a:rPr lang="en-US" sz="900">
                <a:solidFill>
                  <a:srgbClr val="33B086"/>
                </a:solidFill>
                <a:latin typeface="Helvetica Neue"/>
                <a:ea typeface="Helvetica Neue"/>
                <a:cs typeface="Helvetica Neue"/>
                <a:sym typeface="Helvetica Neue"/>
              </a:rPr>
              <a:t>Habla desde: </a:t>
            </a:r>
            <a:r>
              <a:rPr lang="en-US" sz="900">
                <a:solidFill>
                  <a:schemeClr val="dk1"/>
                </a:solidFill>
                <a:latin typeface="Helvetica Neue"/>
                <a:ea typeface="Helvetica Neue"/>
                <a:cs typeface="Helvetica Neue"/>
                <a:sym typeface="Helvetica Neue"/>
              </a:rPr>
              <a:t>homemade / seasonal / local / real ingredients / nourishing / good stuff</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4. LOCAL, PERO NO FOLKLÓRICO. ABIERTO AL MUNDO SIN </a:t>
            </a:r>
            <a:r>
              <a:rPr lang="en-US" sz="900">
                <a:solidFill>
                  <a:schemeClr val="dk1"/>
                </a:solidFill>
                <a:latin typeface="Helvetica Neue"/>
                <a:ea typeface="Helvetica Neue"/>
                <a:cs typeface="Helvetica Neue"/>
                <a:sym typeface="Helvetica Neue"/>
              </a:rPr>
              <a:t>PRETENSIÓN</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Lo local se cuenta. No se proclama. El mundo inspira. Lo local aterriza.</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b="1" sz="8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5. DIRECTO PERO CON HUMOR SUTIL</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No necesita ser una marca graciosa, pero sí puede tener un guiño.</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¿Tienes 15 minutos? Suficiente. ¿Entrenas por aquí?</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Pasa después. ¿Te lo llevas? Mejor.</a:t>
            </a:r>
            <a:endParaRPr sz="900">
              <a:solidFill>
                <a:schemeClr val="dk1"/>
              </a:solidFill>
              <a:latin typeface="Helvetica Neue"/>
              <a:ea typeface="Helvetica Neue"/>
              <a:cs typeface="Helvetica Neue"/>
              <a:sym typeface="Helvetica Neue"/>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h304546d401aaba72_0_85"/>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350" name="Google Shape;350;h304546d401aaba72_0_85"/>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351" name="Google Shape;351;h304546d401aaba72_0_85"/>
          <p:cNvSpPr txBox="1"/>
          <p:nvPr/>
        </p:nvSpPr>
        <p:spPr>
          <a:xfrm>
            <a:off x="440959" y="1253354"/>
            <a:ext cx="6678082" cy="4202623"/>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5. Palabras que utilizamos </a:t>
            </a:r>
            <a:endParaRPr b="1"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LOCAL · AQUÍ · CERCA · HOY · ORIGEN · HECHO · FRESCO · TEMPORADA · CUIDAR · DISFRUTAR · ENERGÍA · SEGUIR · VOLVER</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6. Palabras que no utilizamos</a:t>
            </a:r>
            <a:endParaRPr b="1"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Healthy · Guilt-free · Cheat · Detox · Clean · Superfood · Diet · Sin culpa · Light · Permitido</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Que la marca diga: Good food. </a:t>
            </a:r>
            <a:r>
              <a:rPr lang="en-US" sz="900">
                <a:solidFill>
                  <a:schemeClr val="dk1"/>
                </a:solidFill>
                <a:latin typeface="Helvetica Neue"/>
                <a:ea typeface="Helvetica Neue"/>
                <a:cs typeface="Helvetica Neue"/>
                <a:sym typeface="Helvetica Neue"/>
              </a:rPr>
              <a:t>Made with good ingredients. Feel good.</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E</a:t>
            </a:r>
            <a:r>
              <a:rPr lang="en-US" sz="900">
                <a:solidFill>
                  <a:schemeClr val="dk1"/>
                </a:solidFill>
                <a:latin typeface="Helvetica Neue"/>
                <a:ea typeface="Helvetica Neue"/>
                <a:cs typeface="Helvetica Neue"/>
                <a:sym typeface="Helvetica Neue"/>
              </a:rPr>
              <a:t>n lugar de: Healthy food. </a:t>
            </a:r>
            <a:r>
              <a:rPr lang="en-US" sz="900">
                <a:solidFill>
                  <a:schemeClr val="dk1"/>
                </a:solidFill>
                <a:latin typeface="Helvetica Neue"/>
                <a:ea typeface="Helvetica Neue"/>
                <a:cs typeface="Helvetica Neue"/>
                <a:sym typeface="Helvetica Neue"/>
              </a:rPr>
              <a:t>Healthy ingredients.Wellness.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h304546d401aaba72_0_21"/>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357" name="Google Shape;357;h304546d401aaba72_0_21"/>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358" name="Google Shape;358;h304546d401aaba72_0_21"/>
          <p:cNvSpPr txBox="1"/>
          <p:nvPr/>
        </p:nvSpPr>
        <p:spPr>
          <a:xfrm>
            <a:off x="373007" y="1021698"/>
            <a:ext cx="6678082" cy="350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b. Arquitectura experiencial</a:t>
            </a:r>
            <a:endParaRPr b="0" i="0" sz="2400" u="none" cap="none" strike="noStrike">
              <a:solidFill>
                <a:srgbClr val="000000"/>
              </a:solidFill>
              <a:latin typeface="Arial"/>
              <a:ea typeface="Arial"/>
              <a:cs typeface="Arial"/>
              <a:sym typeface="Arial"/>
            </a:endParaRPr>
          </a:p>
        </p:txBody>
      </p:sp>
      <p:sp>
        <p:nvSpPr>
          <p:cNvPr id="359" name="Google Shape;359;h304546d401aaba72_0_21"/>
          <p:cNvSpPr txBox="1"/>
          <p:nvPr/>
        </p:nvSpPr>
        <p:spPr>
          <a:xfrm>
            <a:off x="440959" y="1635337"/>
            <a:ext cx="6678082" cy="6012686"/>
          </a:xfrm>
          <a:prstGeom prst="rect">
            <a:avLst/>
          </a:prstGeom>
          <a:noFill/>
          <a:ln>
            <a:noFill/>
          </a:ln>
        </p:spPr>
        <p:txBody>
          <a:bodyPr anchorCtr="0" anchor="t" bIns="0" lIns="0" spcFirstLastPara="1" rIns="0" wrap="square" tIns="0">
            <a:spAutoFit/>
          </a:bodyPr>
          <a:lstStyle/>
          <a:p>
            <a:pPr indent="0" lvl="0" marL="57150" rtl="0" algn="l">
              <a:spcBef>
                <a:spcPts val="0"/>
              </a:spcBef>
              <a:spcAft>
                <a:spcPts val="0"/>
              </a:spcAft>
              <a:buNone/>
            </a:pPr>
            <a:r>
              <a:rPr lang="en-US" sz="900">
                <a:solidFill>
                  <a:schemeClr val="dk1"/>
                </a:solidFill>
                <a:latin typeface="Helvetica Neue"/>
                <a:ea typeface="Helvetica Neue"/>
                <a:cs typeface="Helvetica Neue"/>
                <a:sym typeface="Helvetica Neue"/>
              </a:rPr>
              <a:t>FÁCIL DE ENTRAR. FÁCIL DE ELEGIR. DIFÍCIL DE OLVIDAR.</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rPr lang="en-US" sz="900">
                <a:solidFill>
                  <a:schemeClr val="dk1"/>
                </a:solidFill>
                <a:latin typeface="Helvetica Neue"/>
                <a:ea typeface="Helvetica Neue"/>
                <a:cs typeface="Helvetica Neue"/>
                <a:sym typeface="Helvetica Neue"/>
              </a:rPr>
              <a:t>La experiencia The Lokal debe reducir la fricción sin perder personalidad.</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rPr lang="en-US" sz="900">
                <a:solidFill>
                  <a:schemeClr val="dk1"/>
                </a:solidFill>
                <a:latin typeface="Helvetica Neue"/>
                <a:ea typeface="Helvetica Neue"/>
                <a:cs typeface="Helvetica Neue"/>
                <a:sym typeface="Helvetica Neue"/>
              </a:rPr>
              <a:t>FÁCIL DE ENTRAR</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rPr lang="en-US" sz="900">
                <a:solidFill>
                  <a:schemeClr val="dk1"/>
                </a:solidFill>
                <a:latin typeface="Helvetica Neue"/>
                <a:ea typeface="Helvetica Neue"/>
                <a:cs typeface="Helvetica Neue"/>
                <a:sym typeface="Helvetica Neue"/>
              </a:rPr>
              <a:t>Desde el exterior debe entenderse rápidamente qué ofrece la marca.</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rPr lang="en-US" sz="900">
                <a:solidFill>
                  <a:schemeClr val="dk1"/>
                </a:solidFill>
                <a:latin typeface="Helvetica Neue"/>
                <a:ea typeface="Helvetica Neue"/>
                <a:cs typeface="Helvetica Neue"/>
                <a:sym typeface="Helvetica Neue"/>
              </a:rPr>
              <a:t>FÁCIL DE ELEGIR</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rPr lang="en-US" sz="900">
                <a:solidFill>
                  <a:schemeClr val="dk1"/>
                </a:solidFill>
                <a:latin typeface="Helvetica Neue"/>
                <a:ea typeface="Helvetica Neue"/>
                <a:cs typeface="Helvetica Neue"/>
                <a:sym typeface="Helvetica Neue"/>
              </a:rPr>
              <a:t>La oferta debe poder entenderse sin conocimientos previos.</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rPr lang="en-US" sz="900">
                <a:solidFill>
                  <a:schemeClr val="dk1"/>
                </a:solidFill>
                <a:latin typeface="Helvetica Neue"/>
                <a:ea typeface="Helvetica Neue"/>
                <a:cs typeface="Helvetica Neue"/>
                <a:sym typeface="Helvetica Neue"/>
              </a:rPr>
              <a:t>FÁCIL DE LLEVAR</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rPr lang="en-US" sz="900">
                <a:solidFill>
                  <a:schemeClr val="dk1"/>
                </a:solidFill>
                <a:latin typeface="Helvetica Neue"/>
                <a:ea typeface="Helvetica Neue"/>
                <a:cs typeface="Helvetica Neue"/>
                <a:sym typeface="Helvetica Neue"/>
              </a:rPr>
              <a:t>El producto debe estar diseñado para acompañar el ritmo del consumidor.</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rPr lang="en-US" sz="900">
                <a:solidFill>
                  <a:schemeClr val="dk1"/>
                </a:solidFill>
                <a:latin typeface="Helvetica Neue"/>
                <a:ea typeface="Helvetica Neue"/>
                <a:cs typeface="Helvetica Neue"/>
                <a:sym typeface="Helvetica Neue"/>
              </a:rPr>
              <a:t>FÁCIL DE REPETIR</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rPr lang="en-US" sz="900">
                <a:solidFill>
                  <a:schemeClr val="dk1"/>
                </a:solidFill>
                <a:latin typeface="Helvetica Neue"/>
                <a:ea typeface="Helvetica Neue"/>
                <a:cs typeface="Helvetica Neue"/>
                <a:sym typeface="Helvetica Neue"/>
              </a:rPr>
              <a:t>Deben existir productos reconocibles que puedan convertirse en rutina.</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rPr lang="en-US" sz="900">
                <a:solidFill>
                  <a:schemeClr val="dk1"/>
                </a:solidFill>
                <a:latin typeface="Helvetica Neue"/>
                <a:ea typeface="Helvetica Neue"/>
                <a:cs typeface="Helvetica Neue"/>
                <a:sym typeface="Helvetica Neue"/>
              </a:rPr>
              <a:t>FÁCIL DE DESCUBRIR</a:t>
            </a:r>
            <a:endParaRPr sz="900">
              <a:solidFill>
                <a:schemeClr val="dk1"/>
              </a:solidFill>
              <a:latin typeface="Helvetica Neue"/>
              <a:ea typeface="Helvetica Neue"/>
              <a:cs typeface="Helvetica Neue"/>
              <a:sym typeface="Helvetica Neue"/>
            </a:endParaRPr>
          </a:p>
          <a:p>
            <a:pPr indent="0" lvl="0" marL="57150" rtl="0" algn="l">
              <a:spcBef>
                <a:spcPts val="0"/>
              </a:spcBef>
              <a:spcAft>
                <a:spcPts val="0"/>
              </a:spcAft>
              <a:buNone/>
            </a:pPr>
            <a:r>
              <a:rPr lang="en-US" sz="900">
                <a:solidFill>
                  <a:schemeClr val="dk1"/>
                </a:solidFill>
                <a:latin typeface="Helvetica Neue"/>
                <a:ea typeface="Helvetica Neue"/>
                <a:cs typeface="Helvetica Neue"/>
                <a:sym typeface="Helvetica Neue"/>
              </a:rPr>
              <a:t>Siempre debe existir algún elemento que invite a probar algo nuevo.</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b="1" sz="800">
              <a:solidFill>
                <a:schemeClr val="dk1"/>
              </a:solidFill>
              <a:latin typeface="Helvetica Neue"/>
              <a:ea typeface="Helvetica Neue"/>
              <a:cs typeface="Helvetica Neue"/>
              <a:sym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h304546d401aaba72_0_37"/>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365" name="Google Shape;365;h304546d401aaba72_0_37"/>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366" name="Google Shape;366;h304546d401aaba72_0_37"/>
          <p:cNvSpPr txBox="1"/>
          <p:nvPr/>
        </p:nvSpPr>
        <p:spPr>
          <a:xfrm>
            <a:off x="373007" y="1021698"/>
            <a:ext cx="6678082" cy="350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c. </a:t>
            </a:r>
            <a:r>
              <a:rPr lang="en-US" sz="1200">
                <a:latin typeface="Epilogue"/>
                <a:ea typeface="Epilogue"/>
                <a:cs typeface="Epilogue"/>
                <a:sym typeface="Epilogue"/>
              </a:rPr>
              <a:t>Arquitectura gastron</a:t>
            </a:r>
            <a:r>
              <a:rPr lang="en-US" sz="1200">
                <a:latin typeface="Epilogue"/>
                <a:ea typeface="Epilogue"/>
                <a:cs typeface="Epilogue"/>
                <a:sym typeface="Epilogue"/>
              </a:rPr>
              <a:t>ómica</a:t>
            </a:r>
            <a:endParaRPr b="0" i="0" sz="2400" u="none" cap="none" strike="noStrike">
              <a:solidFill>
                <a:srgbClr val="000000"/>
              </a:solidFill>
              <a:latin typeface="Arial"/>
              <a:ea typeface="Arial"/>
              <a:cs typeface="Arial"/>
              <a:sym typeface="Arial"/>
            </a:endParaRPr>
          </a:p>
        </p:txBody>
      </p:sp>
      <p:sp>
        <p:nvSpPr>
          <p:cNvPr id="367" name="Google Shape;367;h304546d401aaba72_0_37"/>
          <p:cNvSpPr txBox="1"/>
          <p:nvPr/>
        </p:nvSpPr>
        <p:spPr>
          <a:xfrm>
            <a:off x="440959" y="1635337"/>
            <a:ext cx="6678082" cy="6508718"/>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La oferta debe construirse alrededor de roles diferentes, no de una acumulación de productos.</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b="1"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01 · BAGELS, EL HÁBITO</a:t>
            </a:r>
            <a:endParaRPr b="1"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El producto principal de The Lokal.</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Debe ser reconocible, fácil de consumir, suficientemente versátil para diferentes momentos del día y capaz de generar repetición.</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La arquitectura puede combinar:</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CLÁSICOS</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Productos de referencia que permanecen.</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LOKAL</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Recetas construidas desde ingredientes y referencias del territorio.</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WORLD</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Recetas inspiradas en otras culturas.</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SEASONAL</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Productos que cambian con la temporada.</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DULCES</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Una extensión del bagel hacia otros momentos de consumo.</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8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800">
              <a:solidFill>
                <a:schemeClr val="dk1"/>
              </a:solidFill>
              <a:latin typeface="Helvetica Neue"/>
              <a:ea typeface="Helvetica Neue"/>
              <a:cs typeface="Helvetica Neue"/>
              <a:sym typeface="Helvetica Neue"/>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h717b898b6c2593fb_0_1"/>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373" name="Google Shape;373;h717b898b6c2593fb_0_1"/>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374" name="Google Shape;374;h717b898b6c2593fb_0_1"/>
          <p:cNvSpPr txBox="1"/>
          <p:nvPr/>
        </p:nvSpPr>
        <p:spPr>
          <a:xfrm>
            <a:off x="440959" y="1479568"/>
            <a:ext cx="6678082" cy="703433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02 · HELADOS, EL PLACER</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El helado introduce una segunda dimensión dentro de la marca.</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Debe mantener la misma filosofía:</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ingredientes reconocibles, elaboración cuidada, sabores propios y conexión entre territorio e inspiración internacional.</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La propuesta puede trabajar con:</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CLÁSICOS</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Sabores reconocibles.</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LOKAL</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Sabores construidos desde ingredientes del territorio.</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WORLD</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Sabores inspirados en otras culturas.</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SEASONAL</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Ingredientes y combinaciones de temporada.</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DROPS</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Sabores limitados, colaboraciones y experimentación.</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El helado no necesita posicionarse como “healthy”.</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Puede ser un producto de placer que respeta la filosofía de The Lokal.</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8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800">
              <a:solidFill>
                <a:schemeClr val="dk1"/>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h717b898b6c2593fb_0_8"/>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380" name="Google Shape;380;h717b898b6c2593fb_0_8"/>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381" name="Google Shape;381;h717b898b6c2593fb_0_8"/>
          <p:cNvSpPr txBox="1"/>
          <p:nvPr/>
        </p:nvSpPr>
        <p:spPr>
          <a:xfrm>
            <a:off x="440959" y="1276586"/>
            <a:ext cx="6678082" cy="7617965"/>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200"/>
              <a:buFont typeface="Arial"/>
              <a:buNone/>
            </a:pPr>
            <a:r>
              <a:rPr b="1" lang="en-US" sz="800">
                <a:solidFill>
                  <a:schemeClr val="dk1"/>
                </a:solidFill>
                <a:latin typeface="Helvetica Neue"/>
                <a:ea typeface="Helvetica Neue"/>
                <a:cs typeface="Helvetica Neue"/>
                <a:sym typeface="Helvetica Neue"/>
              </a:rPr>
              <a:t>0</a:t>
            </a:r>
            <a:r>
              <a:rPr b="1" lang="en-US" sz="900">
                <a:solidFill>
                  <a:schemeClr val="dk1"/>
                </a:solidFill>
                <a:latin typeface="Helvetica Neue"/>
                <a:ea typeface="Helvetica Neue"/>
                <a:cs typeface="Helvetica Neue"/>
                <a:sym typeface="Helvetica Neue"/>
              </a:rPr>
              <a:t>3 · BATIDOS - ENERGÍA</a:t>
            </a:r>
            <a:endParaRPr b="1"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Los batidos pueden convertirse en un territorio diferencial si se consigue desarrollar una fórmula propia que combine sabor, textura y funcionalidad.</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El helado puede funcionar como parte de la base del producto, convirtiéndose en un ingrediente más del universo The Lokal.</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El objetivo no sería crear un milkshake tradicional, sino una nueva ocasión entre:</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desayuno · energía · post-entrenamiento · snack · placer.</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La funcionalidad puede aparecer cuando aporta un beneficio real:</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proteína, fruta, ingredientes nutritivos o determinados complementos.</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La marca no necesita hablar como una marca fitness.</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La función está en el producto. El deseo está en cómo sabe.</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b="1" lang="en-US" sz="900">
                <a:solidFill>
                  <a:schemeClr val="dk1"/>
                </a:solidFill>
                <a:latin typeface="Helvetica Neue"/>
                <a:ea typeface="Helvetica Neue"/>
                <a:cs typeface="Helvetica Neue"/>
                <a:sym typeface="Helvetica Neue"/>
              </a:rPr>
              <a:t>04 · HOT × COLD - LO INESPERADO</a:t>
            </a:r>
            <a:endParaRPr b="1"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Un territorio para explorar el contraste entre temperaturas, texturas y momentos. Puede incluir diferentes combinaciones estacionales:</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productos horneados + helado</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cookies calientes + helado</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fruta caliente + helado</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bagels dulces calientes + helado</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affogato, si la operativa y licencias lo permiten</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t/>
            </a:r>
            <a:endParaRPr sz="9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Clr>
                <a:schemeClr val="dk1"/>
              </a:buClr>
              <a:buSzPts val="2200"/>
              <a:buFont typeface="Arial"/>
              <a:buNone/>
            </a:pPr>
            <a:r>
              <a:rPr lang="en-US" sz="900">
                <a:solidFill>
                  <a:schemeClr val="dk1"/>
                </a:solidFill>
                <a:latin typeface="Helvetica Neue"/>
                <a:ea typeface="Helvetica Neue"/>
                <a:cs typeface="Helvetica Neue"/>
                <a:sym typeface="Helvetica Neue"/>
              </a:rPr>
              <a:t>Más que una categoría fija, HOT × COLD puede convertirse en el espacio donde The Lokal experimenta.</a:t>
            </a:r>
            <a:endParaRPr sz="900">
              <a:solidFill>
                <a:schemeClr val="dk1"/>
              </a:solidFill>
              <a:latin typeface="Helvetica Neue"/>
              <a:ea typeface="Helvetica Neue"/>
              <a:cs typeface="Helvetica Neue"/>
              <a:sym typeface="Helvetica Neue"/>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h304546d401aaba72_0_44"/>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387" name="Google Shape;387;h304546d401aaba72_0_44"/>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388" name="Google Shape;388;h304546d401aaba72_0_44"/>
          <p:cNvSpPr txBox="1"/>
          <p:nvPr/>
        </p:nvSpPr>
        <p:spPr>
          <a:xfrm>
            <a:off x="373007" y="1021698"/>
            <a:ext cx="6678082" cy="350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e. Recorridos del cliente</a:t>
            </a:r>
            <a:endParaRPr b="0" i="0" sz="2400" u="none" cap="none" strike="noStrike">
              <a:solidFill>
                <a:srgbClr val="000000"/>
              </a:solidFill>
              <a:latin typeface="Arial"/>
              <a:ea typeface="Arial"/>
              <a:cs typeface="Arial"/>
              <a:sym typeface="Arial"/>
            </a:endParaRPr>
          </a:p>
        </p:txBody>
      </p:sp>
      <p:sp>
        <p:nvSpPr>
          <p:cNvPr id="389" name="Google Shape;389;h304546d401aaba72_0_44"/>
          <p:cNvSpPr txBox="1"/>
          <p:nvPr/>
        </p:nvSpPr>
        <p:spPr>
          <a:xfrm>
            <a:off x="440959" y="1635337"/>
            <a:ext cx="6678082" cy="23322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200"/>
              <a:buFont typeface="Arial"/>
              <a:buNone/>
            </a:pPr>
            <a:r>
              <a:t/>
            </a:r>
            <a:endParaRPr b="1" sz="800">
              <a:solidFill>
                <a:schemeClr val="dk1"/>
              </a:solidFill>
              <a:latin typeface="Helvetica Neue"/>
              <a:ea typeface="Helvetica Neue"/>
              <a:cs typeface="Helvetica Neue"/>
              <a:sym typeface="Helvetica Neue"/>
            </a:endParaRPr>
          </a:p>
        </p:txBody>
      </p:sp>
      <p:sp>
        <p:nvSpPr>
          <p:cNvPr id="390" name="Google Shape;390;h304546d401aaba72_0_44"/>
          <p:cNvSpPr txBox="1"/>
          <p:nvPr/>
        </p:nvSpPr>
        <p:spPr>
          <a:xfrm>
            <a:off x="517454" y="1277719"/>
            <a:ext cx="6389165" cy="752467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MAÑANA</a:t>
            </a:r>
            <a:r>
              <a:rPr lang="en-US" sz="900">
                <a:solidFill>
                  <a:schemeClr val="dk1"/>
                </a:solidFill>
                <a:latin typeface="Helvetica Neue"/>
                <a:ea typeface="Helvetica Neue"/>
                <a:cs typeface="Helvetica Neue"/>
                <a:sym typeface="Helvetica Neue"/>
              </a:rPr>
              <a:t> - EMPEZAR BIEN</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u="sng">
                <a:solidFill>
                  <a:schemeClr val="dk1"/>
                </a:solidFill>
                <a:latin typeface="Helvetica Neue"/>
                <a:ea typeface="Helvetica Neue"/>
                <a:cs typeface="Helvetica Neue"/>
                <a:sym typeface="Helvetica Neue"/>
              </a:rPr>
              <a:t>Situación</a:t>
            </a:r>
            <a:endParaRPr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Antes de trabajar o empezar el día.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u="sng">
                <a:solidFill>
                  <a:schemeClr val="dk1"/>
                </a:solidFill>
                <a:latin typeface="Helvetica Neue"/>
                <a:ea typeface="Helvetica Neue"/>
                <a:cs typeface="Helvetica Neue"/>
                <a:sym typeface="Helvetica Neue"/>
              </a:rPr>
              <a:t>Necesidad</a:t>
            </a:r>
            <a:endParaRPr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Desayunar de forma rápida, completa y apetecible.</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u="sng">
                <a:solidFill>
                  <a:schemeClr val="dk1"/>
                </a:solidFill>
                <a:latin typeface="Helvetica Neue"/>
                <a:ea typeface="Helvetica Neue"/>
                <a:cs typeface="Helvetica Neue"/>
                <a:sym typeface="Helvetica Neue"/>
              </a:rPr>
              <a:t>The Lokal</a:t>
            </a:r>
            <a:endParaRPr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Bagel + acompañamiento.</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DESPUÉS DE ENTRENAR </a:t>
            </a:r>
            <a:r>
              <a:rPr lang="en-US" sz="900">
                <a:solidFill>
                  <a:schemeClr val="dk1"/>
                </a:solidFill>
                <a:latin typeface="Helvetica Neue"/>
                <a:ea typeface="Helvetica Neue"/>
                <a:cs typeface="Helvetica Neue"/>
                <a:sym typeface="Helvetica Neue"/>
              </a:rPr>
              <a:t>- RECUPERAR</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u="sng">
                <a:solidFill>
                  <a:schemeClr val="dk1"/>
                </a:solidFill>
                <a:latin typeface="Helvetica Neue"/>
                <a:ea typeface="Helvetica Neue"/>
                <a:cs typeface="Helvetica Neue"/>
                <a:sym typeface="Helvetica Neue"/>
              </a:rPr>
              <a:t>Situación</a:t>
            </a:r>
            <a:endParaRPr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Después del gimnasio o de practicar deporte.</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u="sng">
                <a:solidFill>
                  <a:schemeClr val="dk1"/>
                </a:solidFill>
                <a:latin typeface="Helvetica Neue"/>
                <a:ea typeface="Helvetica Neue"/>
                <a:cs typeface="Helvetica Neue"/>
                <a:sym typeface="Helvetica Neue"/>
              </a:rPr>
              <a:t>Necesidad</a:t>
            </a:r>
            <a:endParaRPr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Comer algo que aporte energía y encaje con el momento.</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u="sng">
                <a:solidFill>
                  <a:schemeClr val="dk1"/>
                </a:solidFill>
                <a:latin typeface="Helvetica Neue"/>
                <a:ea typeface="Helvetica Neue"/>
                <a:cs typeface="Helvetica Neue"/>
                <a:sym typeface="Helvetica Neue"/>
              </a:rPr>
              <a:t>The Lokal</a:t>
            </a:r>
            <a:endParaRPr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Bagel + batido funcional.</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MEDIODÍA</a:t>
            </a:r>
            <a:r>
              <a:rPr lang="en-US" sz="900">
                <a:solidFill>
                  <a:schemeClr val="dk1"/>
                </a:solidFill>
                <a:latin typeface="Helvetica Neue"/>
                <a:ea typeface="Helvetica Neue"/>
                <a:cs typeface="Helvetica Neue"/>
                <a:sym typeface="Helvetica Neue"/>
              </a:rPr>
              <a:t> - RESOLVER</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u="sng">
                <a:solidFill>
                  <a:schemeClr val="dk1"/>
                </a:solidFill>
                <a:latin typeface="Helvetica Neue"/>
                <a:ea typeface="Helvetica Neue"/>
                <a:cs typeface="Helvetica Neue"/>
                <a:sym typeface="Helvetica Neue"/>
              </a:rPr>
              <a:t>Situación</a:t>
            </a:r>
            <a:endParaRPr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Poco tiempo para comer.</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u="sng">
                <a:solidFill>
                  <a:schemeClr val="dk1"/>
                </a:solidFill>
                <a:latin typeface="Helvetica Neue"/>
                <a:ea typeface="Helvetica Neue"/>
                <a:cs typeface="Helvetica Neue"/>
                <a:sym typeface="Helvetica Neue"/>
              </a:rPr>
              <a:t>Necesidad</a:t>
            </a:r>
            <a:endParaRPr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Una comida completa sin añadir fricción.</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u="sng">
                <a:solidFill>
                  <a:schemeClr val="dk1"/>
                </a:solidFill>
                <a:latin typeface="Helvetica Neue"/>
                <a:ea typeface="Helvetica Neue"/>
                <a:cs typeface="Helvetica Neue"/>
                <a:sym typeface="Helvetica Neue"/>
              </a:rPr>
              <a:t>The Lokal</a:t>
            </a:r>
            <a:endParaRPr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Bagel + acompañamiento.</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h717b898b6c2593fb_0_16"/>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396" name="Google Shape;396;h717b898b6c2593fb_0_16"/>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397" name="Google Shape;397;h717b898b6c2593fb_0_16"/>
          <p:cNvSpPr txBox="1"/>
          <p:nvPr/>
        </p:nvSpPr>
        <p:spPr>
          <a:xfrm>
            <a:off x="440959" y="1635337"/>
            <a:ext cx="6678082" cy="23322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200"/>
              <a:buFont typeface="Arial"/>
              <a:buNone/>
            </a:pPr>
            <a:r>
              <a:t/>
            </a:r>
            <a:endParaRPr b="1" sz="800">
              <a:solidFill>
                <a:schemeClr val="dk1"/>
              </a:solidFill>
              <a:latin typeface="Helvetica Neue"/>
              <a:ea typeface="Helvetica Neue"/>
              <a:cs typeface="Helvetica Neue"/>
              <a:sym typeface="Helvetica Neue"/>
            </a:endParaRPr>
          </a:p>
        </p:txBody>
      </p:sp>
      <p:sp>
        <p:nvSpPr>
          <p:cNvPr id="398" name="Google Shape;398;h717b898b6c2593fb_0_16"/>
          <p:cNvSpPr txBox="1"/>
          <p:nvPr/>
        </p:nvSpPr>
        <p:spPr>
          <a:xfrm>
            <a:off x="517503" y="1052214"/>
            <a:ext cx="6389165" cy="752467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TARDE</a:t>
            </a:r>
            <a:r>
              <a:rPr lang="en-US" sz="900">
                <a:solidFill>
                  <a:schemeClr val="dk1"/>
                </a:solidFill>
                <a:latin typeface="Helvetica Neue"/>
                <a:ea typeface="Helvetica Neue"/>
                <a:cs typeface="Helvetica Neue"/>
                <a:sym typeface="Helvetica Neue"/>
              </a:rPr>
              <a:t> - DISFRUTAR</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u="sng">
                <a:solidFill>
                  <a:schemeClr val="dk1"/>
                </a:solidFill>
                <a:latin typeface="Helvetica Neue"/>
                <a:ea typeface="Helvetica Neue"/>
                <a:cs typeface="Helvetica Neue"/>
                <a:sym typeface="Helvetica Neue"/>
              </a:rPr>
              <a:t>Situación</a:t>
            </a:r>
            <a:endParaRPr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Pausa, paseo o pequeño capricho.</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u="sng">
                <a:solidFill>
                  <a:schemeClr val="dk1"/>
                </a:solidFill>
                <a:latin typeface="Helvetica Neue"/>
                <a:ea typeface="Helvetica Neue"/>
                <a:cs typeface="Helvetica Neue"/>
                <a:sym typeface="Helvetica Neue"/>
              </a:rPr>
              <a:t>Necesidad</a:t>
            </a:r>
            <a:endParaRPr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Algo que apetezca.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u="sng">
                <a:solidFill>
                  <a:schemeClr val="dk1"/>
                </a:solidFill>
                <a:latin typeface="Helvetica Neue"/>
                <a:ea typeface="Helvetica Neue"/>
                <a:cs typeface="Helvetica Neue"/>
                <a:sym typeface="Helvetica Neue"/>
              </a:rPr>
              <a:t>The Lokal</a:t>
            </a:r>
            <a:endParaRPr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Helado / dulce.</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DESCUBRIMIENTO</a:t>
            </a:r>
            <a:r>
              <a:rPr lang="en-US" sz="900">
                <a:solidFill>
                  <a:schemeClr val="dk1"/>
                </a:solidFill>
                <a:latin typeface="Helvetica Neue"/>
                <a:ea typeface="Helvetica Neue"/>
                <a:cs typeface="Helvetica Neue"/>
                <a:sym typeface="Helvetica Neue"/>
              </a:rPr>
              <a:t> - PROBAR</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u="sng">
                <a:solidFill>
                  <a:schemeClr val="dk1"/>
                </a:solidFill>
                <a:latin typeface="Helvetica Neue"/>
                <a:ea typeface="Helvetica Neue"/>
                <a:cs typeface="Helvetica Neue"/>
                <a:sym typeface="Helvetica Neue"/>
              </a:rPr>
              <a:t>Situación</a:t>
            </a:r>
            <a:endParaRPr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Nuevo producto, colaboración o temporada.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u="sng">
                <a:solidFill>
                  <a:schemeClr val="dk1"/>
                </a:solidFill>
                <a:latin typeface="Helvetica Neue"/>
                <a:ea typeface="Helvetica Neue"/>
                <a:cs typeface="Helvetica Neue"/>
                <a:sym typeface="Helvetica Neue"/>
              </a:rPr>
              <a:t>Necesidad</a:t>
            </a:r>
            <a:endParaRPr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Salir de la rutina.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u="sng">
                <a:solidFill>
                  <a:schemeClr val="dk1"/>
                </a:solidFill>
                <a:latin typeface="Helvetica Neue"/>
                <a:ea typeface="Helvetica Neue"/>
                <a:cs typeface="Helvetica Neue"/>
                <a:sym typeface="Helvetica Neue"/>
              </a:rPr>
              <a:t>The Lokal</a:t>
            </a:r>
            <a:endParaRPr sz="900" u="sng">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Drop / edición limitada / nuevo sabor.</a:t>
            </a:r>
            <a:endParaRPr sz="900">
              <a:solidFill>
                <a:schemeClr val="dk1"/>
              </a:solidFill>
              <a:latin typeface="Helvetica Neue"/>
              <a:ea typeface="Helvetica Neue"/>
              <a:cs typeface="Helvetica Neue"/>
              <a:sym typeface="Helvetica Neue"/>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h717b898b6c2593fb_0_24"/>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404" name="Google Shape;404;h717b898b6c2593fb_0_24"/>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405" name="Google Shape;405;h717b898b6c2593fb_0_24"/>
          <p:cNvSpPr txBox="1"/>
          <p:nvPr/>
        </p:nvSpPr>
        <p:spPr>
          <a:xfrm>
            <a:off x="440925" y="994799"/>
            <a:ext cx="5467815" cy="963622"/>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2200"/>
              <a:buFont typeface="Arial"/>
              <a:buNone/>
            </a:pPr>
            <a:r>
              <a:rPr lang="en-US" sz="2200">
                <a:latin typeface="Epilogue"/>
                <a:ea typeface="Epilogue"/>
                <a:cs typeface="Epilogue"/>
                <a:sym typeface="Epilogue"/>
              </a:rPr>
              <a:t>6. Comunidad y lifestyle</a:t>
            </a:r>
            <a:endParaRPr b="0" i="0" sz="2200" u="none" cap="none" strike="noStrike">
              <a:solidFill>
                <a:srgbClr val="000000"/>
              </a:solidFill>
              <a:latin typeface="Arial"/>
              <a:ea typeface="Arial"/>
              <a:cs typeface="Arial"/>
              <a:sym typeface="Arial"/>
            </a:endParaRPr>
          </a:p>
        </p:txBody>
      </p:sp>
      <p:sp>
        <p:nvSpPr>
          <p:cNvPr id="406" name="Google Shape;406;h717b898b6c2593fb_0_24"/>
          <p:cNvSpPr txBox="1"/>
          <p:nvPr/>
        </p:nvSpPr>
        <p:spPr>
          <a:xfrm>
            <a:off x="440925" y="2194655"/>
            <a:ext cx="6678082" cy="408430"/>
          </a:xfrm>
          <a:prstGeom prst="rect">
            <a:avLst/>
          </a:prstGeom>
          <a:noFill/>
          <a:ln>
            <a:noFill/>
          </a:ln>
        </p:spPr>
        <p:txBody>
          <a:bodyPr anchorCtr="0" anchor="t" bIns="0" lIns="0" spcFirstLastPara="1" rIns="0" wrap="square" tIns="0">
            <a:spAutoFit/>
          </a:bodyPr>
          <a:lstStyle/>
          <a:p>
            <a:pPr indent="-44450" lvl="0" marL="85725" marR="0" rtl="0" algn="l">
              <a:lnSpc>
                <a:spcPct val="100000"/>
              </a:lnSpc>
              <a:spcBef>
                <a:spcPts val="0"/>
              </a:spcBef>
              <a:spcAft>
                <a:spcPts val="0"/>
              </a:spcAft>
              <a:buClr>
                <a:srgbClr val="000000"/>
              </a:buClr>
              <a:buSzPts val="1400"/>
              <a:buFont typeface="Epilogue"/>
              <a:buAutoNum type="alphaLcPeriod"/>
            </a:pPr>
            <a:r>
              <a:rPr lang="en-US" sz="1200">
                <a:latin typeface="Epilogue"/>
                <a:ea typeface="Epilogue"/>
                <a:cs typeface="Epilogue"/>
                <a:sym typeface="Epilogue"/>
              </a:rPr>
              <a:t>Contexto</a:t>
            </a:r>
            <a:endParaRPr b="0" i="0" sz="2400" u="none" cap="none" strike="noStrike">
              <a:solidFill>
                <a:srgbClr val="000000"/>
              </a:solidFill>
              <a:latin typeface="Arial"/>
              <a:ea typeface="Arial"/>
              <a:cs typeface="Arial"/>
              <a:sym typeface="Arial"/>
            </a:endParaRPr>
          </a:p>
        </p:txBody>
      </p:sp>
      <p:sp>
        <p:nvSpPr>
          <p:cNvPr id="407" name="Google Shape;407;h717b898b6c2593fb_0_24"/>
          <p:cNvSpPr txBox="1"/>
          <p:nvPr/>
        </p:nvSpPr>
        <p:spPr>
          <a:xfrm>
            <a:off x="578214" y="2720218"/>
            <a:ext cx="6678082" cy="3415342"/>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La comunidad The Lokal no debe construirse alrededor de una edad, una profesión o un perfil demográfico concreto.</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Debe construirse alrededor de una forma de vivir.</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Personas que quieren cuidarse sin complicarse. Personas curiosas. Personas activas. Personas conectadas con su entorno. Personas interesadas en descubrir cosas nuevas. Personas que valoran los pequeños momentos del día.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La comunidad no es una audiencia a la que hablar. Es un conjunto de personas que pueden encontrarse alrededor de intereses y comportamientos compartidos.</a:t>
            </a:r>
            <a:endParaRPr sz="900">
              <a:solidFill>
                <a:schemeClr val="dk1"/>
              </a:solidFill>
              <a:latin typeface="Helvetica Neue"/>
              <a:ea typeface="Helvetica Neue"/>
              <a:cs typeface="Helvetica Neue"/>
              <a:sym typeface="Helvetica Neue"/>
            </a:endParaRPr>
          </a:p>
        </p:txBody>
      </p:sp>
      <p:sp>
        <p:nvSpPr>
          <p:cNvPr id="408" name="Google Shape;408;h717b898b6c2593fb_0_24"/>
          <p:cNvSpPr/>
          <p:nvPr/>
        </p:nvSpPr>
        <p:spPr>
          <a:xfrm>
            <a:off x="5908774" y="758558"/>
            <a:ext cx="1474774" cy="1526316"/>
          </a:xfrm>
          <a:custGeom>
            <a:rect b="b" l="l" r="r" t="t"/>
            <a:pathLst>
              <a:path extrusionOk="0" h="600714" w="600714">
                <a:moveTo>
                  <a:pt x="0" y="0"/>
                </a:moveTo>
                <a:lnTo>
                  <a:pt x="600715" y="0"/>
                </a:lnTo>
                <a:lnTo>
                  <a:pt x="600715" y="600714"/>
                </a:lnTo>
                <a:lnTo>
                  <a:pt x="0" y="600714"/>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h717b898b6c2593fb_0_33"/>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414" name="Google Shape;414;h717b898b6c2593fb_0_33"/>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415" name="Google Shape;415;h717b898b6c2593fb_0_33"/>
          <p:cNvSpPr txBox="1"/>
          <p:nvPr/>
        </p:nvSpPr>
        <p:spPr>
          <a:xfrm>
            <a:off x="373007" y="1089295"/>
            <a:ext cx="6678082" cy="350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b. Perfil de la comunidad </a:t>
            </a:r>
            <a:endParaRPr b="0" i="0" sz="2400" u="none" cap="none" strike="noStrike">
              <a:solidFill>
                <a:srgbClr val="000000"/>
              </a:solidFill>
              <a:latin typeface="Arial"/>
              <a:ea typeface="Arial"/>
              <a:cs typeface="Arial"/>
              <a:sym typeface="Arial"/>
            </a:endParaRPr>
          </a:p>
        </p:txBody>
      </p:sp>
      <p:sp>
        <p:nvSpPr>
          <p:cNvPr id="416" name="Google Shape;416;h717b898b6c2593fb_0_33"/>
          <p:cNvSpPr txBox="1"/>
          <p:nvPr/>
        </p:nvSpPr>
        <p:spPr>
          <a:xfrm>
            <a:off x="440959" y="1770528"/>
            <a:ext cx="6843015" cy="735515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MOVE</a:t>
            </a:r>
            <a:r>
              <a:rPr lang="en-US" sz="900">
                <a:solidFill>
                  <a:schemeClr val="dk1"/>
                </a:solidFill>
                <a:latin typeface="Helvetica Neue"/>
                <a:ea typeface="Helvetica Neue"/>
                <a:cs typeface="Helvetica Neue"/>
                <a:sym typeface="Helvetica Neue"/>
              </a:rPr>
              <a:t>: Personas que incorporan movimiento y deporte a su rutina.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CARE</a:t>
            </a:r>
            <a:r>
              <a:rPr lang="en-US" sz="900">
                <a:solidFill>
                  <a:schemeClr val="dk1"/>
                </a:solidFill>
                <a:latin typeface="Helvetica Neue"/>
                <a:ea typeface="Helvetica Neue"/>
                <a:cs typeface="Helvetica Neue"/>
                <a:sym typeface="Helvetica Neue"/>
              </a:rPr>
              <a:t>: Personas que prestan atención a cómo comen y cómo viven.</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DISCOVER</a:t>
            </a:r>
            <a:r>
              <a:rPr lang="en-US" sz="900">
                <a:solidFill>
                  <a:schemeClr val="dk1"/>
                </a:solidFill>
                <a:latin typeface="Helvetica Neue"/>
                <a:ea typeface="Helvetica Neue"/>
                <a:cs typeface="Helvetica Neue"/>
                <a:sym typeface="Helvetica Neue"/>
              </a:rPr>
              <a:t>: Personas curiosas, abiertas a nuevos sabores, culturas e ideas.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CONNECT</a:t>
            </a:r>
            <a:r>
              <a:rPr lang="en-US" sz="900">
                <a:solidFill>
                  <a:schemeClr val="dk1"/>
                </a:solidFill>
                <a:latin typeface="Helvetica Neue"/>
                <a:ea typeface="Helvetica Neue"/>
                <a:cs typeface="Helvetica Neue"/>
                <a:sym typeface="Helvetica Neue"/>
              </a:rPr>
              <a:t>: Personas que valoran el encuentro y la pertenencia.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LOCAL</a:t>
            </a:r>
            <a:r>
              <a:rPr lang="en-US" sz="900">
                <a:solidFill>
                  <a:schemeClr val="dk1"/>
                </a:solidFill>
                <a:latin typeface="Helvetica Neue"/>
                <a:ea typeface="Helvetica Neue"/>
                <a:cs typeface="Helvetica Neue"/>
                <a:sym typeface="Helvetica Neue"/>
              </a:rPr>
              <a:t>: Personas conectadas con su barrio y su entorno.</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WORLD</a:t>
            </a:r>
            <a:r>
              <a:rPr lang="en-US" sz="900">
                <a:solidFill>
                  <a:schemeClr val="dk1"/>
                </a:solidFill>
                <a:latin typeface="Helvetica Neue"/>
                <a:ea typeface="Helvetica Neue"/>
                <a:cs typeface="Helvetica Neue"/>
                <a:sym typeface="Helvetica Neue"/>
              </a:rPr>
              <a:t>: Personas abiertas a otras culturas y formas de hacer.</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The Lokal puede construir comunidad conectándose con universos que ya forman parte de la vida de sus consumidores: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DEPORTE</a:t>
            </a:r>
            <a:r>
              <a:rPr lang="en-US" sz="900">
                <a:solidFill>
                  <a:schemeClr val="dk1"/>
                </a:solidFill>
                <a:latin typeface="Helvetica Neue"/>
                <a:ea typeface="Helvetica Neue"/>
                <a:cs typeface="Helvetica Neue"/>
                <a:sym typeface="Helvetica Neue"/>
              </a:rPr>
              <a:t>: Running, cycling, entrenamiento, movimiento.</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GASTRONOMÍA</a:t>
            </a:r>
            <a:r>
              <a:rPr lang="en-US" sz="900">
                <a:solidFill>
                  <a:schemeClr val="dk1"/>
                </a:solidFill>
                <a:latin typeface="Helvetica Neue"/>
                <a:ea typeface="Helvetica Neue"/>
                <a:cs typeface="Helvetica Neue"/>
                <a:sym typeface="Helvetica Neue"/>
              </a:rPr>
              <a:t>: Producto, productores, recetas, origen.</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MÚSICA</a:t>
            </a:r>
            <a:r>
              <a:rPr lang="en-US" sz="900">
                <a:solidFill>
                  <a:schemeClr val="dk1"/>
                </a:solidFill>
                <a:latin typeface="Helvetica Neue"/>
                <a:ea typeface="Helvetica Neue"/>
                <a:cs typeface="Helvetica Neue"/>
                <a:sym typeface="Helvetica Neue"/>
              </a:rPr>
              <a:t>: Playlists, sesiones, colaboraciones.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BARCELONA</a:t>
            </a:r>
            <a:r>
              <a:rPr lang="en-US" sz="900">
                <a:solidFill>
                  <a:schemeClr val="dk1"/>
                </a:solidFill>
                <a:latin typeface="Helvetica Neue"/>
                <a:ea typeface="Helvetica Neue"/>
                <a:cs typeface="Helvetica Neue"/>
                <a:sym typeface="Helvetica Neue"/>
              </a:rPr>
              <a:t>: Barrio, cultura, personas y proyectos locales.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VIAJES Y CULTURAS: </a:t>
            </a:r>
            <a:r>
              <a:rPr lang="en-US" sz="900">
                <a:solidFill>
                  <a:schemeClr val="dk1"/>
                </a:solidFill>
                <a:latin typeface="Helvetica Neue"/>
                <a:ea typeface="Helvetica Neue"/>
                <a:cs typeface="Helvetica Neue"/>
                <a:sym typeface="Helvetica Neue"/>
              </a:rPr>
              <a:t>Ingredientes, sabores e historias de otros lugares.</a:t>
            </a:r>
            <a:endParaRPr sz="900">
              <a:solidFill>
                <a:schemeClr val="dk1"/>
              </a:solidFill>
              <a:latin typeface="Helvetica Neue"/>
              <a:ea typeface="Helvetica Neue"/>
              <a:cs typeface="Helvetica Neue"/>
              <a:sym typeface="Helvetica Neue"/>
            </a:endParaRPr>
          </a:p>
        </p:txBody>
      </p:sp>
      <p:sp>
        <p:nvSpPr>
          <p:cNvPr id="417" name="Google Shape;417;h717b898b6c2593fb_0_33"/>
          <p:cNvSpPr txBox="1"/>
          <p:nvPr/>
        </p:nvSpPr>
        <p:spPr>
          <a:xfrm>
            <a:off x="440970" y="5646017"/>
            <a:ext cx="6678082" cy="350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c. </a:t>
            </a:r>
            <a:r>
              <a:rPr lang="en-US" sz="1200">
                <a:latin typeface="Epilogue"/>
                <a:ea typeface="Epilogue"/>
                <a:cs typeface="Epilogue"/>
                <a:sym typeface="Epilogue"/>
              </a:rPr>
              <a:t>Códigos</a:t>
            </a:r>
            <a:r>
              <a:rPr lang="en-US" sz="1200">
                <a:latin typeface="Epilogue"/>
                <a:ea typeface="Epilogue"/>
                <a:cs typeface="Epilogue"/>
                <a:sym typeface="Epilogue"/>
              </a:rPr>
              <a:t> culturales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h717b898b6c2593fb_0_43"/>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423" name="Google Shape;423;h717b898b6c2593fb_0_43"/>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424" name="Google Shape;424;h717b898b6c2593fb_0_43"/>
          <p:cNvSpPr txBox="1"/>
          <p:nvPr/>
        </p:nvSpPr>
        <p:spPr>
          <a:xfrm>
            <a:off x="373007" y="1089295"/>
            <a:ext cx="6678082" cy="350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d. Conductores de conducta</a:t>
            </a:r>
            <a:endParaRPr b="0" i="0" sz="2400" u="none" cap="none" strike="noStrike">
              <a:solidFill>
                <a:srgbClr val="000000"/>
              </a:solidFill>
              <a:latin typeface="Arial"/>
              <a:ea typeface="Arial"/>
              <a:cs typeface="Arial"/>
              <a:sym typeface="Arial"/>
            </a:endParaRPr>
          </a:p>
        </p:txBody>
      </p:sp>
      <p:sp>
        <p:nvSpPr>
          <p:cNvPr id="425" name="Google Shape;425;h717b898b6c2593fb_0_43"/>
          <p:cNvSpPr txBox="1"/>
          <p:nvPr/>
        </p:nvSpPr>
        <p:spPr>
          <a:xfrm>
            <a:off x="358492" y="1567451"/>
            <a:ext cx="6843015" cy="735515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La comunidad debe generar comportamientos concretos: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VOLVER</a:t>
            </a:r>
            <a:r>
              <a:rPr lang="en-US" sz="900">
                <a:solidFill>
                  <a:schemeClr val="dk1"/>
                </a:solidFill>
                <a:latin typeface="Helvetica Neue"/>
                <a:ea typeface="Helvetica Neue"/>
                <a:cs typeface="Helvetica Neue"/>
                <a:sym typeface="Helvetica Neue"/>
              </a:rPr>
              <a:t>: Productos que forman parte de la rutina.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PROBAR</a:t>
            </a:r>
            <a:r>
              <a:rPr lang="en-US" sz="900">
                <a:solidFill>
                  <a:schemeClr val="dk1"/>
                </a:solidFill>
                <a:latin typeface="Helvetica Neue"/>
                <a:ea typeface="Helvetica Neue"/>
                <a:cs typeface="Helvetica Neue"/>
                <a:sym typeface="Helvetica Neue"/>
              </a:rPr>
              <a:t>: Nuevos sabores y productos temporales.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COMPARTIR</a:t>
            </a:r>
            <a:r>
              <a:rPr lang="en-US" sz="900">
                <a:solidFill>
                  <a:schemeClr val="dk1"/>
                </a:solidFill>
                <a:latin typeface="Helvetica Neue"/>
                <a:ea typeface="Helvetica Neue"/>
                <a:cs typeface="Helvetica Neue"/>
                <a:sym typeface="Helvetica Neue"/>
              </a:rPr>
              <a:t>: Colaboraciones y experiencias.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PARTICIPAR</a:t>
            </a:r>
            <a:r>
              <a:rPr lang="en-US" sz="900">
                <a:solidFill>
                  <a:schemeClr val="dk1"/>
                </a:solidFill>
                <a:latin typeface="Helvetica Neue"/>
                <a:ea typeface="Helvetica Neue"/>
                <a:cs typeface="Helvetica Neue"/>
                <a:sym typeface="Helvetica Neue"/>
              </a:rPr>
              <a:t>: Eventos y actividades.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LLEVAR</a:t>
            </a:r>
            <a:r>
              <a:rPr lang="en-US" sz="900">
                <a:solidFill>
                  <a:schemeClr val="dk1"/>
                </a:solidFill>
                <a:latin typeface="Helvetica Neue"/>
                <a:ea typeface="Helvetica Neue"/>
                <a:cs typeface="Helvetica Neue"/>
                <a:sym typeface="Helvetica Neue"/>
              </a:rPr>
              <a:t>: Packaging y merchandising que extienden la marca.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RECOMENDAR</a:t>
            </a:r>
            <a:r>
              <a:rPr lang="en-US" sz="900">
                <a:solidFill>
                  <a:schemeClr val="dk1"/>
                </a:solidFill>
                <a:latin typeface="Helvetica Neue"/>
                <a:ea typeface="Helvetica Neue"/>
                <a:cs typeface="Helvetica Neue"/>
                <a:sym typeface="Helvetica Neue"/>
              </a:rPr>
              <a:t>: Una experiencia suficientemente reconocible como para querer compartirla.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DROPS</a:t>
            </a:r>
            <a:r>
              <a:rPr lang="en-US" sz="900">
                <a:solidFill>
                  <a:schemeClr val="dk1"/>
                </a:solidFill>
                <a:latin typeface="Helvetica Neue"/>
                <a:ea typeface="Helvetica Neue"/>
                <a:cs typeface="Helvetica Neue"/>
                <a:sym typeface="Helvetica Neue"/>
              </a:rPr>
              <a:t>: Productos limitados que generan expectativa y repetición.</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COLABORACIONES</a:t>
            </a:r>
            <a:r>
              <a:rPr lang="en-US" sz="900">
                <a:solidFill>
                  <a:schemeClr val="dk1"/>
                </a:solidFill>
                <a:latin typeface="Helvetica Neue"/>
                <a:ea typeface="Helvetica Neue"/>
                <a:cs typeface="Helvetica Neue"/>
                <a:sym typeface="Helvetica Neue"/>
              </a:rPr>
              <a:t>: Con productores, marcas, artistas, deportistas o proyectos locales.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ACTIVIDAD</a:t>
            </a:r>
            <a:r>
              <a:rPr lang="en-US" sz="900">
                <a:solidFill>
                  <a:schemeClr val="dk1"/>
                </a:solidFill>
                <a:latin typeface="Helvetica Neue"/>
                <a:ea typeface="Helvetica Neue"/>
                <a:cs typeface="Helvetica Neue"/>
                <a:sym typeface="Helvetica Neue"/>
              </a:rPr>
              <a:t>: Running clubs, encuentros, paseos, deporte y otras actividades vinculadas al estilo de vida de la comunidad.</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PRODUCTO</a:t>
            </a:r>
            <a:r>
              <a:rPr lang="en-US" sz="900">
                <a:solidFill>
                  <a:schemeClr val="dk1"/>
                </a:solidFill>
                <a:latin typeface="Helvetica Neue"/>
                <a:ea typeface="Helvetica Neue"/>
                <a:cs typeface="Helvetica Neue"/>
                <a:sym typeface="Helvetica Neue"/>
              </a:rPr>
              <a:t>: Sabores y productos desarrollados específicamente para determinados grupos o colaboraciones.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p:txBody>
      </p:sp>
      <p:sp>
        <p:nvSpPr>
          <p:cNvPr id="426" name="Google Shape;426;h717b898b6c2593fb_0_43"/>
          <p:cNvSpPr txBox="1"/>
          <p:nvPr/>
        </p:nvSpPr>
        <p:spPr>
          <a:xfrm>
            <a:off x="373056" y="5529460"/>
            <a:ext cx="6678082" cy="350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e. Rituales y momentos de comunidad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h717b898b6c2593fb_0_51"/>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432" name="Google Shape;432;h717b898b6c2593fb_0_51"/>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433" name="Google Shape;433;h717b898b6c2593fb_0_51"/>
          <p:cNvSpPr txBox="1"/>
          <p:nvPr/>
        </p:nvSpPr>
        <p:spPr>
          <a:xfrm>
            <a:off x="358492" y="1229083"/>
            <a:ext cx="6843015" cy="6303934"/>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OBJETOS</a:t>
            </a:r>
            <a:r>
              <a:rPr lang="en-US" sz="900">
                <a:solidFill>
                  <a:schemeClr val="dk1"/>
                </a:solidFill>
                <a:latin typeface="Helvetica Neue"/>
                <a:ea typeface="Helvetica Neue"/>
                <a:cs typeface="Helvetica Neue"/>
                <a:sym typeface="Helvetica Neue"/>
              </a:rPr>
              <a:t>: Stickers, bolsas, prendas y otros códigos que permitan llevar The Lokal fuera del local.</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CONTENIDO</a:t>
            </a:r>
            <a:r>
              <a:rPr lang="en-US" sz="900">
                <a:solidFill>
                  <a:schemeClr val="dk1"/>
                </a:solidFill>
                <a:latin typeface="Helvetica Neue"/>
                <a:ea typeface="Helvetica Neue"/>
                <a:cs typeface="Helvetica Neue"/>
                <a:sym typeface="Helvetica Neue"/>
              </a:rPr>
              <a:t>: Historias de producto, productores, ingredientes, personas y cultura local.</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La comunidad no necesita un calendario constante de eventos. Necesita suficientes motivos para volver a encontrarse.</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i="1" lang="en-US" sz="900">
                <a:solidFill>
                  <a:schemeClr val="dk1"/>
                </a:solidFill>
                <a:latin typeface="Helvetica Neue"/>
                <a:ea typeface="Helvetica Neue"/>
                <a:cs typeface="Helvetica Neue"/>
                <a:sym typeface="Helvetica Neue"/>
              </a:rPr>
              <a:t>LA COMUNIDAD NO ES UN FORMATO. ES UN ECOSISTEMA.</a:t>
            </a:r>
            <a:endParaRPr i="1"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No buscamos construir una “comunidad The Lokal” de manera artificial. </a:t>
            </a:r>
            <a:r>
              <a:rPr b="1" lang="en-US" sz="900">
                <a:solidFill>
                  <a:schemeClr val="dk1"/>
                </a:solidFill>
                <a:latin typeface="Helvetica Neue"/>
                <a:ea typeface="Helvetica Neue"/>
                <a:cs typeface="Helvetica Neue"/>
                <a:sym typeface="Helvetica Neue"/>
              </a:rPr>
              <a:t>Buscamos crear suficientes motivos para que las personas que comparten una determinada manera de vivir se encuentren alrededor de la marca.</a:t>
            </a:r>
            <a:endParaRPr b="1"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b="1"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El local es uno de esos puntos de contacto. Pero no tiene por qué ser el único. La comunidad puede existir alrededor de:</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un producto, una actividad, un sabor, una colaboración, un objeto,</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un contenido o un ritual.</a:t>
            </a:r>
            <a:endParaRPr sz="900">
              <a:solidFill>
                <a:schemeClr val="dk1"/>
              </a:solidFill>
              <a:latin typeface="Helvetica Neue"/>
              <a:ea typeface="Helvetica Neue"/>
              <a:cs typeface="Helvetica Neue"/>
              <a:sym typeface="Helvetica Neue"/>
            </a:endParaRPr>
          </a:p>
        </p:txBody>
      </p:sp>
      <p:sp>
        <p:nvSpPr>
          <p:cNvPr id="434" name="Google Shape;434;h717b898b6c2593fb_0_51"/>
          <p:cNvSpPr txBox="1"/>
          <p:nvPr/>
        </p:nvSpPr>
        <p:spPr>
          <a:xfrm>
            <a:off x="373056" y="4349571"/>
            <a:ext cx="6678082" cy="3504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latin typeface="Epilogue"/>
                <a:ea typeface="Epilogue"/>
                <a:cs typeface="Epilogue"/>
                <a:sym typeface="Epilogue"/>
              </a:rPr>
              <a:t>f. Oportunidad de comunidad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h717b898b6c2593fb_0_59"/>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440" name="Google Shape;440;h717b898b6c2593fb_0_59"/>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441" name="Google Shape;441;h717b898b6c2593fb_0_59"/>
          <p:cNvSpPr txBox="1"/>
          <p:nvPr/>
        </p:nvSpPr>
        <p:spPr>
          <a:xfrm>
            <a:off x="440959" y="994814"/>
            <a:ext cx="5300000" cy="1444865"/>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2200"/>
              <a:buFont typeface="Arial"/>
              <a:buNone/>
            </a:pPr>
            <a:r>
              <a:rPr lang="en-US" sz="2200">
                <a:latin typeface="Epilogue"/>
                <a:ea typeface="Epilogue"/>
                <a:cs typeface="Epilogue"/>
                <a:sym typeface="Epilogue"/>
              </a:rPr>
              <a:t>7. Como se hace realidad la experiencia</a:t>
            </a:r>
            <a:endParaRPr b="0" i="0" sz="2200" u="none" cap="none" strike="noStrike">
              <a:solidFill>
                <a:srgbClr val="000000"/>
              </a:solidFill>
              <a:latin typeface="Arial"/>
              <a:ea typeface="Arial"/>
              <a:cs typeface="Arial"/>
              <a:sym typeface="Arial"/>
            </a:endParaRPr>
          </a:p>
        </p:txBody>
      </p:sp>
      <p:sp>
        <p:nvSpPr>
          <p:cNvPr id="442" name="Google Shape;442;h717b898b6c2593fb_0_59"/>
          <p:cNvSpPr txBox="1"/>
          <p:nvPr/>
        </p:nvSpPr>
        <p:spPr>
          <a:xfrm>
            <a:off x="440925" y="2600681"/>
            <a:ext cx="6678082" cy="408430"/>
          </a:xfrm>
          <a:prstGeom prst="rect">
            <a:avLst/>
          </a:prstGeom>
          <a:noFill/>
          <a:ln>
            <a:noFill/>
          </a:ln>
        </p:spPr>
        <p:txBody>
          <a:bodyPr anchorCtr="0" anchor="t" bIns="0" lIns="0" spcFirstLastPara="1" rIns="0" wrap="square" tIns="0">
            <a:spAutoFit/>
          </a:bodyPr>
          <a:lstStyle/>
          <a:p>
            <a:pPr indent="-44450" lvl="0" marL="85725" marR="0" rtl="0" algn="l">
              <a:lnSpc>
                <a:spcPct val="100000"/>
              </a:lnSpc>
              <a:spcBef>
                <a:spcPts val="0"/>
              </a:spcBef>
              <a:spcAft>
                <a:spcPts val="0"/>
              </a:spcAft>
              <a:buClr>
                <a:srgbClr val="000000"/>
              </a:buClr>
              <a:buSzPts val="1400"/>
              <a:buFont typeface="Epilogue"/>
              <a:buAutoNum type="alphaLcPeriod"/>
            </a:pPr>
            <a:r>
              <a:rPr lang="en-US" sz="1200">
                <a:latin typeface="Epilogue"/>
                <a:ea typeface="Epilogue"/>
                <a:cs typeface="Epilogue"/>
                <a:sym typeface="Epilogue"/>
              </a:rPr>
              <a:t>Aplicación a la experiencia</a:t>
            </a:r>
            <a:endParaRPr b="0" i="0" sz="2400" u="none" cap="none" strike="noStrike">
              <a:solidFill>
                <a:srgbClr val="000000"/>
              </a:solidFill>
              <a:latin typeface="Arial"/>
              <a:ea typeface="Arial"/>
              <a:cs typeface="Arial"/>
              <a:sym typeface="Arial"/>
            </a:endParaRPr>
          </a:p>
        </p:txBody>
      </p:sp>
      <p:sp>
        <p:nvSpPr>
          <p:cNvPr id="443" name="Google Shape;443;h717b898b6c2593fb_0_59"/>
          <p:cNvSpPr txBox="1"/>
          <p:nvPr/>
        </p:nvSpPr>
        <p:spPr>
          <a:xfrm>
            <a:off x="578214" y="3126244"/>
            <a:ext cx="6678082" cy="6496556"/>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La experiencia debe responder a cinco principios: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RECONOCER</a:t>
            </a:r>
            <a:r>
              <a:rPr lang="en-US" sz="900">
                <a:solidFill>
                  <a:schemeClr val="dk1"/>
                </a:solidFill>
                <a:latin typeface="Helvetica Neue"/>
                <a:ea typeface="Helvetica Neue"/>
                <a:cs typeface="Helvetica Neue"/>
                <a:sym typeface="Helvetica Neue"/>
              </a:rPr>
              <a:t>: Saber quién vuelve.</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ORIENTAR</a:t>
            </a:r>
            <a:r>
              <a:rPr lang="en-US" sz="900">
                <a:solidFill>
                  <a:schemeClr val="dk1"/>
                </a:solidFill>
                <a:latin typeface="Helvetica Neue"/>
                <a:ea typeface="Helvetica Neue"/>
                <a:cs typeface="Helvetica Neue"/>
                <a:sym typeface="Helvetica Neue"/>
              </a:rPr>
              <a:t>: Ayudar a elegir sin sobre- explicar.</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RECOMENDAR</a:t>
            </a:r>
            <a:r>
              <a:rPr lang="en-US" sz="900">
                <a:solidFill>
                  <a:schemeClr val="dk1"/>
                </a:solidFill>
                <a:latin typeface="Helvetica Neue"/>
                <a:ea typeface="Helvetica Neue"/>
                <a:cs typeface="Helvetica Neue"/>
                <a:sym typeface="Helvetica Neue"/>
              </a:rPr>
              <a:t>: Proponer desde el conocimiento del producto, no desde la venta.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FACILITAR</a:t>
            </a:r>
            <a:r>
              <a:rPr lang="en-US" sz="900">
                <a:solidFill>
                  <a:schemeClr val="dk1"/>
                </a:solidFill>
                <a:latin typeface="Helvetica Neue"/>
                <a:ea typeface="Helvetica Neue"/>
                <a:cs typeface="Helvetica Neue"/>
                <a:sym typeface="Helvetica Neue"/>
              </a:rPr>
              <a:t>: Hacer que comprar y llevarse el producto sea sencillo.</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SORPRENDER</a:t>
            </a:r>
            <a:r>
              <a:rPr lang="en-US" sz="900">
                <a:solidFill>
                  <a:schemeClr val="dk1"/>
                </a:solidFill>
                <a:latin typeface="Helvetica Neue"/>
                <a:ea typeface="Helvetica Neue"/>
                <a:cs typeface="Helvetica Neue"/>
                <a:sym typeface="Helvetica Neue"/>
              </a:rPr>
              <a:t>: Introducir pequeños elementos de descubrimiento.</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La cercanía no se comunica. Se demuestra. </a:t>
            </a:r>
            <a:r>
              <a:rPr lang="en-US" sz="900">
                <a:solidFill>
                  <a:schemeClr val="dk1"/>
                </a:solidFill>
                <a:latin typeface="Helvetica Neue"/>
                <a:ea typeface="Helvetica Neue"/>
                <a:cs typeface="Helvetica Neue"/>
                <a:sym typeface="Helvetica Neue"/>
              </a:rPr>
              <a:t>No se trata de crear un guión rígido. Se trata de crear una cultura de atención.</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AL LLEGAR </a:t>
            </a:r>
            <a:r>
              <a:rPr lang="en-US" sz="900">
                <a:solidFill>
                  <a:schemeClr val="dk1"/>
                </a:solidFill>
                <a:latin typeface="Helvetica Neue"/>
                <a:ea typeface="Helvetica Neue"/>
                <a:cs typeface="Helvetica Neue"/>
                <a:sym typeface="Helvetica Neue"/>
              </a:rPr>
              <a:t>- Mirar, saludar, reconocer.</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DURANTE LA ELECCIÓN</a:t>
            </a:r>
            <a:r>
              <a:rPr lang="en-US" sz="900">
                <a:solidFill>
                  <a:schemeClr val="dk1"/>
                </a:solidFill>
                <a:latin typeface="Helvetica Neue"/>
                <a:ea typeface="Helvetica Neue"/>
                <a:cs typeface="Helvetica Neue"/>
                <a:sym typeface="Helvetica Neue"/>
              </a:rPr>
              <a:t> - Preguntar según la situación:</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¿Vas para el trabajo? ¿Tienes 15 minutos? ¿Entrenas por aquí? ¿Te lo llevas?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US" sz="900">
                <a:solidFill>
                  <a:schemeClr val="dk1"/>
                </a:solidFill>
                <a:latin typeface="Helvetica Neue"/>
                <a:ea typeface="Helvetica Neue"/>
                <a:cs typeface="Helvetica Neue"/>
                <a:sym typeface="Helvetica Neue"/>
              </a:rPr>
              <a:t>AL FINAL </a:t>
            </a:r>
            <a:r>
              <a:rPr lang="en-US" sz="900">
                <a:solidFill>
                  <a:schemeClr val="dk1"/>
                </a:solidFill>
                <a:latin typeface="Helvetica Neue"/>
                <a:ea typeface="Helvetica Neue"/>
                <a:cs typeface="Helvetica Neue"/>
                <a:sym typeface="Helvetica Neue"/>
              </a:rPr>
              <a:t>- Cerrar la interacción:</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Disfrútalo. Que tengas buen día. Nos vemos. Hasta mañana.</a:t>
            </a:r>
            <a:endParaRPr sz="900">
              <a:solidFill>
                <a:schemeClr val="dk1"/>
              </a:solidFill>
              <a:latin typeface="Helvetica Neue"/>
              <a:ea typeface="Helvetica Neue"/>
              <a:cs typeface="Helvetica Neue"/>
              <a:sym typeface="Helvetica Neue"/>
            </a:endParaRPr>
          </a:p>
        </p:txBody>
      </p:sp>
      <p:sp>
        <p:nvSpPr>
          <p:cNvPr id="444" name="Google Shape;444;h717b898b6c2593fb_0_59"/>
          <p:cNvSpPr/>
          <p:nvPr/>
        </p:nvSpPr>
        <p:spPr>
          <a:xfrm>
            <a:off x="5908774" y="758558"/>
            <a:ext cx="1474774" cy="1526316"/>
          </a:xfrm>
          <a:custGeom>
            <a:rect b="b" l="l" r="r" t="t"/>
            <a:pathLst>
              <a:path extrusionOk="0" h="600714" w="600714">
                <a:moveTo>
                  <a:pt x="0" y="0"/>
                </a:moveTo>
                <a:lnTo>
                  <a:pt x="600715" y="0"/>
                </a:lnTo>
                <a:lnTo>
                  <a:pt x="600715" y="600714"/>
                </a:lnTo>
                <a:lnTo>
                  <a:pt x="0" y="600714"/>
                </a:lnTo>
                <a:lnTo>
                  <a:pt x="0" y="0"/>
                </a:lnTo>
                <a:close/>
              </a:path>
            </a:pathLst>
          </a:custGeom>
          <a:blipFill rotWithShape="1">
            <a:blip r:embed="rId4">
              <a:alphaModFix/>
            </a:blip>
            <a:stretch>
              <a:fillRect b="0" l="0" r="0" t="0"/>
            </a:stretch>
          </a:blipFill>
          <a:ln>
            <a:noFill/>
          </a:ln>
        </p:spPr>
      </p:sp>
      <p:sp>
        <p:nvSpPr>
          <p:cNvPr id="445" name="Google Shape;445;h717b898b6c2593fb_0_59"/>
          <p:cNvSpPr txBox="1"/>
          <p:nvPr/>
        </p:nvSpPr>
        <p:spPr>
          <a:xfrm>
            <a:off x="440925" y="6906622"/>
            <a:ext cx="6678082" cy="408430"/>
          </a:xfrm>
          <a:prstGeom prst="rect">
            <a:avLst/>
          </a:prstGeom>
          <a:noFill/>
          <a:ln>
            <a:noFill/>
          </a:ln>
        </p:spPr>
        <p:txBody>
          <a:bodyPr anchorCtr="0" anchor="t" bIns="0" lIns="0" spcFirstLastPara="1" rIns="0" wrap="square" tIns="0">
            <a:spAutoFit/>
          </a:bodyPr>
          <a:lstStyle/>
          <a:p>
            <a:pPr indent="-44450" lvl="0" marL="85725" marR="0" rtl="0" algn="l">
              <a:lnSpc>
                <a:spcPct val="100000"/>
              </a:lnSpc>
              <a:spcBef>
                <a:spcPts val="0"/>
              </a:spcBef>
              <a:spcAft>
                <a:spcPts val="0"/>
              </a:spcAft>
              <a:buClr>
                <a:srgbClr val="000000"/>
              </a:buClr>
              <a:buSzPts val="1400"/>
              <a:buFont typeface="Epilogue"/>
              <a:buAutoNum type="alphaLcPeriod"/>
            </a:pPr>
            <a:r>
              <a:rPr lang="en-US" sz="1200">
                <a:latin typeface="Epilogue"/>
                <a:ea typeface="Epilogue"/>
                <a:cs typeface="Epilogue"/>
                <a:sym typeface="Epilogue"/>
              </a:rPr>
              <a:t>Aplicación a la hospitalidad</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h717b898b6c2593fb_0_70"/>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451" name="Google Shape;451;h717b898b6c2593fb_0_70"/>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452" name="Google Shape;452;h717b898b6c2593fb_0_70"/>
          <p:cNvSpPr txBox="1"/>
          <p:nvPr/>
        </p:nvSpPr>
        <p:spPr>
          <a:xfrm>
            <a:off x="373007" y="1134484"/>
            <a:ext cx="6678082" cy="408430"/>
          </a:xfrm>
          <a:prstGeom prst="rect">
            <a:avLst/>
          </a:prstGeom>
          <a:noFill/>
          <a:ln>
            <a:noFill/>
          </a:ln>
        </p:spPr>
        <p:txBody>
          <a:bodyPr anchorCtr="0" anchor="t" bIns="0" lIns="0" spcFirstLastPara="1" rIns="0" wrap="square" tIns="0">
            <a:spAutoFit/>
          </a:bodyPr>
          <a:lstStyle/>
          <a:p>
            <a:pPr indent="-44450" lvl="0" marL="85725" marR="0" rtl="0" algn="l">
              <a:lnSpc>
                <a:spcPct val="100000"/>
              </a:lnSpc>
              <a:spcBef>
                <a:spcPts val="0"/>
              </a:spcBef>
              <a:spcAft>
                <a:spcPts val="0"/>
              </a:spcAft>
              <a:buClr>
                <a:srgbClr val="000000"/>
              </a:buClr>
              <a:buSzPts val="1400"/>
              <a:buFont typeface="Epilogue"/>
              <a:buAutoNum type="alphaLcPeriod"/>
            </a:pPr>
            <a:r>
              <a:rPr lang="en-US" sz="1200">
                <a:latin typeface="Epilogue"/>
                <a:ea typeface="Epilogue"/>
                <a:cs typeface="Epilogue"/>
                <a:sym typeface="Epilogue"/>
              </a:rPr>
              <a:t>Aplicación al producto</a:t>
            </a:r>
            <a:endParaRPr b="0" i="0" sz="2400" u="none" cap="none" strike="noStrike">
              <a:solidFill>
                <a:srgbClr val="000000"/>
              </a:solidFill>
              <a:latin typeface="Arial"/>
              <a:ea typeface="Arial"/>
              <a:cs typeface="Arial"/>
              <a:sym typeface="Arial"/>
            </a:endParaRPr>
          </a:p>
        </p:txBody>
      </p:sp>
      <p:sp>
        <p:nvSpPr>
          <p:cNvPr id="453" name="Google Shape;453;h717b898b6c2593fb_0_70"/>
          <p:cNvSpPr txBox="1"/>
          <p:nvPr/>
        </p:nvSpPr>
        <p:spPr>
          <a:xfrm>
            <a:off x="440959" y="1795338"/>
            <a:ext cx="6678082" cy="7827462"/>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L</a:t>
            </a:r>
            <a:r>
              <a:rPr lang="en-US" sz="900">
                <a:solidFill>
                  <a:schemeClr val="dk1"/>
                </a:solidFill>
                <a:latin typeface="Helvetica Neue"/>
                <a:ea typeface="Helvetica Neue"/>
                <a:cs typeface="Helvetica Neue"/>
                <a:sym typeface="Helvetica Neue"/>
              </a:rPr>
              <a:t>Cada producto The Lokal debe poder responder a cuatro preguntas:</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28575" lvl="0" marL="114300" rtl="0" algn="l">
              <a:spcBef>
                <a:spcPts val="0"/>
              </a:spcBef>
              <a:spcAft>
                <a:spcPts val="0"/>
              </a:spcAft>
              <a:buClr>
                <a:schemeClr val="dk1"/>
              </a:buClr>
              <a:buSzPts val="900"/>
              <a:buFont typeface="Helvetica Neue"/>
              <a:buAutoNum type="arabicPeriod"/>
            </a:pPr>
            <a:r>
              <a:rPr lang="en-US" sz="900">
                <a:solidFill>
                  <a:schemeClr val="dk1"/>
                </a:solidFill>
                <a:latin typeface="Helvetica Neue"/>
                <a:ea typeface="Helvetica Neue"/>
                <a:cs typeface="Helvetica Neue"/>
                <a:sym typeface="Helvetica Neue"/>
              </a:rPr>
              <a:t>¿QUÉ ES? Debe entenderse rápidamente.</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28575" lvl="0" marL="114300" rtl="0" algn="l">
              <a:spcBef>
                <a:spcPts val="0"/>
              </a:spcBef>
              <a:spcAft>
                <a:spcPts val="0"/>
              </a:spcAft>
              <a:buClr>
                <a:schemeClr val="dk1"/>
              </a:buClr>
              <a:buSzPts val="900"/>
              <a:buFont typeface="Helvetica Neue"/>
              <a:buAutoNum type="arabicPeriod"/>
            </a:pPr>
            <a:r>
              <a:rPr lang="en-US" sz="900">
                <a:solidFill>
                  <a:schemeClr val="dk1"/>
                </a:solidFill>
                <a:latin typeface="Helvetica Neue"/>
                <a:ea typeface="Helvetica Neue"/>
                <a:cs typeface="Helvetica Neue"/>
                <a:sym typeface="Helvetica Neue"/>
              </a:rPr>
              <a:t>¿QUÉ TIENE? Los ingredientes se comunican con claridad.</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28575" lvl="0" marL="114300" rtl="0" algn="l">
              <a:spcBef>
                <a:spcPts val="0"/>
              </a:spcBef>
              <a:spcAft>
                <a:spcPts val="0"/>
              </a:spcAft>
              <a:buClr>
                <a:schemeClr val="dk1"/>
              </a:buClr>
              <a:buSzPts val="900"/>
              <a:buFont typeface="Helvetica Neue"/>
              <a:buAutoNum type="arabicPeriod"/>
            </a:pPr>
            <a:r>
              <a:rPr lang="en-US" sz="900">
                <a:solidFill>
                  <a:schemeClr val="dk1"/>
                </a:solidFill>
                <a:latin typeface="Helvetica Neue"/>
                <a:ea typeface="Helvetica Neue"/>
                <a:cs typeface="Helvetica Neue"/>
                <a:sym typeface="Helvetica Neue"/>
              </a:rPr>
              <a:t>¿DE DÓNDE VIENE? Cuando el origen aporta valor, se cuenta.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28575" lvl="0" marL="114300" rtl="0" algn="l">
              <a:spcBef>
                <a:spcPts val="0"/>
              </a:spcBef>
              <a:spcAft>
                <a:spcPts val="0"/>
              </a:spcAft>
              <a:buClr>
                <a:schemeClr val="dk1"/>
              </a:buClr>
              <a:buSzPts val="900"/>
              <a:buFont typeface="Helvetica Neue"/>
              <a:buAutoNum type="arabicPeriod"/>
            </a:pPr>
            <a:r>
              <a:rPr lang="en-US" sz="900">
                <a:solidFill>
                  <a:schemeClr val="dk1"/>
                </a:solidFill>
                <a:latin typeface="Helvetica Neue"/>
                <a:ea typeface="Helvetica Neue"/>
                <a:cs typeface="Helvetica Neue"/>
                <a:sym typeface="Helvetica Neue"/>
              </a:rPr>
              <a:t>¿POR QUÉ ES THE LOKAL? Debe existir una combinación, interpretación o detalle propio.</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The Lokal no empieza hablando de sí misma. Empieza hablando de lo que está pasando en la vida de la persona.</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900">
                <a:solidFill>
                  <a:schemeClr val="dk1"/>
                </a:solidFill>
                <a:latin typeface="Helvetica Neue"/>
                <a:ea typeface="Helvetica Neue"/>
                <a:cs typeface="Helvetica Neue"/>
                <a:sym typeface="Helvetica Neue"/>
              </a:rPr>
              <a:t>La comunicación debe ser: cercana, directa, informada y con un pequeño guiño.</a:t>
            </a:r>
            <a:endParaRPr sz="900">
              <a:solidFill>
                <a:schemeClr val="dk1"/>
              </a:solidFill>
              <a:latin typeface="Helvetica Neue"/>
              <a:ea typeface="Helvetica Neue"/>
              <a:cs typeface="Helvetica Neue"/>
              <a:sym typeface="Helvetica Neue"/>
            </a:endParaRPr>
          </a:p>
        </p:txBody>
      </p:sp>
      <p:sp>
        <p:nvSpPr>
          <p:cNvPr id="454" name="Google Shape;454;h717b898b6c2593fb_0_70"/>
          <p:cNvSpPr txBox="1"/>
          <p:nvPr/>
        </p:nvSpPr>
        <p:spPr>
          <a:xfrm>
            <a:off x="373007" y="4869858"/>
            <a:ext cx="6678082" cy="408430"/>
          </a:xfrm>
          <a:prstGeom prst="rect">
            <a:avLst/>
          </a:prstGeom>
          <a:noFill/>
          <a:ln>
            <a:noFill/>
          </a:ln>
        </p:spPr>
        <p:txBody>
          <a:bodyPr anchorCtr="0" anchor="t" bIns="0" lIns="0" spcFirstLastPara="1" rIns="0" wrap="square" tIns="0">
            <a:spAutoFit/>
          </a:bodyPr>
          <a:lstStyle/>
          <a:p>
            <a:pPr indent="-44450" lvl="0" marL="85725" marR="0" rtl="0" algn="l">
              <a:lnSpc>
                <a:spcPct val="100000"/>
              </a:lnSpc>
              <a:spcBef>
                <a:spcPts val="0"/>
              </a:spcBef>
              <a:spcAft>
                <a:spcPts val="0"/>
              </a:spcAft>
              <a:buClr>
                <a:srgbClr val="000000"/>
              </a:buClr>
              <a:buSzPts val="1400"/>
              <a:buFont typeface="Epilogue"/>
              <a:buAutoNum type="alphaLcPeriod"/>
            </a:pPr>
            <a:r>
              <a:rPr lang="en-US" sz="1200">
                <a:latin typeface="Epilogue"/>
                <a:ea typeface="Epilogue"/>
                <a:cs typeface="Epilogue"/>
                <a:sym typeface="Epilogue"/>
              </a:rPr>
              <a:t>Aplicación a la comunicaci</a:t>
            </a:r>
            <a:r>
              <a:rPr lang="en-US" sz="1200">
                <a:latin typeface="Epilogue"/>
                <a:ea typeface="Epilogue"/>
                <a:cs typeface="Epilogue"/>
                <a:sym typeface="Epilogue"/>
              </a:rPr>
              <a:t>ón</a:t>
            </a:r>
            <a:endParaRPr b="0" i="0" sz="2400" u="none" cap="none" strike="noStrike">
              <a:solidFill>
                <a:srgbClr val="000000"/>
              </a:solidFill>
              <a:latin typeface="Arial"/>
              <a:ea typeface="Arial"/>
              <a:cs typeface="Arial"/>
              <a:sym typeface="Arial"/>
            </a:endParaRPr>
          </a:p>
        </p:txBody>
      </p:sp>
      <p:pic>
        <p:nvPicPr>
          <p:cNvPr id="455" name="Google Shape;455;h717b898b6c2593fb_0_70"/>
          <p:cNvPicPr preferRelativeResize="0"/>
          <p:nvPr/>
        </p:nvPicPr>
        <p:blipFill rotWithShape="1">
          <a:blip r:embed="rId4">
            <a:alphaModFix/>
          </a:blip>
          <a:srcRect b="-9" l="1980" r="0" t="10675"/>
          <a:stretch/>
        </p:blipFill>
        <p:spPr>
          <a:xfrm>
            <a:off x="721724" y="6361103"/>
            <a:ext cx="6103850" cy="286839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3fb5eb765e6_0_220"/>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461" name="Google Shape;461;g3fb5eb765e6_0_220"/>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462" name="Google Shape;462;g3fb5eb765e6_0_220"/>
          <p:cNvSpPr txBox="1"/>
          <p:nvPr/>
        </p:nvSpPr>
        <p:spPr>
          <a:xfrm>
            <a:off x="488983" y="974415"/>
            <a:ext cx="5467815" cy="128445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lang="en-US" sz="2200">
                <a:latin typeface="Epilogue"/>
                <a:ea typeface="Epilogue"/>
                <a:cs typeface="Epilogue"/>
                <a:sym typeface="Epilogue"/>
              </a:rPr>
              <a:t>8. Hoja de ruta de implantación </a:t>
            </a:r>
            <a:endParaRPr b="0" i="0" sz="2200" u="none" cap="none" strike="noStrike">
              <a:solidFill>
                <a:srgbClr val="000000"/>
              </a:solidFill>
              <a:latin typeface="Arial"/>
              <a:ea typeface="Arial"/>
              <a:cs typeface="Arial"/>
              <a:sym typeface="Arial"/>
            </a:endParaRPr>
          </a:p>
        </p:txBody>
      </p:sp>
      <p:sp>
        <p:nvSpPr>
          <p:cNvPr id="463" name="Google Shape;463;g3fb5eb765e6_0_220"/>
          <p:cNvSpPr/>
          <p:nvPr/>
        </p:nvSpPr>
        <p:spPr>
          <a:xfrm>
            <a:off x="5821473" y="758550"/>
            <a:ext cx="1736703" cy="1833860"/>
          </a:xfrm>
          <a:custGeom>
            <a:rect b="b" l="l" r="r" t="t"/>
            <a:pathLst>
              <a:path extrusionOk="0" h="600714" w="600714">
                <a:moveTo>
                  <a:pt x="0" y="0"/>
                </a:moveTo>
                <a:lnTo>
                  <a:pt x="600715" y="0"/>
                </a:lnTo>
                <a:lnTo>
                  <a:pt x="600715" y="600714"/>
                </a:lnTo>
                <a:lnTo>
                  <a:pt x="0" y="600714"/>
                </a:lnTo>
                <a:lnTo>
                  <a:pt x="0" y="0"/>
                </a:lnTo>
                <a:close/>
              </a:path>
            </a:pathLst>
          </a:custGeom>
          <a:blipFill rotWithShape="1">
            <a:blip r:embed="rId4">
              <a:alphaModFix/>
            </a:blip>
            <a:stretch>
              <a:fillRect b="0" l="0" r="0" t="0"/>
            </a:stretch>
          </a:blipFill>
          <a:ln>
            <a:noFill/>
          </a:ln>
        </p:spPr>
      </p:sp>
      <p:pic>
        <p:nvPicPr>
          <p:cNvPr id="464" name="Google Shape;464;g3fb5eb765e6_0_220"/>
          <p:cNvPicPr preferRelativeResize="0"/>
          <p:nvPr/>
        </p:nvPicPr>
        <p:blipFill rotWithShape="1">
          <a:blip r:embed="rId5">
            <a:alphaModFix/>
          </a:blip>
          <a:srcRect b="1501" l="1566" r="1186" t="1656"/>
          <a:stretch/>
        </p:blipFill>
        <p:spPr>
          <a:xfrm>
            <a:off x="896326" y="2386492"/>
            <a:ext cx="5631519" cy="7236308"/>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h717b898b6c2593fb_0_81"/>
          <p:cNvSpPr/>
          <p:nvPr/>
        </p:nvSpPr>
        <p:spPr>
          <a:xfrm>
            <a:off x="-159871" y="-595235"/>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43791" l="0" r="0" t="-237627"/>
            </a:stretch>
          </a:blipFill>
          <a:ln>
            <a:noFill/>
          </a:ln>
        </p:spPr>
      </p:sp>
      <p:sp>
        <p:nvSpPr>
          <p:cNvPr id="470" name="Google Shape;470;h717b898b6c2593fb_0_81"/>
          <p:cNvSpPr/>
          <p:nvPr/>
        </p:nvSpPr>
        <p:spPr>
          <a:xfrm>
            <a:off x="-159871" y="9969568"/>
            <a:ext cx="7743948" cy="1353789"/>
          </a:xfrm>
          <a:custGeom>
            <a:rect b="b" l="l" r="r" t="t"/>
            <a:pathLst>
              <a:path extrusionOk="0" h="356984" w="2042415">
                <a:moveTo>
                  <a:pt x="0" y="0"/>
                </a:moveTo>
                <a:lnTo>
                  <a:pt x="2042415" y="0"/>
                </a:lnTo>
                <a:lnTo>
                  <a:pt x="2042415" y="356984"/>
                </a:lnTo>
                <a:lnTo>
                  <a:pt x="0" y="356984"/>
                </a:lnTo>
                <a:lnTo>
                  <a:pt x="0" y="0"/>
                </a:lnTo>
                <a:close/>
              </a:path>
            </a:pathLst>
          </a:custGeom>
          <a:blipFill rotWithShape="1">
            <a:blip r:embed="rId3">
              <a:alphaModFix/>
            </a:blip>
            <a:stretch>
              <a:fillRect b="-75299" l="0" r="0" t="-206118"/>
            </a:stretch>
          </a:blipFill>
          <a:ln>
            <a:noFill/>
          </a:ln>
        </p:spPr>
      </p:sp>
      <p:sp>
        <p:nvSpPr>
          <p:cNvPr id="471" name="Google Shape;471;h717b898b6c2593fb_0_81"/>
          <p:cNvSpPr txBox="1"/>
          <p:nvPr/>
        </p:nvSpPr>
        <p:spPr>
          <a:xfrm>
            <a:off x="555855" y="1105371"/>
            <a:ext cx="6678082" cy="851742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THE LOKAL, </a:t>
            </a:r>
            <a:endParaRPr sz="9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DONDE EL MUNDO SE SIENTE LOCAL</a:t>
            </a:r>
            <a:endParaRPr sz="9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The Lokal parte de una idea sencilla: vivir bien no debería sentirse como algo excepcional.</a:t>
            </a:r>
            <a:endParaRPr sz="9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Puede estar en un desayuno antes de trabajar, En algo que comes después de entrenar, En una comida rápida que sigue estando bien hecha, En un sabor nuevo que no esperabas, En un producto que reconoces, En un ingrediente que sabes de dónde viene, En un pequeño momento que decides disfrutar.</a:t>
            </a:r>
            <a:endParaRPr sz="9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The Lokal no pretende cambiar la forma en la que las personas viven su día. Pretende entrar en ella y hacerla un poco mejor.</a:t>
            </a:r>
            <a:endParaRPr sz="9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sz="9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El mundo nos inspira.</a:t>
            </a:r>
            <a:endParaRPr sz="9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Lo local nos define.</a:t>
            </a:r>
            <a:endParaRPr sz="9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rPr lang="en-US" sz="900">
                <a:latin typeface="Helvetica Neue"/>
                <a:ea typeface="Helvetica Neue"/>
                <a:cs typeface="Helvetica Neue"/>
                <a:sym typeface="Helvetica Neue"/>
              </a:rPr>
              <a:t>Lo cotidiano es donde ocurre.</a:t>
            </a:r>
            <a:endParaRPr sz="900">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a:ea typeface="Helvetica Neue"/>
              <a:cs typeface="Helvetica Neue"/>
              <a:sym typeface="Helvetica Neue"/>
            </a:endParaRPr>
          </a:p>
          <a:p>
            <a:pPr indent="0" lvl="0" marL="0" marR="0" rtl="0" algn="l">
              <a:lnSpc>
                <a:spcPct val="140100"/>
              </a:lnSpc>
              <a:spcBef>
                <a:spcPts val="0"/>
              </a:spcBef>
              <a:spcAft>
                <a:spcPts val="0"/>
              </a:spcAft>
              <a:buClr>
                <a:srgbClr val="000000"/>
              </a:buClr>
              <a:buSzPts val="1000"/>
              <a:buFont typeface="Arial"/>
              <a:buNone/>
            </a:pPr>
            <a:r>
              <a:rPr b="0" i="0" lang="en-US" sz="1000" u="none" cap="none" strike="noStrike">
                <a:solidFill>
                  <a:srgbClr val="000000"/>
                </a:solidFill>
                <a:latin typeface="Helvetica Neue"/>
                <a:ea typeface="Helvetica Neue"/>
                <a:cs typeface="Helvetica Neue"/>
                <a:sym typeface="Helvetica Neue"/>
              </a:rPr>
              <a:t>ffffff</a:t>
            </a:r>
            <a:endParaRPr b="0" i="0" sz="1000" u="none" cap="none" strike="noStrike">
              <a:solidFill>
                <a:srgbClr val="000000"/>
              </a:solidFill>
              <a:latin typeface="Helvetica Neue"/>
              <a:ea typeface="Helvetica Neue"/>
              <a:cs typeface="Helvetica Neue"/>
              <a:sym typeface="Helvetica Neue"/>
            </a:endParaRPr>
          </a:p>
        </p:txBody>
      </p:sp>
      <p:sp>
        <p:nvSpPr>
          <p:cNvPr id="472" name="Google Shape;472;h717b898b6c2593fb_0_81"/>
          <p:cNvSpPr/>
          <p:nvPr/>
        </p:nvSpPr>
        <p:spPr>
          <a:xfrm>
            <a:off x="5821473" y="758550"/>
            <a:ext cx="1736703" cy="1833860"/>
          </a:xfrm>
          <a:custGeom>
            <a:rect b="b" l="l" r="r" t="t"/>
            <a:pathLst>
              <a:path extrusionOk="0" h="600714" w="600714">
                <a:moveTo>
                  <a:pt x="0" y="0"/>
                </a:moveTo>
                <a:lnTo>
                  <a:pt x="600715" y="0"/>
                </a:lnTo>
                <a:lnTo>
                  <a:pt x="600715" y="600714"/>
                </a:lnTo>
                <a:lnTo>
                  <a:pt x="0" y="600714"/>
                </a:lnTo>
                <a:lnTo>
                  <a:pt x="0" y="0"/>
                </a:lnTo>
                <a:close/>
              </a:path>
            </a:pathLst>
          </a:custGeom>
          <a:blipFill rotWithShape="1">
            <a:blip r:embed="rId4">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