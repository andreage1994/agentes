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D79E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468880"/>
            <a:ext cx="11064240" cy="1463040"/>
          </a:xfrm>
          <a:prstGeom prst="rect">
            <a:avLst/>
          </a:prstGeom>
          <a:noFill/>
          <a:ln/>
        </p:spPr>
        <p:txBody>
          <a:bodyPr wrap="square" rtlCol="0"/>
          <a:lstStyle>
            <a:lvl1pPr algn="l" indent="0" marL="0">
              <a:buNone/>
              <a:defRPr lang="en-US" sz="4800" b="1" dirty="0">
                <a:solidFill>
                  <a:srgbClr val="FFFFFF"/>
                </a:solidFill>
                <a:latin typeface="GT Alpina" pitchFamily="34" charset="0"/>
                <a:ea typeface="GT Alpina" pitchFamily="34" charset="-122"/>
                <a:cs typeface="GT Alpina" pitchFamily="34" charset="-120"/>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D79E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017520"/>
            <a:ext cx="11064240" cy="1463040"/>
          </a:xfrm>
          <a:prstGeom prst="rect">
            <a:avLst/>
          </a:prstGeom>
          <a:noFill/>
          <a:ln/>
        </p:spPr>
        <p:txBody>
          <a:bodyPr wrap="square" rtlCol="0"/>
          <a:lstStyle>
            <a:lvl1pPr algn="l" indent="0" marL="0">
              <a:buNone/>
              <a:defRPr lang="en-US" sz="3800" b="1" dirty="0">
                <a:solidFill>
                  <a:srgbClr val="FFFFFF"/>
                </a:solidFill>
                <a:latin typeface="GT Alpina" pitchFamily="34" charset="0"/>
                <a:ea typeface="GT Alpina" pitchFamily="34" charset="-122"/>
                <a:cs typeface="GT Alpina" pitchFamily="34" charset="-120"/>
              </a:defRPr>
            </a:lvl1pPr>
          </a:lstStyle>
          <a:p>
            <a:pPr algn="l" indent="0" marL="0">
              <a:buNone/>
            </a:pPr>
            <a:endParaRPr lang="en-US" sz="3800" dirty="0"/>
          </a:p>
        </p:txBody>
      </p:sp>
      <p:sp>
        <p:nvSpPr>
          <p:cNvPr id="3" name="Text 0"/>
          <p:cNvSpPr/>
          <p:nvPr/>
        </p:nvSpPr>
        <p:spPr>
          <a:xfrm>
            <a:off x="548640" y="6355080"/>
            <a:ext cx="11064240" cy="274320"/>
          </a:xfrm>
          <a:prstGeom prst="rect">
            <a:avLst/>
          </a:prstGeom>
          <a:noFill/>
          <a:ln/>
        </p:spPr>
        <p:txBody>
          <a:bodyPr wrap="square" rtlCol="0" anchor="ctr"/>
          <a:lstStyle/>
          <a:p>
            <a:pPr algn="l" indent="0" marL="0">
              <a:buNone/>
            </a:pPr>
            <a:r>
              <a:rPr lang="en-US" sz="1000" dirty="0">
                <a:solidFill>
                  <a:srgbClr val="E7DCCC"/>
                </a:solidFill>
                <a:latin typeface="Calibri" pitchFamily="34" charset="0"/>
                <a:ea typeface="Calibri" pitchFamily="34" charset="-122"/>
                <a:cs typeface="Calibri" pitchFamily="34" charset="-120"/>
              </a:rPr>
              <a:t>LADY MADRID · HOSPITALIDAD Y CULTURA DE SERVICIO</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algn="l" indent="0" marL="0">
              <a:buNone/>
              <a:defRPr lang="en-US" sz="2600" b="1" dirty="0">
                <a:solidFill>
                  <a:srgbClr val="3E3D40"/>
                </a:solidFill>
                <a:latin typeface="GT Alpina" pitchFamily="34" charset="0"/>
                <a:ea typeface="GT Alpina" pitchFamily="34" charset="-122"/>
                <a:cs typeface="GT Alpina" pitchFamily="34" charset="-120"/>
              </a:defRPr>
            </a:lvl1pPr>
          </a:lstStyle>
          <a:p>
            <a:pPr algn="l" indent="0" marL="0">
              <a:buNone/>
            </a:pPr>
            <a:endParaRPr lang="en-US" sz="2600" dirty="0"/>
          </a:p>
        </p:txBody>
      </p:sp>
      <p:sp>
        <p:nvSpPr>
          <p:cNvPr id="3" name="Shape 0"/>
          <p:cNvSpPr/>
          <p:nvPr/>
        </p:nvSpPr>
        <p:spPr>
          <a:xfrm>
            <a:off x="548640" y="1234440"/>
            <a:ext cx="0" cy="0"/>
          </a:xfrm>
          <a:prstGeom prst="line">
            <a:avLst/>
          </a:prstGeom>
          <a:noFill/>
          <a:ln w="12700">
            <a:solidFill>
              <a:srgbClr val="E7DCCC"/>
            </a:solidFill>
            <a:prstDash val="solid"/>
          </a:ln>
        </p:spPr>
      </p:sp>
      <p:sp>
        <p:nvSpPr>
          <p:cNvPr id="4" name="Text 1"/>
          <p:cNvSpPr/>
          <p:nvPr/>
        </p:nvSpPr>
        <p:spPr>
          <a:xfrm>
            <a:off x="548640" y="6446520"/>
            <a:ext cx="10515600" cy="274320"/>
          </a:xfrm>
          <a:prstGeom prst="rect">
            <a:avLst/>
          </a:prstGeom>
          <a:noFill/>
          <a:ln/>
        </p:spPr>
        <p:txBody>
          <a:bodyPr wrap="square" rtlCol="0" anchor="ctr"/>
          <a:lstStyle/>
          <a:p>
            <a:pPr algn="l" indent="0" marL="0">
              <a:buNone/>
            </a:pPr>
            <a:r>
              <a:rPr lang="en-US" sz="900" dirty="0">
                <a:solidFill>
                  <a:srgbClr val="9A9A9C"/>
                </a:solidFill>
                <a:latin typeface="Calibri" pitchFamily="34" charset="0"/>
                <a:ea typeface="Calibri" pitchFamily="34" charset="-122"/>
                <a:cs typeface="Calibri" pitchFamily="34" charset="-120"/>
              </a:rPr>
              <a:t>LADY MADRID · HOSPITALIDAD Y CULTURA DE SERVICIO</a:t>
            </a:r>
            <a:endParaRPr lang="en-US" sz="900" dirty="0"/>
          </a:p>
        </p:txBody>
      </p:sp>
      <p:sp>
        <p:nvSpPr>
          <p:cNvPr id="5" name="Text 2"/>
          <p:cNvSpPr/>
          <p:nvPr>
            <p:ph idx="103" type="body" hasCustomPrompt="1"/>
          </p:nvPr>
        </p:nvSpPr>
        <p:spPr>
          <a:xfrm>
            <a:off x="11064240" y="6446520"/>
            <a:ext cx="548640" cy="274320"/>
          </a:xfrm>
          <a:prstGeom prst="rect">
            <a:avLst/>
          </a:prstGeom>
          <a:noFill/>
          <a:ln/>
        </p:spPr>
        <p:txBody>
          <a:bodyPr wrap="square" rtlCol="0"/>
          <a:lstStyle>
            <a:lvl1pPr algn="r" indent="0" marL="0">
              <a:buNone/>
              <a:defRPr lang="en-US" sz="900" dirty="0">
                <a:solidFill>
                  <a:srgbClr val="9A9A9C"/>
                </a:solidFill>
                <a:latin typeface="Calibri" pitchFamily="34" charset="0"/>
                <a:ea typeface="Calibri" pitchFamily="34" charset="-122"/>
                <a:cs typeface="Calibri" pitchFamily="34" charset="-120"/>
              </a:defRPr>
            </a:lvl1pPr>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CREAM">
    <p:bg>
      <p:bgPr>
        <a:solidFill>
          <a:srgbClr val="E7DCC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algn="l" indent="0" marL="0">
              <a:buNone/>
              <a:defRPr lang="en-US" sz="2600" b="1" dirty="0">
                <a:solidFill>
                  <a:srgbClr val="3E3D40"/>
                </a:solidFill>
                <a:latin typeface="GT Alpina" pitchFamily="34" charset="0"/>
                <a:ea typeface="GT Alpina" pitchFamily="34" charset="-122"/>
                <a:cs typeface="GT Alpina" pitchFamily="34" charset="-120"/>
              </a:defRPr>
            </a:lvl1pPr>
          </a:lstStyle>
          <a:p>
            <a:pPr algn="l" indent="0" marL="0">
              <a:buNone/>
            </a:pPr>
            <a:endParaRPr lang="en-US" sz="2600" dirty="0"/>
          </a:p>
        </p:txBody>
      </p:sp>
      <p:sp>
        <p:nvSpPr>
          <p:cNvPr id="3" name="Text 0"/>
          <p:cNvSpPr/>
          <p:nvPr/>
        </p:nvSpPr>
        <p:spPr>
          <a:xfrm>
            <a:off x="548640" y="6446520"/>
            <a:ext cx="10515600" cy="274320"/>
          </a:xfrm>
          <a:prstGeom prst="rect">
            <a:avLst/>
          </a:prstGeom>
          <a:noFill/>
          <a:ln/>
        </p:spPr>
        <p:txBody>
          <a:bodyPr wrap="square" rtlCol="0" anchor="ctr"/>
          <a:lstStyle/>
          <a:p>
            <a:pPr algn="l" indent="0" marL="0">
              <a:buNone/>
            </a:pPr>
            <a:r>
              <a:rPr lang="en-US" sz="900" dirty="0">
                <a:solidFill>
                  <a:srgbClr val="6B6B6D"/>
                </a:solidFill>
                <a:latin typeface="Calibri" pitchFamily="34" charset="0"/>
                <a:ea typeface="Calibri" pitchFamily="34" charset="-122"/>
                <a:cs typeface="Calibri" pitchFamily="34" charset="-120"/>
              </a:rPr>
              <a:t>LADY MADRID · HOSPITALIDAD Y CULTURA DE SERVICIO</a:t>
            </a: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D"/>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QUOTE">
    <p:bg>
      <p:bgPr>
        <a:solidFill>
          <a:srgbClr val="3E3D4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463040"/>
            <a:ext cx="7315200" cy="457200"/>
          </a:xfrm>
          <a:prstGeom prst="rect">
            <a:avLst/>
          </a:prstGeom>
          <a:noFill/>
          <a:ln/>
        </p:spPr>
        <p:txBody>
          <a:bodyPr wrap="square" rtlCol="0" anchor="ctr"/>
          <a:lstStyle/>
          <a:p>
            <a:pPr indent="0" marL="0">
              <a:buNone/>
            </a:pPr>
            <a:r>
              <a:rPr lang="en-US" sz="1400" i="1" dirty="0">
                <a:solidFill>
                  <a:srgbClr val="E7DCCC"/>
                </a:solidFill>
                <a:latin typeface="Calibri" pitchFamily="34" charset="0"/>
                <a:ea typeface="Calibri" pitchFamily="34" charset="-122"/>
                <a:cs typeface="Calibri" pitchFamily="34" charset="-120"/>
              </a:rPr>
              <a:t>Specialty Coffee Roasters</a:t>
            </a:r>
            <a:endParaRPr lang="en-US" sz="1400" dirty="0"/>
          </a:p>
        </p:txBody>
      </p:sp>
      <p:sp>
        <p:nvSpPr>
          <p:cNvPr id="3" name="Text 0"/>
          <p:cNvSpPr/>
          <p:nvPr>
            <p:ph idx="100" type="title" hasCustomPrompt="1"/>
          </p:nvPr>
        </p:nvSpPr>
        <p:spPr>
          <a:xfrm>
            <a:off x="548640" y="2468880"/>
            <a:ext cx="11064240" cy="1463040"/>
          </a:xfrm>
          <a:prstGeom prst="rect">
            <a:avLst/>
          </a:prstGeom>
          <a:noFill/>
          <a:ln/>
        </p:spPr>
        <p:txBody>
          <a:bodyPr wrap="square" rtlCol="0" anchor="b"/>
          <a:lstStyle/>
          <a:p>
            <a:pPr algn="l" indent="0" marL="0">
              <a:buNone/>
            </a:pPr>
            <a:r>
              <a:rPr lang="en-US" sz="4800" b="1" dirty="0">
                <a:solidFill>
                  <a:srgbClr val="FFFFFF"/>
                </a:solidFill>
                <a:latin typeface="GT Alpina" pitchFamily="34" charset="0"/>
                <a:ea typeface="GT Alpina" pitchFamily="34" charset="-122"/>
                <a:cs typeface="GT Alpina" pitchFamily="34" charset="-120"/>
              </a:rPr>
              <a:t>HOSPITALIDAD Y</a:t>
            </a:r>
            <a:endParaRPr lang="en-US" sz="4800" dirty="0"/>
          </a:p>
          <a:p>
            <a:pPr algn="l" indent="0" marL="0">
              <a:buNone/>
            </a:pPr>
            <a:r>
              <a:rPr lang="en-US" sz="4800" b="1" dirty="0">
                <a:solidFill>
                  <a:srgbClr val="FFFFFF"/>
                </a:solidFill>
                <a:latin typeface="GT Alpina" pitchFamily="34" charset="0"/>
                <a:ea typeface="GT Alpina" pitchFamily="34" charset="-122"/>
                <a:cs typeface="GT Alpina" pitchFamily="34" charset="-120"/>
              </a:rPr>
              <a:t>CULTURA DE SERVICIO</a:t>
            </a:r>
            <a:endParaRPr lang="en-US" sz="4800" dirty="0"/>
          </a:p>
        </p:txBody>
      </p:sp>
      <p:sp>
        <p:nvSpPr>
          <p:cNvPr id="4" name="Text 2"/>
          <p:cNvSpPr txBox="1"/>
          <p:nvPr/>
        </p:nvSpPr>
        <p:spPr>
          <a:xfrm>
            <a:off x="548640" y="3977640"/>
            <a:ext cx="7315200" cy="548640"/>
          </a:xfrm>
          <a:prstGeom prst="rect">
            <a:avLst/>
          </a:prstGeom>
          <a:noFill/>
          <a:ln/>
        </p:spPr>
        <p:txBody>
          <a:bodyPr wrap="square" rtlCol="0" anchor="ctr"/>
          <a:lstStyle/>
          <a:p>
            <a:pPr indent="0" marL="0">
              <a:buNone/>
            </a:pPr>
            <a:r>
              <a:rPr lang="en-US" sz="2200" b="1" dirty="0">
                <a:solidFill>
                  <a:srgbClr val="E84E27"/>
                </a:solidFill>
                <a:latin typeface="GT Alpina" pitchFamily="34" charset="0"/>
                <a:ea typeface="GT Alpina" pitchFamily="34" charset="-122"/>
                <a:cs typeface="GT Alpina" pitchFamily="34" charset="-120"/>
              </a:rPr>
              <a:t>LADY MADRID</a:t>
            </a:r>
            <a:endParaRPr lang="en-US" sz="2200" dirty="0"/>
          </a:p>
        </p:txBody>
      </p:sp>
      <p:sp>
        <p:nvSpPr>
          <p:cNvPr id="5" name="Text 3"/>
          <p:cNvSpPr txBox="1"/>
          <p:nvPr/>
        </p:nvSpPr>
        <p:spPr>
          <a:xfrm>
            <a:off x="548640" y="6217920"/>
            <a:ext cx="9144000" cy="365760"/>
          </a:xfrm>
          <a:prstGeom prst="rect">
            <a:avLst/>
          </a:prstGeom>
          <a:noFill/>
          <a:ln/>
        </p:spPr>
        <p:txBody>
          <a:bodyPr wrap="square" rtlCol="0" anchor="ctr"/>
          <a:lstStyle/>
          <a:p>
            <a:pPr indent="0" marL="0">
              <a:buNone/>
            </a:pPr>
            <a:r>
              <a:rPr lang="en-US" sz="1100" dirty="0">
                <a:solidFill>
                  <a:srgbClr val="E7DCCC"/>
                </a:solidFill>
                <a:latin typeface="Calibri" pitchFamily="34" charset="0"/>
                <a:ea typeface="Calibri" pitchFamily="34" charset="-122"/>
                <a:cs typeface="Calibri" pitchFamily="34" charset="-120"/>
              </a:rPr>
              <a:t>Documento interno de cultura — The Bar N' Bar (TBNB) · 2026</a:t>
            </a:r>
            <a:endParaRPr lang="en-US" sz="1100" dirty="0"/>
          </a:p>
        </p:txBody>
      </p:sp>
      <p:sp>
        <p:nvSpPr>
          <p:cNvPr id="6" name="Shape 4"/>
          <p:cNvSpPr/>
          <p:nvPr/>
        </p:nvSpPr>
        <p:spPr>
          <a:xfrm>
            <a:off x="9418320" y="0"/>
            <a:ext cx="2743200" cy="6858000"/>
          </a:xfrm>
          <a:prstGeom prst="rect">
            <a:avLst/>
          </a:prstGeom>
          <a:solidFill>
            <a:srgbClr val="1862C4"/>
          </a:solidFill>
          <a:ln/>
        </p:spPr>
      </p:sp>
      <p:sp>
        <p:nvSpPr>
          <p:cNvPr id="7" name="Shape 5"/>
          <p:cNvSpPr/>
          <p:nvPr/>
        </p:nvSpPr>
        <p:spPr>
          <a:xfrm>
            <a:off x="10058400" y="2423160"/>
            <a:ext cx="2011680" cy="2011680"/>
          </a:xfrm>
          <a:prstGeom prst="ellipse">
            <a:avLst/>
          </a:prstGeom>
          <a:solidFill>
            <a:srgbClr val="E84E27"/>
          </a:solidFill>
          <a:ln/>
        </p:spPr>
      </p:sp>
      <p:sp>
        <p:nvSpPr>
          <p:cNvPr id="8" name="Shape 6"/>
          <p:cNvSpPr/>
          <p:nvPr/>
        </p:nvSpPr>
        <p:spPr>
          <a:xfrm>
            <a:off x="10698480" y="3063240"/>
            <a:ext cx="822960" cy="822960"/>
          </a:xfrm>
          <a:prstGeom prst="ellipse">
            <a:avLst/>
          </a:prstGeom>
          <a:solidFill>
            <a:srgbClr val="E7DCCC"/>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Índice</a:t>
            </a:r>
            <a:endParaRPr lang="en-US" sz="2600" dirty="0"/>
          </a:p>
        </p:txBody>
      </p:sp>
      <p:sp>
        <p:nvSpPr>
          <p:cNvPr id="3" name="Shape 1"/>
          <p:cNvSpPr/>
          <p:nvPr/>
        </p:nvSpPr>
        <p:spPr>
          <a:xfrm>
            <a:off x="548640" y="1554480"/>
            <a:ext cx="502920" cy="502920"/>
          </a:xfrm>
          <a:prstGeom prst="ellipse">
            <a:avLst/>
          </a:prstGeom>
          <a:solidFill>
            <a:srgbClr val="1D79ED"/>
          </a:solidFill>
          <a:ln/>
        </p:spPr>
      </p:sp>
      <p:sp>
        <p:nvSpPr>
          <p:cNvPr id="4" name="Text 2"/>
          <p:cNvSpPr/>
          <p:nvPr/>
        </p:nvSpPr>
        <p:spPr>
          <a:xfrm>
            <a:off x="548640" y="1554480"/>
            <a:ext cx="502920" cy="502920"/>
          </a:xfrm>
          <a:prstGeom prst="rect">
            <a:avLst/>
          </a:prstGeom>
          <a:noFill/>
          <a:ln/>
        </p:spPr>
        <p:txBody>
          <a:bodyPr wrap="square" rtlCol="0" anchor="ctr"/>
          <a:lstStyle/>
          <a:p>
            <a:pPr algn="ctr" indent="0" marL="0">
              <a:buNone/>
            </a:pPr>
            <a:r>
              <a:rPr lang="en-US" sz="1800" b="1" dirty="0">
                <a:solidFill>
                  <a:srgbClr val="FFFFFF"/>
                </a:solidFill>
                <a:latin typeface="GT Alpina" pitchFamily="34" charset="0"/>
                <a:ea typeface="GT Alpina" pitchFamily="34" charset="-122"/>
                <a:cs typeface="GT Alpina" pitchFamily="34" charset="-120"/>
              </a:rPr>
              <a:t>1</a:t>
            </a:r>
            <a:endParaRPr lang="en-US" sz="1800" dirty="0"/>
          </a:p>
        </p:txBody>
      </p:sp>
      <p:sp>
        <p:nvSpPr>
          <p:cNvPr id="5" name="Text 3"/>
          <p:cNvSpPr txBox="1"/>
          <p:nvPr/>
        </p:nvSpPr>
        <p:spPr>
          <a:xfrm>
            <a:off x="1280160" y="1508760"/>
            <a:ext cx="9601200" cy="594360"/>
          </a:xfrm>
          <a:prstGeom prst="rect">
            <a:avLst/>
          </a:prstGeom>
          <a:noFill/>
          <a:ln/>
        </p:spPr>
        <p:txBody>
          <a:bodyPr wrap="square" rtlCol="0" anchor="ctr"/>
          <a:lstStyle/>
          <a:p>
            <a:pPr indent="0" marL="0">
              <a:buNone/>
            </a:pPr>
            <a:r>
              <a:rPr lang="en-US" sz="1800" dirty="0">
                <a:solidFill>
                  <a:srgbClr val="3E3D40"/>
                </a:solidFill>
                <a:latin typeface="GT Alpina" pitchFamily="34" charset="0"/>
                <a:ea typeface="GT Alpina" pitchFamily="34" charset="-122"/>
                <a:cs typeface="GT Alpina" pitchFamily="34" charset="-120"/>
              </a:rPr>
              <a:t>Bienvenidos</a:t>
            </a:r>
            <a:endParaRPr lang="en-US" sz="1800" dirty="0"/>
          </a:p>
        </p:txBody>
      </p:sp>
      <p:sp>
        <p:nvSpPr>
          <p:cNvPr id="6" name="Shape 4"/>
          <p:cNvSpPr/>
          <p:nvPr/>
        </p:nvSpPr>
        <p:spPr>
          <a:xfrm>
            <a:off x="548640" y="2267712"/>
            <a:ext cx="502920" cy="502920"/>
          </a:xfrm>
          <a:prstGeom prst="ellipse">
            <a:avLst/>
          </a:prstGeom>
          <a:solidFill>
            <a:srgbClr val="1D79ED"/>
          </a:solidFill>
          <a:ln/>
        </p:spPr>
      </p:sp>
      <p:sp>
        <p:nvSpPr>
          <p:cNvPr id="7" name="Text 5"/>
          <p:cNvSpPr/>
          <p:nvPr/>
        </p:nvSpPr>
        <p:spPr>
          <a:xfrm>
            <a:off x="548640" y="2267712"/>
            <a:ext cx="502920" cy="502920"/>
          </a:xfrm>
          <a:prstGeom prst="rect">
            <a:avLst/>
          </a:prstGeom>
          <a:noFill/>
          <a:ln/>
        </p:spPr>
        <p:txBody>
          <a:bodyPr wrap="square" rtlCol="0" anchor="ctr"/>
          <a:lstStyle/>
          <a:p>
            <a:pPr algn="ctr" indent="0" marL="0">
              <a:buNone/>
            </a:pPr>
            <a:r>
              <a:rPr lang="en-US" sz="1800" b="1" dirty="0">
                <a:solidFill>
                  <a:srgbClr val="FFFFFF"/>
                </a:solidFill>
                <a:latin typeface="GT Alpina" pitchFamily="34" charset="0"/>
                <a:ea typeface="GT Alpina" pitchFamily="34" charset="-122"/>
                <a:cs typeface="GT Alpina" pitchFamily="34" charset="-120"/>
              </a:rPr>
              <a:t>2</a:t>
            </a:r>
            <a:endParaRPr lang="en-US" sz="1800" dirty="0"/>
          </a:p>
        </p:txBody>
      </p:sp>
      <p:sp>
        <p:nvSpPr>
          <p:cNvPr id="8" name="Text 6"/>
          <p:cNvSpPr txBox="1"/>
          <p:nvPr/>
        </p:nvSpPr>
        <p:spPr>
          <a:xfrm>
            <a:off x="1280160" y="2221992"/>
            <a:ext cx="9601200" cy="594360"/>
          </a:xfrm>
          <a:prstGeom prst="rect">
            <a:avLst/>
          </a:prstGeom>
          <a:noFill/>
          <a:ln/>
        </p:spPr>
        <p:txBody>
          <a:bodyPr wrap="square" rtlCol="0" anchor="ctr"/>
          <a:lstStyle/>
          <a:p>
            <a:pPr indent="0" marL="0">
              <a:buNone/>
            </a:pPr>
            <a:r>
              <a:rPr lang="en-US" sz="1800" dirty="0">
                <a:solidFill>
                  <a:srgbClr val="3E3D40"/>
                </a:solidFill>
                <a:latin typeface="GT Alpina" pitchFamily="34" charset="0"/>
                <a:ea typeface="GT Alpina" pitchFamily="34" charset="-122"/>
                <a:cs typeface="GT Alpina" pitchFamily="34" charset="-120"/>
              </a:rPr>
              <a:t>Qué significa la hospitalidad para Lady Madrid</a:t>
            </a:r>
            <a:endParaRPr lang="en-US" sz="1800" dirty="0"/>
          </a:p>
        </p:txBody>
      </p:sp>
      <p:sp>
        <p:nvSpPr>
          <p:cNvPr id="9" name="Shape 7"/>
          <p:cNvSpPr/>
          <p:nvPr/>
        </p:nvSpPr>
        <p:spPr>
          <a:xfrm>
            <a:off x="548640" y="2980944"/>
            <a:ext cx="502920" cy="502920"/>
          </a:xfrm>
          <a:prstGeom prst="ellipse">
            <a:avLst/>
          </a:prstGeom>
          <a:solidFill>
            <a:srgbClr val="1D79ED"/>
          </a:solidFill>
          <a:ln/>
        </p:spPr>
      </p:sp>
      <p:sp>
        <p:nvSpPr>
          <p:cNvPr id="10" name="Text 8"/>
          <p:cNvSpPr/>
          <p:nvPr/>
        </p:nvSpPr>
        <p:spPr>
          <a:xfrm>
            <a:off x="548640" y="2980944"/>
            <a:ext cx="502920" cy="502920"/>
          </a:xfrm>
          <a:prstGeom prst="rect">
            <a:avLst/>
          </a:prstGeom>
          <a:noFill/>
          <a:ln/>
        </p:spPr>
        <p:txBody>
          <a:bodyPr wrap="square" rtlCol="0" anchor="ctr"/>
          <a:lstStyle/>
          <a:p>
            <a:pPr algn="ctr" indent="0" marL="0">
              <a:buNone/>
            </a:pPr>
            <a:r>
              <a:rPr lang="en-US" sz="1800" b="1" dirty="0">
                <a:solidFill>
                  <a:srgbClr val="FFFFFF"/>
                </a:solidFill>
                <a:latin typeface="GT Alpina" pitchFamily="34" charset="0"/>
                <a:ea typeface="GT Alpina" pitchFamily="34" charset="-122"/>
                <a:cs typeface="GT Alpina" pitchFamily="34" charset="-120"/>
              </a:rPr>
              <a:t>3</a:t>
            </a:r>
            <a:endParaRPr lang="en-US" sz="1800" dirty="0"/>
          </a:p>
        </p:txBody>
      </p:sp>
      <p:sp>
        <p:nvSpPr>
          <p:cNvPr id="11" name="Text 9"/>
          <p:cNvSpPr txBox="1"/>
          <p:nvPr/>
        </p:nvSpPr>
        <p:spPr>
          <a:xfrm>
            <a:off x="1280160" y="2935224"/>
            <a:ext cx="9601200" cy="594360"/>
          </a:xfrm>
          <a:prstGeom prst="rect">
            <a:avLst/>
          </a:prstGeom>
          <a:noFill/>
          <a:ln/>
        </p:spPr>
        <p:txBody>
          <a:bodyPr wrap="square" rtlCol="0" anchor="ctr"/>
          <a:lstStyle/>
          <a:p>
            <a:pPr indent="0" marL="0">
              <a:buNone/>
            </a:pPr>
            <a:r>
              <a:rPr lang="en-US" sz="1800" dirty="0">
                <a:solidFill>
                  <a:srgbClr val="3E3D40"/>
                </a:solidFill>
                <a:latin typeface="GT Alpina" pitchFamily="34" charset="0"/>
                <a:ea typeface="GT Alpina" pitchFamily="34" charset="-122"/>
                <a:cs typeface="GT Alpina" pitchFamily="34" charset="-120"/>
              </a:rPr>
              <a:t>La cultura que queremos construir</a:t>
            </a:r>
            <a:endParaRPr lang="en-US" sz="1800" dirty="0"/>
          </a:p>
        </p:txBody>
      </p:sp>
      <p:sp>
        <p:nvSpPr>
          <p:cNvPr id="12" name="Shape 10"/>
          <p:cNvSpPr/>
          <p:nvPr/>
        </p:nvSpPr>
        <p:spPr>
          <a:xfrm>
            <a:off x="548640" y="3694176"/>
            <a:ext cx="502920" cy="502920"/>
          </a:xfrm>
          <a:prstGeom prst="ellipse">
            <a:avLst/>
          </a:prstGeom>
          <a:solidFill>
            <a:srgbClr val="1D79ED"/>
          </a:solidFill>
          <a:ln/>
        </p:spPr>
      </p:sp>
      <p:sp>
        <p:nvSpPr>
          <p:cNvPr id="13" name="Text 11"/>
          <p:cNvSpPr/>
          <p:nvPr/>
        </p:nvSpPr>
        <p:spPr>
          <a:xfrm>
            <a:off x="548640" y="3694176"/>
            <a:ext cx="502920" cy="502920"/>
          </a:xfrm>
          <a:prstGeom prst="rect">
            <a:avLst/>
          </a:prstGeom>
          <a:noFill/>
          <a:ln/>
        </p:spPr>
        <p:txBody>
          <a:bodyPr wrap="square" rtlCol="0" anchor="ctr"/>
          <a:lstStyle/>
          <a:p>
            <a:pPr algn="ctr" indent="0" marL="0">
              <a:buNone/>
            </a:pPr>
            <a:r>
              <a:rPr lang="en-US" sz="1800" b="1" dirty="0">
                <a:solidFill>
                  <a:srgbClr val="FFFFFF"/>
                </a:solidFill>
                <a:latin typeface="GT Alpina" pitchFamily="34" charset="0"/>
                <a:ea typeface="GT Alpina" pitchFamily="34" charset="-122"/>
                <a:cs typeface="GT Alpina" pitchFamily="34" charset="-120"/>
              </a:rPr>
              <a:t>4</a:t>
            </a:r>
            <a:endParaRPr lang="en-US" sz="1800" dirty="0"/>
          </a:p>
        </p:txBody>
      </p:sp>
      <p:sp>
        <p:nvSpPr>
          <p:cNvPr id="14" name="Text 12"/>
          <p:cNvSpPr txBox="1"/>
          <p:nvPr/>
        </p:nvSpPr>
        <p:spPr>
          <a:xfrm>
            <a:off x="1280160" y="3648456"/>
            <a:ext cx="9601200" cy="594360"/>
          </a:xfrm>
          <a:prstGeom prst="rect">
            <a:avLst/>
          </a:prstGeom>
          <a:noFill/>
          <a:ln/>
        </p:spPr>
        <p:txBody>
          <a:bodyPr wrap="square" rtlCol="0" anchor="ctr"/>
          <a:lstStyle/>
          <a:p>
            <a:pPr indent="0" marL="0">
              <a:buNone/>
            </a:pPr>
            <a:r>
              <a:rPr lang="en-US" sz="1800" dirty="0">
                <a:solidFill>
                  <a:srgbClr val="3E3D40"/>
                </a:solidFill>
                <a:latin typeface="GT Alpina" pitchFamily="34" charset="0"/>
                <a:ea typeface="GT Alpina" pitchFamily="34" charset="-122"/>
                <a:cs typeface="GT Alpina" pitchFamily="34" charset="-120"/>
              </a:rPr>
              <a:t>Guía de decisión cuando algo no sale bien</a:t>
            </a:r>
            <a:endParaRPr lang="en-US" sz="1800" dirty="0"/>
          </a:p>
        </p:txBody>
      </p:sp>
      <p:sp>
        <p:nvSpPr>
          <p:cNvPr id="15" name="Shape 13"/>
          <p:cNvSpPr/>
          <p:nvPr/>
        </p:nvSpPr>
        <p:spPr>
          <a:xfrm>
            <a:off x="548640" y="4407408"/>
            <a:ext cx="502920" cy="502920"/>
          </a:xfrm>
          <a:prstGeom prst="ellipse">
            <a:avLst/>
          </a:prstGeom>
          <a:solidFill>
            <a:srgbClr val="1D79ED"/>
          </a:solidFill>
          <a:ln/>
        </p:spPr>
      </p:sp>
      <p:sp>
        <p:nvSpPr>
          <p:cNvPr id="16" name="Text 14"/>
          <p:cNvSpPr/>
          <p:nvPr/>
        </p:nvSpPr>
        <p:spPr>
          <a:xfrm>
            <a:off x="548640" y="4407408"/>
            <a:ext cx="502920" cy="502920"/>
          </a:xfrm>
          <a:prstGeom prst="rect">
            <a:avLst/>
          </a:prstGeom>
          <a:noFill/>
          <a:ln/>
        </p:spPr>
        <p:txBody>
          <a:bodyPr wrap="square" rtlCol="0" anchor="ctr"/>
          <a:lstStyle/>
          <a:p>
            <a:pPr algn="ctr" indent="0" marL="0">
              <a:buNone/>
            </a:pPr>
            <a:r>
              <a:rPr lang="en-US" sz="1800" b="1" dirty="0">
                <a:solidFill>
                  <a:srgbClr val="FFFFFF"/>
                </a:solidFill>
                <a:latin typeface="GT Alpina" pitchFamily="34" charset="0"/>
                <a:ea typeface="GT Alpina" pitchFamily="34" charset="-122"/>
                <a:cs typeface="GT Alpina" pitchFamily="34" charset="-120"/>
              </a:rPr>
              <a:t>5</a:t>
            </a:r>
            <a:endParaRPr lang="en-US" sz="1800" dirty="0"/>
          </a:p>
        </p:txBody>
      </p:sp>
      <p:sp>
        <p:nvSpPr>
          <p:cNvPr id="17" name="Text 15"/>
          <p:cNvSpPr txBox="1"/>
          <p:nvPr/>
        </p:nvSpPr>
        <p:spPr>
          <a:xfrm>
            <a:off x="1280160" y="4361688"/>
            <a:ext cx="9601200" cy="594360"/>
          </a:xfrm>
          <a:prstGeom prst="rect">
            <a:avLst/>
          </a:prstGeom>
          <a:noFill/>
          <a:ln/>
        </p:spPr>
        <p:txBody>
          <a:bodyPr wrap="square" rtlCol="0" anchor="ctr"/>
          <a:lstStyle/>
          <a:p>
            <a:pPr indent="0" marL="0">
              <a:buNone/>
            </a:pPr>
            <a:r>
              <a:rPr lang="en-US" sz="1800" dirty="0">
                <a:solidFill>
                  <a:srgbClr val="3E3D40"/>
                </a:solidFill>
                <a:latin typeface="GT Alpina" pitchFamily="34" charset="0"/>
                <a:ea typeface="GT Alpina" pitchFamily="34" charset="-122"/>
                <a:cs typeface="GT Alpina" pitchFamily="34" charset="-120"/>
              </a:rPr>
              <a:t>Cómo damos vida a la experiencia</a:t>
            </a:r>
            <a:endParaRPr lang="en-US" sz="1800" dirty="0"/>
          </a:p>
        </p:txBody>
      </p:sp>
      <p:sp>
        <p:nvSpPr>
          <p:cNvPr id="18" name="Shape 16"/>
          <p:cNvSpPr/>
          <p:nvPr/>
        </p:nvSpPr>
        <p:spPr>
          <a:xfrm>
            <a:off x="548640" y="5120640"/>
            <a:ext cx="502920" cy="502920"/>
          </a:xfrm>
          <a:prstGeom prst="ellipse">
            <a:avLst/>
          </a:prstGeom>
          <a:solidFill>
            <a:srgbClr val="1D79ED"/>
          </a:solidFill>
          <a:ln/>
        </p:spPr>
      </p:sp>
      <p:sp>
        <p:nvSpPr>
          <p:cNvPr id="19" name="Text 17"/>
          <p:cNvSpPr/>
          <p:nvPr/>
        </p:nvSpPr>
        <p:spPr>
          <a:xfrm>
            <a:off x="548640" y="5120640"/>
            <a:ext cx="502920" cy="502920"/>
          </a:xfrm>
          <a:prstGeom prst="rect">
            <a:avLst/>
          </a:prstGeom>
          <a:noFill/>
          <a:ln/>
        </p:spPr>
        <p:txBody>
          <a:bodyPr wrap="square" rtlCol="0" anchor="ctr"/>
          <a:lstStyle/>
          <a:p>
            <a:pPr algn="ctr" indent="0" marL="0">
              <a:buNone/>
            </a:pPr>
            <a:r>
              <a:rPr lang="en-US" sz="1800" b="1" dirty="0">
                <a:solidFill>
                  <a:srgbClr val="FFFFFF"/>
                </a:solidFill>
                <a:latin typeface="GT Alpina" pitchFamily="34" charset="0"/>
                <a:ea typeface="GT Alpina" pitchFamily="34" charset="-122"/>
                <a:cs typeface="GT Alpina" pitchFamily="34" charset="-120"/>
              </a:rPr>
              <a:t>6</a:t>
            </a:r>
            <a:endParaRPr lang="en-US" sz="1800" dirty="0"/>
          </a:p>
        </p:txBody>
      </p:sp>
      <p:sp>
        <p:nvSpPr>
          <p:cNvPr id="20" name="Text 18"/>
          <p:cNvSpPr txBox="1"/>
          <p:nvPr/>
        </p:nvSpPr>
        <p:spPr>
          <a:xfrm>
            <a:off x="1280160" y="5074920"/>
            <a:ext cx="9601200" cy="594360"/>
          </a:xfrm>
          <a:prstGeom prst="rect">
            <a:avLst/>
          </a:prstGeom>
          <a:noFill/>
          <a:ln/>
        </p:spPr>
        <p:txBody>
          <a:bodyPr wrap="square" rtlCol="0" anchor="ctr"/>
          <a:lstStyle/>
          <a:p>
            <a:pPr indent="0" marL="0">
              <a:buNone/>
            </a:pPr>
            <a:r>
              <a:rPr lang="en-US" sz="1800" dirty="0">
                <a:solidFill>
                  <a:srgbClr val="3E3D40"/>
                </a:solidFill>
                <a:latin typeface="GT Alpina" pitchFamily="34" charset="0"/>
                <a:ea typeface="GT Alpina" pitchFamily="34" charset="-122"/>
                <a:cs typeface="GT Alpina" pitchFamily="34" charset="-120"/>
              </a:rPr>
              <a:t>Cómo nos presentamos</a:t>
            </a:r>
            <a:endParaRPr lang="en-US" sz="1800" dirty="0"/>
          </a:p>
        </p:txBody>
      </p:sp>
      <p:sp>
        <p:nvSpPr>
          <p:cNvPr id="21" name="Shape 19"/>
          <p:cNvSpPr/>
          <p:nvPr/>
        </p:nvSpPr>
        <p:spPr>
          <a:xfrm>
            <a:off x="548640" y="5833872"/>
            <a:ext cx="502920" cy="502920"/>
          </a:xfrm>
          <a:prstGeom prst="ellipse">
            <a:avLst/>
          </a:prstGeom>
          <a:solidFill>
            <a:srgbClr val="1D79ED"/>
          </a:solidFill>
          <a:ln/>
        </p:spPr>
      </p:sp>
      <p:sp>
        <p:nvSpPr>
          <p:cNvPr id="22" name="Text 20"/>
          <p:cNvSpPr/>
          <p:nvPr/>
        </p:nvSpPr>
        <p:spPr>
          <a:xfrm>
            <a:off x="548640" y="5833872"/>
            <a:ext cx="502920" cy="502920"/>
          </a:xfrm>
          <a:prstGeom prst="rect">
            <a:avLst/>
          </a:prstGeom>
          <a:noFill/>
          <a:ln/>
        </p:spPr>
        <p:txBody>
          <a:bodyPr wrap="square" rtlCol="0" anchor="ctr"/>
          <a:lstStyle/>
          <a:p>
            <a:pPr algn="ctr" indent="0" marL="0">
              <a:buNone/>
            </a:pPr>
            <a:r>
              <a:rPr lang="en-US" sz="1800" b="1" dirty="0">
                <a:solidFill>
                  <a:srgbClr val="FFFFFF"/>
                </a:solidFill>
                <a:latin typeface="GT Alpina" pitchFamily="34" charset="0"/>
                <a:ea typeface="GT Alpina" pitchFamily="34" charset="-122"/>
                <a:cs typeface="GT Alpina" pitchFamily="34" charset="-120"/>
              </a:rPr>
              <a:t>7</a:t>
            </a:r>
            <a:endParaRPr lang="en-US" sz="1800" dirty="0"/>
          </a:p>
        </p:txBody>
      </p:sp>
      <p:sp>
        <p:nvSpPr>
          <p:cNvPr id="23" name="Text 21"/>
          <p:cNvSpPr txBox="1"/>
          <p:nvPr/>
        </p:nvSpPr>
        <p:spPr>
          <a:xfrm>
            <a:off x="1280160" y="5788152"/>
            <a:ext cx="9601200" cy="594360"/>
          </a:xfrm>
          <a:prstGeom prst="rect">
            <a:avLst/>
          </a:prstGeom>
          <a:noFill/>
          <a:ln/>
        </p:spPr>
        <p:txBody>
          <a:bodyPr wrap="square" rtlCol="0" anchor="ctr"/>
          <a:lstStyle/>
          <a:p>
            <a:pPr indent="0" marL="0">
              <a:buNone/>
            </a:pPr>
            <a:r>
              <a:rPr lang="en-US" sz="1800" dirty="0">
                <a:solidFill>
                  <a:srgbClr val="3E3D40"/>
                </a:solidFill>
                <a:latin typeface="GT Alpina" pitchFamily="34" charset="0"/>
                <a:ea typeface="GT Alpina" pitchFamily="34" charset="-122"/>
                <a:cs typeface="GT Alpina" pitchFamily="34" charset="-120"/>
              </a:rPr>
              <a:t>Las personas que construyen esta cultura</a:t>
            </a:r>
            <a:endParaRPr lang="en-US" sz="1800" dirty="0"/>
          </a:p>
        </p:txBody>
      </p:sp>
      <p:sp>
        <p:nvSpPr>
          <p:cNvPr id="24"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1371600"/>
            <a:ext cx="1188720" cy="1188720"/>
          </a:xfrm>
          <a:prstGeom prst="ellipse">
            <a:avLst/>
          </a:prstGeom>
          <a:solidFill>
            <a:srgbClr val="E84E27"/>
          </a:solidFill>
          <a:ln/>
        </p:spPr>
      </p:sp>
      <p:sp>
        <p:nvSpPr>
          <p:cNvPr id="3" name="Text 1"/>
          <p:cNvSpPr/>
          <p:nvPr/>
        </p:nvSpPr>
        <p:spPr>
          <a:xfrm>
            <a:off x="548640" y="1371600"/>
            <a:ext cx="1188720" cy="1188720"/>
          </a:xfrm>
          <a:prstGeom prst="rect">
            <a:avLst/>
          </a:prstGeom>
          <a:noFill/>
          <a:ln/>
        </p:spPr>
        <p:txBody>
          <a:bodyPr wrap="square" rtlCol="0" anchor="ctr"/>
          <a:lstStyle/>
          <a:p>
            <a:pPr algn="ctr" indent="0" marL="0">
              <a:buNone/>
            </a:pPr>
            <a:r>
              <a:rPr lang="en-US" sz="4400" b="1" dirty="0">
                <a:solidFill>
                  <a:srgbClr val="FFFFFF"/>
                </a:solidFill>
                <a:latin typeface="GT Alpina" pitchFamily="34" charset="0"/>
                <a:ea typeface="GT Alpina" pitchFamily="34" charset="-122"/>
                <a:cs typeface="GT Alpina" pitchFamily="34" charset="-120"/>
              </a:rPr>
              <a:t>1</a:t>
            </a:r>
            <a:endParaRPr lang="en-US" sz="4400" dirty="0"/>
          </a:p>
        </p:txBody>
      </p:sp>
      <p:sp>
        <p:nvSpPr>
          <p:cNvPr id="4" name="Text 0"/>
          <p:cNvSpPr/>
          <p:nvPr>
            <p:ph idx="100" type="title" hasCustomPrompt="1"/>
          </p:nvPr>
        </p:nvSpPr>
        <p:spPr>
          <a:xfrm>
            <a:off x="548640" y="3017520"/>
            <a:ext cx="11064240" cy="1463040"/>
          </a:xfrm>
          <a:prstGeom prst="rect">
            <a:avLst/>
          </a:prstGeom>
          <a:noFill/>
          <a:ln/>
        </p:spPr>
        <p:txBody>
          <a:bodyPr wrap="square" rtlCol="0" anchor="t"/>
          <a:lstStyle/>
          <a:p>
            <a:pPr algn="l" indent="0" marL="0">
              <a:buNone/>
            </a:pPr>
            <a:r>
              <a:rPr lang="en-US" sz="3800" b="1" dirty="0">
                <a:solidFill>
                  <a:srgbClr val="FFFFFF"/>
                </a:solidFill>
                <a:latin typeface="GT Alpina" pitchFamily="34" charset="0"/>
                <a:ea typeface="GT Alpina" pitchFamily="34" charset="-122"/>
                <a:cs typeface="GT Alpina" pitchFamily="34" charset="-120"/>
              </a:rPr>
              <a:t>BIENVENIDOS</a:t>
            </a:r>
            <a:endParaRPr lang="en-US" sz="3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Bienvenidos</a:t>
            </a:r>
            <a:endParaRPr lang="en-US" sz="2600" dirty="0"/>
          </a:p>
        </p:txBody>
      </p:sp>
      <p:sp>
        <p:nvSpPr>
          <p:cNvPr id="3" name="Text 1"/>
          <p:cNvSpPr txBox="1"/>
          <p:nvPr/>
        </p:nvSpPr>
        <p:spPr>
          <a:xfrm>
            <a:off x="548640" y="1463040"/>
            <a:ext cx="7315200" cy="4663440"/>
          </a:xfrm>
          <a:prstGeom prst="rect">
            <a:avLst/>
          </a:prstGeom>
          <a:noFill/>
          <a:ln/>
        </p:spPr>
        <p:txBody>
          <a:bodyPr wrap="square" rtlCol="0" anchor="t"/>
          <a:lstStyle/>
          <a:p>
            <a:pPr indent="0" marL="0">
              <a:lnSpc>
                <a:spcPct val="125000"/>
              </a:lnSpc>
              <a:buNone/>
            </a:pPr>
            <a:r>
              <a:rPr lang="en-US" sz="1500" dirty="0">
                <a:solidFill>
                  <a:srgbClr val="3E3D40"/>
                </a:solidFill>
                <a:latin typeface="Calibri" pitchFamily="34" charset="0"/>
                <a:ea typeface="Calibri" pitchFamily="34" charset="-122"/>
                <a:cs typeface="Calibri" pitchFamily="34" charset="-120"/>
              </a:rPr>
              <a:t>Si estás leyendo esto, probablemente acabas de entrar al equipo de Lady Madrid, o lleva tiempo contigo y alguien ha pensado que merecía la pena que lo leyeras con calma. Las dos razones son buenas.
</a:t>
            </a:r>
            <a:endParaRPr lang="en-US" sz="1500" dirty="0"/>
          </a:p>
          <a:p>
            <a:pPr indent="0" marL="0">
              <a:lnSpc>
                <a:spcPct val="125000"/>
              </a:lnSpc>
              <a:buNone/>
            </a:pPr>
            <a:r>
              <a:rPr lang="en-US" sz="1500" dirty="0">
                <a:solidFill>
                  <a:srgbClr val="3E3D40"/>
                </a:solidFill>
                <a:latin typeface="Calibri" pitchFamily="34" charset="0"/>
                <a:ea typeface="Calibri" pitchFamily="34" charset="-122"/>
                <a:cs typeface="Calibri" pitchFamily="34" charset="-120"/>
              </a:rPr>
              <a:t>Este documento existe porque nosotros mismos reconocemos que nos ha faltado algo: una forma escrita y compartida de explicar por qué atendemos como atendemos — no solo qué hacer, sino desde dónde lo hacemos. Ese hueco de formación no es un secreto ni una vergüenza: es el punto de partida honesto desde el que escribimos esto.
</a:t>
            </a:r>
            <a:endParaRPr lang="en-US" sz="1500" dirty="0"/>
          </a:p>
          <a:p>
            <a:pPr indent="0" marL="0">
              <a:lnSpc>
                <a:spcPct val="125000"/>
              </a:lnSpc>
              <a:buNone/>
            </a:pPr>
            <a:r>
              <a:rPr lang="en-US" sz="1500" b="1" dirty="0">
                <a:solidFill>
                  <a:srgbClr val="1D79ED"/>
                </a:solidFill>
                <a:latin typeface="Calibri" pitchFamily="34" charset="0"/>
                <a:ea typeface="Calibri" pitchFamily="34" charset="-122"/>
                <a:cs typeface="Calibri" pitchFamily="34" charset="-120"/>
              </a:rPr>
              <a:t>No es un manual de procedimientos. </a:t>
            </a:r>
            <a:pPr indent="0" marL="0">
              <a:lnSpc>
                <a:spcPct val="125000"/>
              </a:lnSpc>
              <a:buNone/>
            </a:pPr>
            <a:r>
              <a:rPr lang="en-US" sz="1500" dirty="0">
                <a:solidFill>
                  <a:srgbClr val="3E3D40"/>
                </a:solidFill>
                <a:latin typeface="Calibri" pitchFamily="34" charset="0"/>
                <a:ea typeface="Calibri" pitchFamily="34" charset="-122"/>
                <a:cs typeface="Calibri" pitchFamily="34" charset="-120"/>
              </a:rPr>
              <a:t>El recorrido de servicio paso a paso, los tiempos de referencia, cómo se trata una queja — todo eso ya está escrito en la Estrategia y Modelo Operativo, y se desarrollará con más detalle en el Operations Playbook. Aquí no lo repetimos: contamos qué significa la hospitalidad para nosotros, qué cultura queremos construir, cómo pensar cuando algo se tuerce, y cómo le damos vida en el día a día.</a:t>
            </a:r>
            <a:endParaRPr lang="en-US" sz="1500" dirty="0"/>
          </a:p>
        </p:txBody>
      </p:sp>
      <p:sp>
        <p:nvSpPr>
          <p:cNvPr id="4" name="Shape 2"/>
          <p:cNvSpPr/>
          <p:nvPr/>
        </p:nvSpPr>
        <p:spPr>
          <a:xfrm>
            <a:off x="8321040" y="1463040"/>
            <a:ext cx="3291840" cy="3291840"/>
          </a:xfrm>
          <a:prstGeom prst="roundRect">
            <a:avLst>
              <a:gd name="adj" fmla="val 3333"/>
            </a:avLst>
          </a:prstGeom>
          <a:solidFill>
            <a:srgbClr val="E7DCCC"/>
          </a:solidFill>
          <a:ln/>
        </p:spPr>
      </p:sp>
      <p:sp>
        <p:nvSpPr>
          <p:cNvPr id="5" name="Text 3"/>
          <p:cNvSpPr txBox="1"/>
          <p:nvPr/>
        </p:nvSpPr>
        <p:spPr>
          <a:xfrm>
            <a:off x="8549640" y="1691640"/>
            <a:ext cx="2834640" cy="2834640"/>
          </a:xfrm>
          <a:prstGeom prst="rect">
            <a:avLst/>
          </a:prstGeom>
          <a:noFill/>
          <a:ln/>
        </p:spPr>
        <p:txBody>
          <a:bodyPr wrap="square" rtlCol="0" anchor="t"/>
          <a:lstStyle/>
          <a:p>
            <a:pPr indent="0" marL="0">
              <a:lnSpc>
                <a:spcPct val="120000"/>
              </a:lnSpc>
              <a:buNone/>
            </a:pPr>
            <a:r>
              <a:rPr lang="en-US" sz="1300" b="1" dirty="0">
                <a:solidFill>
                  <a:srgbClr val="E84E27"/>
                </a:solidFill>
                <a:latin typeface="Calibri" pitchFamily="34" charset="0"/>
                <a:ea typeface="Calibri" pitchFamily="34" charset="-122"/>
                <a:cs typeface="Calibri" pitchFamily="34" charset="-120"/>
              </a:rPr>
              <a:t>Por qué importa ahora
</a:t>
            </a:r>
            <a:endParaRPr lang="en-US" sz="1300" dirty="0"/>
          </a:p>
          <a:p>
            <a:pPr indent="0" marL="0">
              <a:lnSpc>
                <a:spcPct val="120000"/>
              </a:lnSpc>
              <a:buNone/>
            </a:pPr>
            <a:r>
              <a:rPr lang="en-US" sz="1300" dirty="0">
                <a:solidFill>
                  <a:srgbClr val="3E3D40"/>
                </a:solidFill>
                <a:latin typeface="Calibri" pitchFamily="34" charset="0"/>
                <a:ea typeface="Calibri" pitchFamily="34" charset="-122"/>
                <a:cs typeface="Calibri" pitchFamily="34" charset="-120"/>
              </a:rPr>
              <a:t>Queremos subir el ticket medio de 8,50€ a 9-10€. Eso no se consigue empujando una venta — se consigue con un equipo que conoce de verdad el producto y recomienda porque le importa el cliente, no porque toque vender más.</a:t>
            </a:r>
            <a:endParaRPr lang="en-US" sz="1300" dirty="0"/>
          </a:p>
        </p:txBody>
      </p:sp>
      <p:sp>
        <p:nvSpPr>
          <p:cNvPr id="6"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1371600"/>
            <a:ext cx="1188720" cy="1188720"/>
          </a:xfrm>
          <a:prstGeom prst="ellipse">
            <a:avLst/>
          </a:prstGeom>
          <a:solidFill>
            <a:srgbClr val="E84E27"/>
          </a:solidFill>
          <a:ln/>
        </p:spPr>
      </p:sp>
      <p:sp>
        <p:nvSpPr>
          <p:cNvPr id="3" name="Text 1"/>
          <p:cNvSpPr/>
          <p:nvPr/>
        </p:nvSpPr>
        <p:spPr>
          <a:xfrm>
            <a:off x="548640" y="1371600"/>
            <a:ext cx="1188720" cy="1188720"/>
          </a:xfrm>
          <a:prstGeom prst="rect">
            <a:avLst/>
          </a:prstGeom>
          <a:noFill/>
          <a:ln/>
        </p:spPr>
        <p:txBody>
          <a:bodyPr wrap="square" rtlCol="0" anchor="ctr"/>
          <a:lstStyle/>
          <a:p>
            <a:pPr algn="ctr" indent="0" marL="0">
              <a:buNone/>
            </a:pPr>
            <a:r>
              <a:rPr lang="en-US" sz="4400" b="1" dirty="0">
                <a:solidFill>
                  <a:srgbClr val="FFFFFF"/>
                </a:solidFill>
                <a:latin typeface="GT Alpina" pitchFamily="34" charset="0"/>
                <a:ea typeface="GT Alpina" pitchFamily="34" charset="-122"/>
                <a:cs typeface="GT Alpina" pitchFamily="34" charset="-120"/>
              </a:rPr>
              <a:t>2</a:t>
            </a:r>
            <a:endParaRPr lang="en-US" sz="4400" dirty="0"/>
          </a:p>
        </p:txBody>
      </p:sp>
      <p:sp>
        <p:nvSpPr>
          <p:cNvPr id="4" name="Text 0"/>
          <p:cNvSpPr/>
          <p:nvPr>
            <p:ph idx="100" type="title" hasCustomPrompt="1"/>
          </p:nvPr>
        </p:nvSpPr>
        <p:spPr>
          <a:xfrm>
            <a:off x="548640" y="3017520"/>
            <a:ext cx="11064240" cy="1463040"/>
          </a:xfrm>
          <a:prstGeom prst="rect">
            <a:avLst/>
          </a:prstGeom>
          <a:noFill/>
          <a:ln/>
        </p:spPr>
        <p:txBody>
          <a:bodyPr wrap="square" rtlCol="0" anchor="t"/>
          <a:lstStyle/>
          <a:p>
            <a:pPr algn="l" indent="0" marL="0">
              <a:buNone/>
            </a:pPr>
            <a:r>
              <a:rPr lang="en-US" sz="3800" b="1" dirty="0">
                <a:solidFill>
                  <a:srgbClr val="FFFFFF"/>
                </a:solidFill>
                <a:latin typeface="GT Alpina" pitchFamily="34" charset="0"/>
                <a:ea typeface="GT Alpina" pitchFamily="34" charset="-122"/>
                <a:cs typeface="GT Alpina" pitchFamily="34" charset="-120"/>
              </a:rPr>
              <a:t>QUÉ SIGNIFICA LA HOSPITALIDAD</a:t>
            </a:r>
            <a:endParaRPr lang="en-US" sz="3800" dirty="0"/>
          </a:p>
          <a:p>
            <a:pPr algn="l" indent="0" marL="0">
              <a:buNone/>
            </a:pPr>
            <a:r>
              <a:rPr lang="en-US" sz="3800" b="1" dirty="0">
                <a:solidFill>
                  <a:srgbClr val="FFFFFF"/>
                </a:solidFill>
                <a:latin typeface="GT Alpina" pitchFamily="34" charset="0"/>
                <a:ea typeface="GT Alpina" pitchFamily="34" charset="-122"/>
                <a:cs typeface="GT Alpina" pitchFamily="34" charset="-120"/>
              </a:rPr>
              <a:t>PARA LADY MADRID</a:t>
            </a:r>
            <a:endParaRPr lang="en-US" sz="3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2.1 — Filosofía</a:t>
            </a:r>
            <a:endParaRPr lang="en-US" sz="2600" dirty="0"/>
          </a:p>
        </p:txBody>
      </p:sp>
      <p:sp>
        <p:nvSpPr>
          <p:cNvPr id="3" name="Text 1"/>
          <p:cNvSpPr txBox="1"/>
          <p:nvPr/>
        </p:nvSpPr>
        <p:spPr>
          <a:xfrm>
            <a:off x="548640" y="1463040"/>
            <a:ext cx="6675120" cy="2011680"/>
          </a:xfrm>
          <a:prstGeom prst="rect">
            <a:avLst/>
          </a:prstGeom>
          <a:noFill/>
          <a:ln/>
        </p:spPr>
        <p:txBody>
          <a:bodyPr wrap="square" rtlCol="0" anchor="ctr"/>
          <a:lstStyle/>
          <a:p>
            <a:pPr indent="0" marL="0">
              <a:lnSpc>
                <a:spcPct val="125000"/>
              </a:lnSpc>
              <a:buNone/>
            </a:pPr>
            <a:r>
              <a:rPr lang="en-US" sz="1600" dirty="0">
                <a:solidFill>
                  <a:srgbClr val="3E3D40"/>
                </a:solidFill>
                <a:latin typeface="Calibri" pitchFamily="34" charset="0"/>
                <a:ea typeface="Calibri" pitchFamily="34" charset="-122"/>
                <a:cs typeface="Calibri" pitchFamily="34" charset="-120"/>
              </a:rPr>
              <a:t>No vemos la hospitalidad como una tarea más del turno — la vemos como la forma en la que construimos comunidad, conseguimos que la gente vuelva, y nos diferenciamos de cualquier otra cafetería de la zona. No es un extra que se añade si hay tiempo. </a:t>
            </a:r>
            <a:endParaRPr lang="en-US" sz="1600" dirty="0"/>
          </a:p>
          <a:p>
            <a:pPr indent="0" marL="0">
              <a:lnSpc>
                <a:spcPct val="125000"/>
              </a:lnSpc>
              <a:buNone/>
            </a:pPr>
            <a:r>
              <a:rPr lang="en-US" sz="1600" b="1" dirty="0">
                <a:solidFill>
                  <a:srgbClr val="E84E27"/>
                </a:solidFill>
                <a:latin typeface="Calibri" pitchFamily="34" charset="0"/>
                <a:ea typeface="Calibri" pitchFamily="34" charset="-122"/>
                <a:cs typeface="Calibri" pitchFamily="34" charset="-120"/>
              </a:rPr>
              <a:t>Es, literalmente, el negocio.</a:t>
            </a:r>
            <a:endParaRPr lang="en-US" sz="1600" dirty="0"/>
          </a:p>
        </p:txBody>
      </p:sp>
      <p:sp>
        <p:nvSpPr>
          <p:cNvPr id="4" name="Shape 2"/>
          <p:cNvSpPr/>
          <p:nvPr/>
        </p:nvSpPr>
        <p:spPr>
          <a:xfrm>
            <a:off x="548640" y="3657600"/>
            <a:ext cx="10149840" cy="2103120"/>
          </a:xfrm>
          <a:prstGeom prst="roundRect">
            <a:avLst>
              <a:gd name="adj" fmla="val 4348"/>
            </a:avLst>
          </a:prstGeom>
          <a:solidFill>
            <a:srgbClr val="E7DCCC"/>
          </a:solidFill>
          <a:ln/>
        </p:spPr>
      </p:sp>
      <p:sp>
        <p:nvSpPr>
          <p:cNvPr id="5" name="Text 3"/>
          <p:cNvSpPr txBox="1"/>
          <p:nvPr/>
        </p:nvSpPr>
        <p:spPr>
          <a:xfrm>
            <a:off x="822960" y="3886200"/>
            <a:ext cx="9601200" cy="1737360"/>
          </a:xfrm>
          <a:prstGeom prst="rect">
            <a:avLst/>
          </a:prstGeom>
          <a:noFill/>
          <a:ln/>
        </p:spPr>
        <p:txBody>
          <a:bodyPr wrap="square" rtlCol="0" anchor="ctr"/>
          <a:lstStyle/>
          <a:p>
            <a:pPr indent="0" marL="0">
              <a:lnSpc>
                <a:spcPct val="120000"/>
              </a:lnSpc>
              <a:buNone/>
            </a:pPr>
            <a:r>
              <a:rPr lang="en-US" sz="1450" b="1" dirty="0">
                <a:solidFill>
                  <a:srgbClr val="3E3D40"/>
                </a:solidFill>
                <a:latin typeface="Calibri" pitchFamily="34" charset="0"/>
                <a:ea typeface="Calibri" pitchFamily="34" charset="-122"/>
                <a:cs typeface="Calibri" pitchFamily="34" charset="-120"/>
              </a:rPr>
              <a:t>Hay un orden, y no es casualidad:
</a:t>
            </a:r>
            <a:endParaRPr lang="en-US" sz="1450" dirty="0"/>
          </a:p>
          <a:p>
            <a:pPr indent="0" marL="0">
              <a:lnSpc>
                <a:spcPct val="120000"/>
              </a:lnSpc>
              <a:buNone/>
            </a:pPr>
            <a:r>
              <a:rPr lang="en-US" sz="1450" dirty="0">
                <a:solidFill>
                  <a:srgbClr val="3E3D40"/>
                </a:solidFill>
                <a:latin typeface="Calibri" pitchFamily="34" charset="0"/>
                <a:ea typeface="Calibri" pitchFamily="34" charset="-122"/>
                <a:cs typeface="Calibri" pitchFamily="34" charset="-120"/>
              </a:rPr>
              <a:t>antes que la marca, antes que el producto, antes que cualquier otra cosa, está cómo tratamos a la persona que tenemos delante. Si alguna vez hay que elegir entre quedar bien con la marca o quedar bien con la persona, elegimos a la persona. No es una frase bonita: es el criterio real que usamos cuando algo no sale como esperábamos.</a:t>
            </a:r>
            <a:endParaRPr lang="en-US" sz="1450" dirty="0"/>
          </a:p>
        </p:txBody>
      </p:sp>
      <p:sp>
        <p:nvSpPr>
          <p:cNvPr id="6"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2.2 — Visión  ·  2.4 — Promesa al cliente</a:t>
            </a:r>
            <a:endParaRPr lang="en-US" sz="2600" dirty="0"/>
          </a:p>
        </p:txBody>
      </p:sp>
      <p:sp>
        <p:nvSpPr>
          <p:cNvPr id="3" name="Shape 1"/>
          <p:cNvSpPr/>
          <p:nvPr/>
        </p:nvSpPr>
        <p:spPr>
          <a:xfrm>
            <a:off x="548640" y="1463040"/>
            <a:ext cx="5120640" cy="4480560"/>
          </a:xfrm>
          <a:prstGeom prst="roundRect">
            <a:avLst>
              <a:gd name="adj" fmla="val 2041"/>
            </a:avLst>
          </a:prstGeom>
          <a:solidFill>
            <a:srgbClr val="FFFFFF"/>
          </a:solidFill>
          <a:ln w="19050">
            <a:solidFill>
              <a:srgbClr val="E7DCCC"/>
            </a:solidFill>
            <a:prstDash val="solid"/>
          </a:ln>
        </p:spPr>
      </p:sp>
      <p:sp>
        <p:nvSpPr>
          <p:cNvPr id="4" name="Text 2"/>
          <p:cNvSpPr txBox="1"/>
          <p:nvPr/>
        </p:nvSpPr>
        <p:spPr>
          <a:xfrm>
            <a:off x="868680" y="1691640"/>
            <a:ext cx="4572000" cy="365760"/>
          </a:xfrm>
          <a:prstGeom prst="rect">
            <a:avLst/>
          </a:prstGeom>
          <a:noFill/>
          <a:ln/>
        </p:spPr>
        <p:txBody>
          <a:bodyPr wrap="square" rtlCol="0" anchor="ctr"/>
          <a:lstStyle/>
          <a:p>
            <a:pPr indent="0" marL="0">
              <a:buNone/>
            </a:pPr>
            <a:r>
              <a:rPr lang="en-US" sz="1200" b="1" dirty="0">
                <a:solidFill>
                  <a:srgbClr val="1D79ED"/>
                </a:solidFill>
                <a:latin typeface="Calibri" pitchFamily="34" charset="0"/>
                <a:ea typeface="Calibri" pitchFamily="34" charset="-122"/>
                <a:cs typeface="Calibri" pitchFamily="34" charset="-120"/>
              </a:rPr>
              <a:t>VISIÓN</a:t>
            </a:r>
            <a:endParaRPr lang="en-US" sz="1200" dirty="0"/>
          </a:p>
        </p:txBody>
      </p:sp>
      <p:sp>
        <p:nvSpPr>
          <p:cNvPr id="5" name="Text 3"/>
          <p:cNvSpPr txBox="1"/>
          <p:nvPr/>
        </p:nvSpPr>
        <p:spPr>
          <a:xfrm>
            <a:off x="868680" y="2103120"/>
            <a:ext cx="4480560" cy="3657600"/>
          </a:xfrm>
          <a:prstGeom prst="rect">
            <a:avLst/>
          </a:prstGeom>
          <a:noFill/>
          <a:ln/>
        </p:spPr>
        <p:txBody>
          <a:bodyPr wrap="square" rtlCol="0" anchor="ctr"/>
          <a:lstStyle/>
          <a:p>
            <a:pPr indent="0" marL="0">
              <a:lnSpc>
                <a:spcPct val="125000"/>
              </a:lnSpc>
              <a:buNone/>
            </a:pPr>
            <a:r>
              <a:rPr lang="en-US" sz="1400" dirty="0">
                <a:solidFill>
                  <a:srgbClr val="3E3D40"/>
                </a:solidFill>
                <a:latin typeface="Calibri" pitchFamily="34" charset="0"/>
                <a:ea typeface="Calibri" pitchFamily="34" charset="-122"/>
                <a:cs typeface="Calibri" pitchFamily="34" charset="-120"/>
              </a:rPr>
              <a:t>Queremos que quien entre por la puerta de Lady Madrid — en Plaza República Dominicana o en Parquesur, da igual — sienta que ha pasado de ser un desconocido a ser alguien recibido, no solo atendido.</a:t>
            </a:r>
            <a:endParaRPr lang="en-US" sz="1400" dirty="0"/>
          </a:p>
          <a:p>
            <a:pPr indent="0" marL="0">
              <a:lnSpc>
                <a:spcPct val="125000"/>
              </a:lnSpc>
              <a:buNone/>
            </a:pPr>
            <a:endParaRPr lang="en-US" sz="1400" dirty="0"/>
          </a:p>
          <a:p>
            <a:pPr indent="0" marL="0">
              <a:lnSpc>
                <a:spcPct val="125000"/>
              </a:lnSpc>
              <a:buNone/>
            </a:pPr>
            <a:r>
              <a:rPr lang="en-US" sz="1400" dirty="0">
                <a:solidFill>
                  <a:srgbClr val="3E3D40"/>
                </a:solidFill>
                <a:latin typeface="Calibri" pitchFamily="34" charset="0"/>
                <a:ea typeface="Calibri" pitchFamily="34" charset="-122"/>
                <a:cs typeface="Calibri" pitchFamily="34" charset="-120"/>
              </a:rPr>
              <a:t>No aspiramos a la formalidad de un restaurante de alta cocina. Aspiramos a algo más difícil de sostener: que cualquier persona, venga como venga el día, se lleve una experiencia cuidada de verdad.</a:t>
            </a:r>
            <a:endParaRPr lang="en-US" sz="1400" dirty="0"/>
          </a:p>
        </p:txBody>
      </p:sp>
      <p:sp>
        <p:nvSpPr>
          <p:cNvPr id="6" name="Shape 4"/>
          <p:cNvSpPr/>
          <p:nvPr/>
        </p:nvSpPr>
        <p:spPr>
          <a:xfrm>
            <a:off x="6492240" y="1463040"/>
            <a:ext cx="5120640" cy="4480560"/>
          </a:xfrm>
          <a:prstGeom prst="roundRect">
            <a:avLst>
              <a:gd name="adj" fmla="val 2041"/>
            </a:avLst>
          </a:prstGeom>
          <a:solidFill>
            <a:srgbClr val="1D79ED"/>
          </a:solidFill>
          <a:ln/>
        </p:spPr>
      </p:sp>
      <p:sp>
        <p:nvSpPr>
          <p:cNvPr id="7" name="Text 5"/>
          <p:cNvSpPr txBox="1"/>
          <p:nvPr/>
        </p:nvSpPr>
        <p:spPr>
          <a:xfrm>
            <a:off x="6812280" y="1691640"/>
            <a:ext cx="4572000" cy="365760"/>
          </a:xfrm>
          <a:prstGeom prst="rect">
            <a:avLst/>
          </a:prstGeom>
          <a:noFill/>
          <a:ln/>
        </p:spPr>
        <p:txBody>
          <a:bodyPr wrap="square" rtlCol="0" anchor="ctr"/>
          <a:lstStyle/>
          <a:p>
            <a:pPr indent="0" marL="0">
              <a:buNone/>
            </a:pPr>
            <a:r>
              <a:rPr lang="en-US" sz="1200" b="1" dirty="0">
                <a:solidFill>
                  <a:srgbClr val="E7DCCC"/>
                </a:solidFill>
                <a:latin typeface="Calibri" pitchFamily="34" charset="0"/>
                <a:ea typeface="Calibri" pitchFamily="34" charset="-122"/>
                <a:cs typeface="Calibri" pitchFamily="34" charset="-120"/>
              </a:rPr>
              <a:t>PROMESA AL CLIENTE</a:t>
            </a:r>
            <a:endParaRPr lang="en-US" sz="1200" dirty="0"/>
          </a:p>
        </p:txBody>
      </p:sp>
      <p:sp>
        <p:nvSpPr>
          <p:cNvPr id="8" name="Text 6"/>
          <p:cNvSpPr txBox="1"/>
          <p:nvPr/>
        </p:nvSpPr>
        <p:spPr>
          <a:xfrm>
            <a:off x="6812280" y="2103120"/>
            <a:ext cx="4480560" cy="3657600"/>
          </a:xfrm>
          <a:prstGeom prst="rect">
            <a:avLst/>
          </a:prstGeom>
          <a:noFill/>
          <a:ln/>
        </p:spPr>
        <p:txBody>
          <a:bodyPr wrap="square" rtlCol="0" anchor="ctr"/>
          <a:lstStyle/>
          <a:p>
            <a:pPr indent="0" marL="0">
              <a:lnSpc>
                <a:spcPct val="125000"/>
              </a:lnSpc>
              <a:buNone/>
            </a:pPr>
            <a:r>
              <a:rPr lang="en-US" sz="1700" b="1" dirty="0">
                <a:solidFill>
                  <a:srgbClr val="FFFFFF"/>
                </a:solidFill>
                <a:latin typeface="Calibri" pitchFamily="34" charset="0"/>
                <a:ea typeface="Calibri" pitchFamily="34" charset="-122"/>
                <a:cs typeface="Calibri" pitchFamily="34" charset="-120"/>
              </a:rPr>
              <a:t>Todo cliente merece una experiencia cuidada, le pille como le pille el día.
</a:t>
            </a:r>
            <a:endParaRPr lang="en-US" sz="1700" dirty="0"/>
          </a:p>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No decidimos cuánto nos esforzamos según lo que el cliente nos devuelve. La promesa no es “seremos simpáticos si tú lo eres primero”. La promesa es que el cuidado no es condicional.</a:t>
            </a:r>
            <a:endParaRPr lang="en-US" sz="1700" dirty="0"/>
          </a:p>
        </p:txBody>
      </p:sp>
      <p:sp>
        <p:nvSpPr>
          <p:cNvPr id="9"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731520"/>
            <a:ext cx="5486400" cy="457200"/>
          </a:xfrm>
          <a:prstGeom prst="rect">
            <a:avLst/>
          </a:prstGeom>
          <a:noFill/>
          <a:ln/>
        </p:spPr>
        <p:txBody>
          <a:bodyPr wrap="square" rtlCol="0" anchor="ctr"/>
          <a:lstStyle/>
          <a:p>
            <a:pPr indent="0" marL="0">
              <a:buNone/>
            </a:pPr>
            <a:r>
              <a:rPr lang="en-US" sz="1300" dirty="0">
                <a:solidFill>
                  <a:srgbClr val="E7DCCC"/>
                </a:solidFill>
                <a:latin typeface="Calibri" pitchFamily="34" charset="0"/>
                <a:ea typeface="Calibri" pitchFamily="34" charset="-122"/>
                <a:cs typeface="Calibri" pitchFamily="34" charset="-120"/>
              </a:rPr>
              <a:t>2.3 — MANTRA</a:t>
            </a:r>
            <a:endParaRPr lang="en-US" sz="1300" dirty="0"/>
          </a:p>
        </p:txBody>
      </p:sp>
      <p:sp>
        <p:nvSpPr>
          <p:cNvPr id="3" name="Text 1"/>
          <p:cNvSpPr txBox="1"/>
          <p:nvPr/>
        </p:nvSpPr>
        <p:spPr>
          <a:xfrm>
            <a:off x="548640" y="2194560"/>
            <a:ext cx="11064240" cy="2194560"/>
          </a:xfrm>
          <a:prstGeom prst="rect">
            <a:avLst/>
          </a:prstGeom>
          <a:noFill/>
          <a:ln/>
        </p:spPr>
        <p:txBody>
          <a:bodyPr wrap="square" rtlCol="0" anchor="ctr"/>
          <a:lstStyle/>
          <a:p>
            <a:pPr algn="l" indent="0" marL="0">
              <a:buNone/>
            </a:pPr>
            <a:r>
              <a:rPr lang="en-US" sz="4600" b="1" dirty="0">
                <a:solidFill>
                  <a:srgbClr val="FFFFFF"/>
                </a:solidFill>
                <a:latin typeface="GT Alpina" pitchFamily="34" charset="0"/>
                <a:ea typeface="GT Alpina" pitchFamily="34" charset="-122"/>
                <a:cs typeface="GT Alpina" pitchFamily="34" charset="-120"/>
              </a:rPr>
              <a:t>“No servimos mesas:</a:t>
            </a:r>
            <a:endParaRPr lang="en-US" sz="4600" dirty="0"/>
          </a:p>
          <a:p>
            <a:pPr algn="l" indent="0" marL="0">
              <a:buNone/>
            </a:pPr>
            <a:r>
              <a:rPr lang="en-US" sz="4600" b="1" dirty="0">
                <a:solidFill>
                  <a:srgbClr val="FFFFFF"/>
                </a:solidFill>
                <a:latin typeface="GT Alpina" pitchFamily="34" charset="0"/>
                <a:ea typeface="GT Alpina" pitchFamily="34" charset="-122"/>
                <a:cs typeface="GT Alpina" pitchFamily="34" charset="-120"/>
              </a:rPr>
              <a:t>recibimos personas.”</a:t>
            </a:r>
            <a:endParaRPr lang="en-US" sz="4600" dirty="0"/>
          </a:p>
        </p:txBody>
      </p:sp>
      <p:sp>
        <p:nvSpPr>
          <p:cNvPr id="4" name="Shape 2"/>
          <p:cNvSpPr/>
          <p:nvPr/>
        </p:nvSpPr>
        <p:spPr>
          <a:xfrm>
            <a:off x="548640" y="4572000"/>
            <a:ext cx="1463040" cy="54864"/>
          </a:xfrm>
          <a:prstGeom prst="rect">
            <a:avLst/>
          </a:prstGeom>
          <a:solidFill>
            <a:srgbClr val="E84E27"/>
          </a:solidFill>
          <a:ln/>
        </p:spPr>
      </p:sp>
      <p:sp>
        <p:nvSpPr>
          <p:cNvPr id="5" name="Text 3"/>
          <p:cNvSpPr txBox="1"/>
          <p:nvPr/>
        </p:nvSpPr>
        <p:spPr>
          <a:xfrm>
            <a:off x="548640" y="4846320"/>
            <a:ext cx="8686800" cy="1554480"/>
          </a:xfrm>
          <a:prstGeom prst="rect">
            <a:avLst/>
          </a:prstGeom>
          <a:noFill/>
          <a:ln/>
        </p:spPr>
        <p:txBody>
          <a:bodyPr wrap="square" rtlCol="0" anchor="ctr"/>
          <a:lstStyle/>
          <a:p>
            <a:pPr indent="0" marL="0">
              <a:lnSpc>
                <a:spcPct val="125000"/>
              </a:lnSpc>
              <a:buNone/>
            </a:pPr>
            <a:r>
              <a:rPr lang="en-US" sz="1400" dirty="0">
                <a:solidFill>
                  <a:srgbClr val="E7DCCC"/>
                </a:solidFill>
                <a:latin typeface="Calibri" pitchFamily="34" charset="0"/>
                <a:ea typeface="Calibri" pitchFamily="34" charset="-122"/>
                <a:cs typeface="Calibri" pitchFamily="34" charset="-120"/>
              </a:rPr>
              <a:t>Nace de nuestro primer principio — “somos anfitriones antes que camareros” — y de algo muy concreto que ya decimos: nos dirigimos a la persona que tenemos delante, no “a la mesa 4”. Es también la frase que más nos protege del riesgo de pensar en números antes que en personas.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1371600"/>
            <a:ext cx="1188720" cy="1188720"/>
          </a:xfrm>
          <a:prstGeom prst="ellipse">
            <a:avLst/>
          </a:prstGeom>
          <a:solidFill>
            <a:srgbClr val="E84E27"/>
          </a:solidFill>
          <a:ln/>
        </p:spPr>
      </p:sp>
      <p:sp>
        <p:nvSpPr>
          <p:cNvPr id="3" name="Text 1"/>
          <p:cNvSpPr/>
          <p:nvPr/>
        </p:nvSpPr>
        <p:spPr>
          <a:xfrm>
            <a:off x="548640" y="1371600"/>
            <a:ext cx="1188720" cy="1188720"/>
          </a:xfrm>
          <a:prstGeom prst="rect">
            <a:avLst/>
          </a:prstGeom>
          <a:noFill/>
          <a:ln/>
        </p:spPr>
        <p:txBody>
          <a:bodyPr wrap="square" rtlCol="0" anchor="ctr"/>
          <a:lstStyle/>
          <a:p>
            <a:pPr algn="ctr" indent="0" marL="0">
              <a:buNone/>
            </a:pPr>
            <a:r>
              <a:rPr lang="en-US" sz="4400" b="1" dirty="0">
                <a:solidFill>
                  <a:srgbClr val="FFFFFF"/>
                </a:solidFill>
                <a:latin typeface="GT Alpina" pitchFamily="34" charset="0"/>
                <a:ea typeface="GT Alpina" pitchFamily="34" charset="-122"/>
                <a:cs typeface="GT Alpina" pitchFamily="34" charset="-120"/>
              </a:rPr>
              <a:t>3</a:t>
            </a:r>
            <a:endParaRPr lang="en-US" sz="4400" dirty="0"/>
          </a:p>
        </p:txBody>
      </p:sp>
      <p:sp>
        <p:nvSpPr>
          <p:cNvPr id="4" name="Text 0"/>
          <p:cNvSpPr/>
          <p:nvPr>
            <p:ph idx="100" type="title" hasCustomPrompt="1"/>
          </p:nvPr>
        </p:nvSpPr>
        <p:spPr>
          <a:xfrm>
            <a:off x="548640" y="3017520"/>
            <a:ext cx="11064240" cy="1463040"/>
          </a:xfrm>
          <a:prstGeom prst="rect">
            <a:avLst/>
          </a:prstGeom>
          <a:noFill/>
          <a:ln/>
        </p:spPr>
        <p:txBody>
          <a:bodyPr wrap="square" rtlCol="0" anchor="t"/>
          <a:lstStyle/>
          <a:p>
            <a:pPr algn="l" indent="0" marL="0">
              <a:buNone/>
            </a:pPr>
            <a:r>
              <a:rPr lang="en-US" sz="3800" b="1" dirty="0">
                <a:solidFill>
                  <a:srgbClr val="FFFFFF"/>
                </a:solidFill>
                <a:latin typeface="GT Alpina" pitchFamily="34" charset="0"/>
                <a:ea typeface="GT Alpina" pitchFamily="34" charset="-122"/>
                <a:cs typeface="GT Alpina" pitchFamily="34" charset="-120"/>
              </a:rPr>
              <a:t>LA CULTURA QUE</a:t>
            </a:r>
            <a:endParaRPr lang="en-US" sz="3800" dirty="0"/>
          </a:p>
          <a:p>
            <a:pPr algn="l" indent="0" marL="0">
              <a:buNone/>
            </a:pPr>
            <a:r>
              <a:rPr lang="en-US" sz="3800" b="1" dirty="0">
                <a:solidFill>
                  <a:srgbClr val="FFFFFF"/>
                </a:solidFill>
                <a:latin typeface="GT Alpina" pitchFamily="34" charset="0"/>
                <a:ea typeface="GT Alpina" pitchFamily="34" charset="-122"/>
                <a:cs typeface="GT Alpina" pitchFamily="34" charset="-120"/>
              </a:rPr>
              <a:t>QUEREMOS CONSTRUIR</a:t>
            </a:r>
            <a:endParaRPr lang="en-US" sz="3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3.1 — Nuestros principios culturales (1/2)</a:t>
            </a:r>
            <a:endParaRPr lang="en-US" sz="2600" dirty="0"/>
          </a:p>
        </p:txBody>
      </p:sp>
      <p:sp>
        <p:nvSpPr>
          <p:cNvPr id="3" name="Shape 1"/>
          <p:cNvSpPr/>
          <p:nvPr/>
        </p:nvSpPr>
        <p:spPr>
          <a:xfrm>
            <a:off x="548640" y="1417320"/>
            <a:ext cx="502920" cy="502920"/>
          </a:xfrm>
          <a:prstGeom prst="ellipse">
            <a:avLst/>
          </a:prstGeom>
          <a:solidFill>
            <a:srgbClr val="E84E27"/>
          </a:solidFill>
          <a:ln/>
        </p:spPr>
      </p:sp>
      <p:sp>
        <p:nvSpPr>
          <p:cNvPr id="4" name="Text 2"/>
          <p:cNvSpPr/>
          <p:nvPr/>
        </p:nvSpPr>
        <p:spPr>
          <a:xfrm>
            <a:off x="548640" y="1417320"/>
            <a:ext cx="502920" cy="502920"/>
          </a:xfrm>
          <a:prstGeom prst="rect">
            <a:avLst/>
          </a:prstGeom>
          <a:noFill/>
          <a:ln/>
        </p:spPr>
        <p:txBody>
          <a:bodyPr wrap="square" rtlCol="0" anchor="ctr"/>
          <a:lstStyle/>
          <a:p>
            <a:pPr algn="ctr" indent="0" marL="0">
              <a:buNone/>
            </a:pPr>
            <a:r>
              <a:rPr lang="en-US" sz="1800" b="1" dirty="0">
                <a:solidFill>
                  <a:srgbClr val="FFFFFF"/>
                </a:solidFill>
                <a:latin typeface="GT Alpina" pitchFamily="34" charset="0"/>
                <a:ea typeface="GT Alpina" pitchFamily="34" charset="-122"/>
                <a:cs typeface="GT Alpina" pitchFamily="34" charset="-120"/>
              </a:rPr>
              <a:t>1</a:t>
            </a:r>
            <a:endParaRPr lang="en-US" sz="1800" dirty="0"/>
          </a:p>
        </p:txBody>
      </p:sp>
      <p:sp>
        <p:nvSpPr>
          <p:cNvPr id="5" name="Text 3"/>
          <p:cNvSpPr txBox="1"/>
          <p:nvPr/>
        </p:nvSpPr>
        <p:spPr>
          <a:xfrm>
            <a:off x="1234440" y="1344168"/>
            <a:ext cx="9966960" cy="1188720"/>
          </a:xfrm>
          <a:prstGeom prst="rect">
            <a:avLst/>
          </a:prstGeom>
          <a:noFill/>
          <a:ln/>
        </p:spPr>
        <p:txBody>
          <a:bodyPr wrap="square" rtlCol="0" anchor="t"/>
          <a:lstStyle/>
          <a:p>
            <a:pPr indent="0" marL="0">
              <a:lnSpc>
                <a:spcPct val="120000"/>
              </a:lnSpc>
              <a:buNone/>
            </a:pPr>
            <a:r>
              <a:rPr lang="en-US" sz="1350" b="1" dirty="0">
                <a:solidFill>
                  <a:srgbClr val="3E3D40"/>
                </a:solidFill>
                <a:latin typeface="Calibri" pitchFamily="34" charset="0"/>
                <a:ea typeface="Calibri" pitchFamily="34" charset="-122"/>
                <a:cs typeface="Calibri" pitchFamily="34" charset="-120"/>
              </a:rPr>
              <a:t>Somos anfitriones antes que camareros.  </a:t>
            </a:r>
            <a:pPr indent="0" marL="0">
              <a:lnSpc>
                <a:spcPct val="120000"/>
              </a:lnSpc>
              <a:buNone/>
            </a:pPr>
            <a:r>
              <a:rPr lang="en-US" sz="1350" dirty="0">
                <a:solidFill>
                  <a:srgbClr val="5A5A5C"/>
                </a:solidFill>
                <a:latin typeface="Calibri" pitchFamily="34" charset="0"/>
                <a:ea typeface="Calibri" pitchFamily="34" charset="-122"/>
                <a:cs typeface="Calibri" pitchFamily="34" charset="-120"/>
              </a:rPr>
              <a:t>Recibir a alguien y explicarle qué es Lady Madrid no es un añadido simpático: es el servicio mismo, desde el primer segundo.</a:t>
            </a:r>
            <a:endParaRPr lang="en-US" sz="1350" dirty="0"/>
          </a:p>
        </p:txBody>
      </p:sp>
      <p:sp>
        <p:nvSpPr>
          <p:cNvPr id="6" name="Shape 4"/>
          <p:cNvSpPr/>
          <p:nvPr/>
        </p:nvSpPr>
        <p:spPr>
          <a:xfrm>
            <a:off x="548640" y="2788920"/>
            <a:ext cx="502920" cy="502920"/>
          </a:xfrm>
          <a:prstGeom prst="ellipse">
            <a:avLst/>
          </a:prstGeom>
          <a:solidFill>
            <a:srgbClr val="E84E27"/>
          </a:solidFill>
          <a:ln/>
        </p:spPr>
      </p:sp>
      <p:sp>
        <p:nvSpPr>
          <p:cNvPr id="7" name="Text 5"/>
          <p:cNvSpPr/>
          <p:nvPr/>
        </p:nvSpPr>
        <p:spPr>
          <a:xfrm>
            <a:off x="548640" y="2788920"/>
            <a:ext cx="502920" cy="502920"/>
          </a:xfrm>
          <a:prstGeom prst="rect">
            <a:avLst/>
          </a:prstGeom>
          <a:noFill/>
          <a:ln/>
        </p:spPr>
        <p:txBody>
          <a:bodyPr wrap="square" rtlCol="0" anchor="ctr"/>
          <a:lstStyle/>
          <a:p>
            <a:pPr algn="ctr" indent="0" marL="0">
              <a:buNone/>
            </a:pPr>
            <a:r>
              <a:rPr lang="en-US" sz="1800" b="1" dirty="0">
                <a:solidFill>
                  <a:srgbClr val="FFFFFF"/>
                </a:solidFill>
                <a:latin typeface="GT Alpina" pitchFamily="34" charset="0"/>
                <a:ea typeface="GT Alpina" pitchFamily="34" charset="-122"/>
                <a:cs typeface="GT Alpina" pitchFamily="34" charset="-120"/>
              </a:rPr>
              <a:t>2</a:t>
            </a:r>
            <a:endParaRPr lang="en-US" sz="1800" dirty="0"/>
          </a:p>
        </p:txBody>
      </p:sp>
      <p:sp>
        <p:nvSpPr>
          <p:cNvPr id="8" name="Text 6"/>
          <p:cNvSpPr txBox="1"/>
          <p:nvPr/>
        </p:nvSpPr>
        <p:spPr>
          <a:xfrm>
            <a:off x="1234440" y="2715768"/>
            <a:ext cx="9966960" cy="1188720"/>
          </a:xfrm>
          <a:prstGeom prst="rect">
            <a:avLst/>
          </a:prstGeom>
          <a:noFill/>
          <a:ln/>
        </p:spPr>
        <p:txBody>
          <a:bodyPr wrap="square" rtlCol="0" anchor="t"/>
          <a:lstStyle/>
          <a:p>
            <a:pPr indent="0" marL="0">
              <a:lnSpc>
                <a:spcPct val="120000"/>
              </a:lnSpc>
              <a:buNone/>
            </a:pPr>
            <a:r>
              <a:rPr lang="en-US" sz="1350" b="1" dirty="0">
                <a:solidFill>
                  <a:srgbClr val="3E3D40"/>
                </a:solidFill>
                <a:latin typeface="Calibri" pitchFamily="34" charset="0"/>
                <a:ea typeface="Calibri" pitchFamily="34" charset="-122"/>
                <a:cs typeface="Calibri" pitchFamily="34" charset="-120"/>
              </a:rPr>
              <a:t>La atención no depende del cliente, depende de nosotros.  </a:t>
            </a:r>
            <a:pPr indent="0" marL="0">
              <a:lnSpc>
                <a:spcPct val="120000"/>
              </a:lnSpc>
              <a:buNone/>
            </a:pPr>
            <a:r>
              <a:rPr lang="en-US" sz="1350" dirty="0">
                <a:solidFill>
                  <a:srgbClr val="5A5A5C"/>
                </a:solidFill>
                <a:latin typeface="Calibri" pitchFamily="34" charset="0"/>
                <a:ea typeface="Calibri" pitchFamily="34" charset="-122"/>
                <a:cs typeface="Calibri" pitchFamily="34" charset="-120"/>
              </a:rPr>
              <a:t>Es el principio más exigente de los siete: una disponibilidad que no se agota cuando el cliente no la facilita — una decisión nuestra, repetida cada vez.</a:t>
            </a:r>
            <a:endParaRPr lang="en-US" sz="1350" dirty="0"/>
          </a:p>
        </p:txBody>
      </p:sp>
      <p:sp>
        <p:nvSpPr>
          <p:cNvPr id="9" name="Shape 7"/>
          <p:cNvSpPr/>
          <p:nvPr/>
        </p:nvSpPr>
        <p:spPr>
          <a:xfrm>
            <a:off x="548640" y="4160520"/>
            <a:ext cx="502920" cy="502920"/>
          </a:xfrm>
          <a:prstGeom prst="ellipse">
            <a:avLst/>
          </a:prstGeom>
          <a:solidFill>
            <a:srgbClr val="E84E27"/>
          </a:solidFill>
          <a:ln/>
        </p:spPr>
      </p:sp>
      <p:sp>
        <p:nvSpPr>
          <p:cNvPr id="10" name="Text 8"/>
          <p:cNvSpPr/>
          <p:nvPr/>
        </p:nvSpPr>
        <p:spPr>
          <a:xfrm>
            <a:off x="548640" y="4160520"/>
            <a:ext cx="502920" cy="502920"/>
          </a:xfrm>
          <a:prstGeom prst="rect">
            <a:avLst/>
          </a:prstGeom>
          <a:noFill/>
          <a:ln/>
        </p:spPr>
        <p:txBody>
          <a:bodyPr wrap="square" rtlCol="0" anchor="ctr"/>
          <a:lstStyle/>
          <a:p>
            <a:pPr algn="ctr" indent="0" marL="0">
              <a:buNone/>
            </a:pPr>
            <a:r>
              <a:rPr lang="en-US" sz="1800" b="1" dirty="0">
                <a:solidFill>
                  <a:srgbClr val="FFFFFF"/>
                </a:solidFill>
                <a:latin typeface="GT Alpina" pitchFamily="34" charset="0"/>
                <a:ea typeface="GT Alpina" pitchFamily="34" charset="-122"/>
                <a:cs typeface="GT Alpina" pitchFamily="34" charset="-120"/>
              </a:rPr>
              <a:t>3</a:t>
            </a:r>
            <a:endParaRPr lang="en-US" sz="1800" dirty="0"/>
          </a:p>
        </p:txBody>
      </p:sp>
      <p:sp>
        <p:nvSpPr>
          <p:cNvPr id="11" name="Text 9"/>
          <p:cNvSpPr txBox="1"/>
          <p:nvPr/>
        </p:nvSpPr>
        <p:spPr>
          <a:xfrm>
            <a:off x="1234440" y="4087368"/>
            <a:ext cx="9966960" cy="1188720"/>
          </a:xfrm>
          <a:prstGeom prst="rect">
            <a:avLst/>
          </a:prstGeom>
          <a:noFill/>
          <a:ln/>
        </p:spPr>
        <p:txBody>
          <a:bodyPr wrap="square" rtlCol="0" anchor="t"/>
          <a:lstStyle/>
          <a:p>
            <a:pPr indent="0" marL="0">
              <a:lnSpc>
                <a:spcPct val="120000"/>
              </a:lnSpc>
              <a:buNone/>
            </a:pPr>
            <a:r>
              <a:rPr lang="en-US" sz="1350" b="1" dirty="0">
                <a:solidFill>
                  <a:srgbClr val="3E3D40"/>
                </a:solidFill>
                <a:latin typeface="Calibri" pitchFamily="34" charset="0"/>
                <a:ea typeface="Calibri" pitchFamily="34" charset="-122"/>
                <a:cs typeface="Calibri" pitchFamily="34" charset="-120"/>
              </a:rPr>
              <a:t>Todo comunica, todo suma.  </a:t>
            </a:r>
            <a:pPr indent="0" marL="0">
              <a:lnSpc>
                <a:spcPct val="120000"/>
              </a:lnSpc>
              <a:buNone/>
            </a:pPr>
            <a:r>
              <a:rPr lang="en-US" sz="1350" dirty="0">
                <a:solidFill>
                  <a:srgbClr val="5A5A5C"/>
                </a:solidFill>
                <a:latin typeface="Calibri" pitchFamily="34" charset="0"/>
                <a:ea typeface="Calibri" pitchFamily="34" charset="-122"/>
                <a:cs typeface="Calibri" pitchFamily="34" charset="-120"/>
              </a:rPr>
              <a:t>La cultura vive también en lo que el espacio transmite sin palabras: el orden, la luz, la música, la limpieza.</a:t>
            </a:r>
            <a:endParaRPr lang="en-US" sz="1350" dirty="0"/>
          </a:p>
        </p:txBody>
      </p:sp>
      <p:sp>
        <p:nvSpPr>
          <p:cNvPr id="12" name="Shape 10"/>
          <p:cNvSpPr/>
          <p:nvPr/>
        </p:nvSpPr>
        <p:spPr>
          <a:xfrm>
            <a:off x="548640" y="5577840"/>
            <a:ext cx="10149840" cy="914400"/>
          </a:xfrm>
          <a:prstGeom prst="roundRect">
            <a:avLst>
              <a:gd name="adj" fmla="val 8000"/>
            </a:avLst>
          </a:prstGeom>
          <a:solidFill>
            <a:srgbClr val="E7DCCC"/>
          </a:solidFill>
          <a:ln/>
        </p:spPr>
      </p:sp>
      <p:sp>
        <p:nvSpPr>
          <p:cNvPr id="13" name="Text 11"/>
          <p:cNvSpPr txBox="1"/>
          <p:nvPr/>
        </p:nvSpPr>
        <p:spPr>
          <a:xfrm>
            <a:off x="777240" y="5715000"/>
            <a:ext cx="9692640" cy="640080"/>
          </a:xfrm>
          <a:prstGeom prst="rect">
            <a:avLst/>
          </a:prstGeom>
          <a:noFill/>
          <a:ln/>
        </p:spPr>
        <p:txBody>
          <a:bodyPr wrap="square" rtlCol="0" anchor="ctr"/>
          <a:lstStyle/>
          <a:p>
            <a:pPr indent="0" marL="0">
              <a:lnSpc>
                <a:spcPct val="115000"/>
              </a:lnSpc>
              <a:buNone/>
            </a:pPr>
            <a:r>
              <a:rPr lang="en-US" sz="1250" b="1" dirty="0">
                <a:solidFill>
                  <a:srgbClr val="E84E27"/>
                </a:solidFill>
                <a:latin typeface="Calibri" pitchFamily="34" charset="0"/>
                <a:ea typeface="Calibri" pitchFamily="34" charset="-122"/>
                <a:cs typeface="Calibri" pitchFamily="34" charset="-120"/>
              </a:rPr>
              <a:t>Honestidad real: </a:t>
            </a:r>
            <a:pPr indent="0" marL="0">
              <a:lnSpc>
                <a:spcPct val="115000"/>
              </a:lnSpc>
              <a:buNone/>
            </a:pPr>
            <a:r>
              <a:rPr lang="en-US" sz="1250" dirty="0">
                <a:solidFill>
                  <a:srgbClr val="3E3D40"/>
                </a:solidFill>
                <a:latin typeface="Calibri" pitchFamily="34" charset="0"/>
                <a:ea typeface="Calibri" pitchFamily="34" charset="-122"/>
                <a:cs typeface="Calibri" pitchFamily="34" charset="-120"/>
              </a:rPr>
              <a:t>el principio 2 es más fácil de sostener cuando hay alguien más en el turno. De lunes a jueves por la mañana, el servicio arranca con una sola persona durante horas — lo nombramos en la sección 3.6.</a:t>
            </a:r>
            <a:endParaRPr lang="en-US" sz="1250" dirty="0"/>
          </a:p>
        </p:txBody>
      </p:sp>
      <p:sp>
        <p:nvSpPr>
          <p:cNvPr id="14"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3.1 — Nuestros principios culturales (2/2)</a:t>
            </a:r>
            <a:endParaRPr lang="en-US" sz="2600" dirty="0"/>
          </a:p>
        </p:txBody>
      </p:sp>
      <p:sp>
        <p:nvSpPr>
          <p:cNvPr id="3" name="Shape 1"/>
          <p:cNvSpPr/>
          <p:nvPr/>
        </p:nvSpPr>
        <p:spPr>
          <a:xfrm>
            <a:off x="548640" y="1371600"/>
            <a:ext cx="457200" cy="457200"/>
          </a:xfrm>
          <a:prstGeom prst="ellipse">
            <a:avLst/>
          </a:prstGeom>
          <a:solidFill>
            <a:srgbClr val="E84E27"/>
          </a:solidFill>
          <a:ln/>
        </p:spPr>
      </p:sp>
      <p:sp>
        <p:nvSpPr>
          <p:cNvPr id="4" name="Text 2"/>
          <p:cNvSpPr/>
          <p:nvPr/>
        </p:nvSpPr>
        <p:spPr>
          <a:xfrm>
            <a:off x="548640" y="1371600"/>
            <a:ext cx="457200" cy="457200"/>
          </a:xfrm>
          <a:prstGeom prst="rect">
            <a:avLst/>
          </a:prstGeom>
          <a:noFill/>
          <a:ln/>
        </p:spPr>
        <p:txBody>
          <a:bodyPr wrap="square" rtlCol="0" anchor="ctr"/>
          <a:lstStyle/>
          <a:p>
            <a:pPr algn="ctr" indent="0" marL="0">
              <a:buNone/>
            </a:pPr>
            <a:r>
              <a:rPr lang="en-US" sz="1600" b="1" dirty="0">
                <a:solidFill>
                  <a:srgbClr val="FFFFFF"/>
                </a:solidFill>
                <a:latin typeface="GT Alpina" pitchFamily="34" charset="0"/>
                <a:ea typeface="GT Alpina" pitchFamily="34" charset="-122"/>
                <a:cs typeface="GT Alpina" pitchFamily="34" charset="-120"/>
              </a:rPr>
              <a:t>4</a:t>
            </a:r>
            <a:endParaRPr lang="en-US" sz="1600" dirty="0"/>
          </a:p>
        </p:txBody>
      </p:sp>
      <p:sp>
        <p:nvSpPr>
          <p:cNvPr id="5" name="Text 3"/>
          <p:cNvSpPr txBox="1"/>
          <p:nvPr/>
        </p:nvSpPr>
        <p:spPr>
          <a:xfrm>
            <a:off x="1188720" y="1316736"/>
            <a:ext cx="10058400" cy="960120"/>
          </a:xfrm>
          <a:prstGeom prst="rect">
            <a:avLst/>
          </a:prstGeom>
          <a:noFill/>
          <a:ln/>
        </p:spPr>
        <p:txBody>
          <a:bodyPr wrap="square" rtlCol="0" anchor="t"/>
          <a:lstStyle/>
          <a:p>
            <a:pPr indent="0" marL="0">
              <a:lnSpc>
                <a:spcPct val="118000"/>
              </a:lnSpc>
              <a:buNone/>
            </a:pPr>
            <a:r>
              <a:rPr lang="en-US" sz="1300" b="1" dirty="0">
                <a:solidFill>
                  <a:srgbClr val="3E3D40"/>
                </a:solidFill>
                <a:latin typeface="Calibri" pitchFamily="34" charset="0"/>
                <a:ea typeface="Calibri" pitchFamily="34" charset="-122"/>
                <a:cs typeface="Calibri" pitchFamily="34" charset="-120"/>
              </a:rPr>
              <a:t>Si no conocemos el producto, no podemos venderlo.  </a:t>
            </a:r>
            <a:pPr indent="0" marL="0">
              <a:lnSpc>
                <a:spcPct val="118000"/>
              </a:lnSpc>
              <a:buNone/>
            </a:pPr>
            <a:r>
              <a:rPr lang="en-US" sz="1300" dirty="0">
                <a:solidFill>
                  <a:srgbClr val="5A5A5C"/>
                </a:solidFill>
                <a:latin typeface="Calibri" pitchFamily="34" charset="0"/>
                <a:ea typeface="Calibri" pitchFamily="34" charset="-122"/>
                <a:cs typeface="Calibri" pitchFamily="34" charset="-120"/>
              </a:rPr>
              <a:t>Puente directo entre identidad de marca — tostado propio, obrador propio — y cultura de servicio. No es un dato para presumir: es la base de una recomendación honesta.</a:t>
            </a:r>
            <a:endParaRPr lang="en-US" sz="1300" dirty="0"/>
          </a:p>
        </p:txBody>
      </p:sp>
      <p:sp>
        <p:nvSpPr>
          <p:cNvPr id="6" name="Shape 4"/>
          <p:cNvSpPr/>
          <p:nvPr/>
        </p:nvSpPr>
        <p:spPr>
          <a:xfrm>
            <a:off x="548640" y="2487168"/>
            <a:ext cx="457200" cy="457200"/>
          </a:xfrm>
          <a:prstGeom prst="ellipse">
            <a:avLst/>
          </a:prstGeom>
          <a:solidFill>
            <a:srgbClr val="E84E27"/>
          </a:solidFill>
          <a:ln/>
        </p:spPr>
      </p:sp>
      <p:sp>
        <p:nvSpPr>
          <p:cNvPr id="7" name="Text 5"/>
          <p:cNvSpPr/>
          <p:nvPr/>
        </p:nvSpPr>
        <p:spPr>
          <a:xfrm>
            <a:off x="548640" y="2487168"/>
            <a:ext cx="457200" cy="457200"/>
          </a:xfrm>
          <a:prstGeom prst="rect">
            <a:avLst/>
          </a:prstGeom>
          <a:noFill/>
          <a:ln/>
        </p:spPr>
        <p:txBody>
          <a:bodyPr wrap="square" rtlCol="0" anchor="ctr"/>
          <a:lstStyle/>
          <a:p>
            <a:pPr algn="ctr" indent="0" marL="0">
              <a:buNone/>
            </a:pPr>
            <a:r>
              <a:rPr lang="en-US" sz="1600" b="1" dirty="0">
                <a:solidFill>
                  <a:srgbClr val="FFFFFF"/>
                </a:solidFill>
                <a:latin typeface="GT Alpina" pitchFamily="34" charset="0"/>
                <a:ea typeface="GT Alpina" pitchFamily="34" charset="-122"/>
                <a:cs typeface="GT Alpina" pitchFamily="34" charset="-120"/>
              </a:rPr>
              <a:t>5</a:t>
            </a:r>
            <a:endParaRPr lang="en-US" sz="1600" dirty="0"/>
          </a:p>
        </p:txBody>
      </p:sp>
      <p:sp>
        <p:nvSpPr>
          <p:cNvPr id="8" name="Text 6"/>
          <p:cNvSpPr txBox="1"/>
          <p:nvPr/>
        </p:nvSpPr>
        <p:spPr>
          <a:xfrm>
            <a:off x="1188720" y="2432304"/>
            <a:ext cx="10058400" cy="960120"/>
          </a:xfrm>
          <a:prstGeom prst="rect">
            <a:avLst/>
          </a:prstGeom>
          <a:noFill/>
          <a:ln/>
        </p:spPr>
        <p:txBody>
          <a:bodyPr wrap="square" rtlCol="0" anchor="t"/>
          <a:lstStyle/>
          <a:p>
            <a:pPr indent="0" marL="0">
              <a:lnSpc>
                <a:spcPct val="118000"/>
              </a:lnSpc>
              <a:buNone/>
            </a:pPr>
            <a:r>
              <a:rPr lang="en-US" sz="1300" b="1" dirty="0">
                <a:solidFill>
                  <a:srgbClr val="3E3D40"/>
                </a:solidFill>
                <a:latin typeface="Calibri" pitchFamily="34" charset="0"/>
                <a:ea typeface="Calibri" pitchFamily="34" charset="-122"/>
                <a:cs typeface="Calibri" pitchFamily="34" charset="-120"/>
              </a:rPr>
              <a:t>La calma no se nota desde fuera — el caos sí.  </a:t>
            </a:r>
            <a:pPr indent="0" marL="0">
              <a:lnSpc>
                <a:spcPct val="118000"/>
              </a:lnSpc>
              <a:buNone/>
            </a:pPr>
            <a:r>
              <a:rPr lang="en-US" sz="1300" dirty="0">
                <a:solidFill>
                  <a:srgbClr val="5A5A5C"/>
                </a:solidFill>
                <a:latin typeface="Calibri" pitchFamily="34" charset="0"/>
                <a:ea typeface="Calibri" pitchFamily="34" charset="-122"/>
                <a:cs typeface="Calibri" pitchFamily="34" charset="-120"/>
              </a:rPr>
              <a:t>Gestionar la presión interna es un trabajo en equipo, no una virtud individual. Solo funciona cuando hay más de una persona presente en el turno.</a:t>
            </a:r>
            <a:endParaRPr lang="en-US" sz="1300" dirty="0"/>
          </a:p>
        </p:txBody>
      </p:sp>
      <p:sp>
        <p:nvSpPr>
          <p:cNvPr id="9" name="Shape 7"/>
          <p:cNvSpPr/>
          <p:nvPr/>
        </p:nvSpPr>
        <p:spPr>
          <a:xfrm>
            <a:off x="548640" y="3602736"/>
            <a:ext cx="457200" cy="457200"/>
          </a:xfrm>
          <a:prstGeom prst="ellipse">
            <a:avLst/>
          </a:prstGeom>
          <a:solidFill>
            <a:srgbClr val="E84E27"/>
          </a:solidFill>
          <a:ln/>
        </p:spPr>
      </p:sp>
      <p:sp>
        <p:nvSpPr>
          <p:cNvPr id="10" name="Text 8"/>
          <p:cNvSpPr/>
          <p:nvPr/>
        </p:nvSpPr>
        <p:spPr>
          <a:xfrm>
            <a:off x="548640" y="3602736"/>
            <a:ext cx="457200" cy="457200"/>
          </a:xfrm>
          <a:prstGeom prst="rect">
            <a:avLst/>
          </a:prstGeom>
          <a:noFill/>
          <a:ln/>
        </p:spPr>
        <p:txBody>
          <a:bodyPr wrap="square" rtlCol="0" anchor="ctr"/>
          <a:lstStyle/>
          <a:p>
            <a:pPr algn="ctr" indent="0" marL="0">
              <a:buNone/>
            </a:pPr>
            <a:r>
              <a:rPr lang="en-US" sz="1600" b="1" dirty="0">
                <a:solidFill>
                  <a:srgbClr val="FFFFFF"/>
                </a:solidFill>
                <a:latin typeface="GT Alpina" pitchFamily="34" charset="0"/>
                <a:ea typeface="GT Alpina" pitchFamily="34" charset="-122"/>
                <a:cs typeface="GT Alpina" pitchFamily="34" charset="-120"/>
              </a:rPr>
              <a:t>6</a:t>
            </a:r>
            <a:endParaRPr lang="en-US" sz="1600" dirty="0"/>
          </a:p>
        </p:txBody>
      </p:sp>
      <p:sp>
        <p:nvSpPr>
          <p:cNvPr id="11" name="Text 9"/>
          <p:cNvSpPr txBox="1"/>
          <p:nvPr/>
        </p:nvSpPr>
        <p:spPr>
          <a:xfrm>
            <a:off x="1188720" y="3547872"/>
            <a:ext cx="10058400" cy="960120"/>
          </a:xfrm>
          <a:prstGeom prst="rect">
            <a:avLst/>
          </a:prstGeom>
          <a:noFill/>
          <a:ln/>
        </p:spPr>
        <p:txBody>
          <a:bodyPr wrap="square" rtlCol="0" anchor="t"/>
          <a:lstStyle/>
          <a:p>
            <a:pPr indent="0" marL="0">
              <a:lnSpc>
                <a:spcPct val="118000"/>
              </a:lnSpc>
              <a:buNone/>
            </a:pPr>
            <a:r>
              <a:rPr lang="en-US" sz="1300" b="1" dirty="0">
                <a:solidFill>
                  <a:srgbClr val="3E3D40"/>
                </a:solidFill>
                <a:latin typeface="Calibri" pitchFamily="34" charset="0"/>
                <a:ea typeface="Calibri" pitchFamily="34" charset="-122"/>
                <a:cs typeface="Calibri" pitchFamily="34" charset="-120"/>
              </a:rPr>
              <a:t>Un problema no se discute, se resuelve.  </a:t>
            </a:r>
            <a:pPr indent="0" marL="0">
              <a:lnSpc>
                <a:spcPct val="118000"/>
              </a:lnSpc>
              <a:buNone/>
            </a:pPr>
            <a:r>
              <a:rPr lang="en-US" sz="1300" dirty="0">
                <a:solidFill>
                  <a:srgbClr val="5A5A5C"/>
                </a:solidFill>
                <a:latin typeface="Calibri" pitchFamily="34" charset="0"/>
                <a:ea typeface="Calibri" pitchFamily="34" charset="-122"/>
                <a:cs typeface="Calibri" pitchFamily="34" charset="-120"/>
              </a:rPr>
              <a:t>Se desarrolla a fondo en la sección 4 — la primera reacción ante una queja nunca es defendernos a nosotros mismos.</a:t>
            </a:r>
            <a:endParaRPr lang="en-US" sz="1300" dirty="0"/>
          </a:p>
        </p:txBody>
      </p:sp>
      <p:sp>
        <p:nvSpPr>
          <p:cNvPr id="12" name="Shape 10"/>
          <p:cNvSpPr/>
          <p:nvPr/>
        </p:nvSpPr>
        <p:spPr>
          <a:xfrm>
            <a:off x="548640" y="4718304"/>
            <a:ext cx="457200" cy="457200"/>
          </a:xfrm>
          <a:prstGeom prst="ellipse">
            <a:avLst/>
          </a:prstGeom>
          <a:solidFill>
            <a:srgbClr val="E84E27"/>
          </a:solidFill>
          <a:ln/>
        </p:spPr>
      </p:sp>
      <p:sp>
        <p:nvSpPr>
          <p:cNvPr id="13" name="Text 11"/>
          <p:cNvSpPr/>
          <p:nvPr/>
        </p:nvSpPr>
        <p:spPr>
          <a:xfrm>
            <a:off x="548640" y="4718304"/>
            <a:ext cx="457200" cy="457200"/>
          </a:xfrm>
          <a:prstGeom prst="rect">
            <a:avLst/>
          </a:prstGeom>
          <a:noFill/>
          <a:ln/>
        </p:spPr>
        <p:txBody>
          <a:bodyPr wrap="square" rtlCol="0" anchor="ctr"/>
          <a:lstStyle/>
          <a:p>
            <a:pPr algn="ctr" indent="0" marL="0">
              <a:buNone/>
            </a:pPr>
            <a:r>
              <a:rPr lang="en-US" sz="1600" b="1" dirty="0">
                <a:solidFill>
                  <a:srgbClr val="FFFFFF"/>
                </a:solidFill>
                <a:latin typeface="GT Alpina" pitchFamily="34" charset="0"/>
                <a:ea typeface="GT Alpina" pitchFamily="34" charset="-122"/>
                <a:cs typeface="GT Alpina" pitchFamily="34" charset="-120"/>
              </a:rPr>
              <a:t>7</a:t>
            </a:r>
            <a:endParaRPr lang="en-US" sz="1600" dirty="0"/>
          </a:p>
        </p:txBody>
      </p:sp>
      <p:sp>
        <p:nvSpPr>
          <p:cNvPr id="14" name="Text 12"/>
          <p:cNvSpPr txBox="1"/>
          <p:nvPr/>
        </p:nvSpPr>
        <p:spPr>
          <a:xfrm>
            <a:off x="1188720" y="4663440"/>
            <a:ext cx="10058400" cy="960120"/>
          </a:xfrm>
          <a:prstGeom prst="rect">
            <a:avLst/>
          </a:prstGeom>
          <a:noFill/>
          <a:ln/>
        </p:spPr>
        <p:txBody>
          <a:bodyPr wrap="square" rtlCol="0" anchor="t"/>
          <a:lstStyle/>
          <a:p>
            <a:pPr indent="0" marL="0">
              <a:lnSpc>
                <a:spcPct val="118000"/>
              </a:lnSpc>
              <a:buNone/>
            </a:pPr>
            <a:r>
              <a:rPr lang="en-US" sz="1300" b="1" dirty="0">
                <a:solidFill>
                  <a:srgbClr val="3E3D40"/>
                </a:solidFill>
                <a:latin typeface="Calibri" pitchFamily="34" charset="0"/>
                <a:ea typeface="Calibri" pitchFamily="34" charset="-122"/>
                <a:cs typeface="Calibri" pitchFamily="34" charset="-120"/>
              </a:rPr>
              <a:t>La última frase pesa tanto como la primera.  </a:t>
            </a:r>
            <a:pPr indent="0" marL="0">
              <a:lnSpc>
                <a:spcPct val="118000"/>
              </a:lnSpc>
              <a:buNone/>
            </a:pPr>
            <a:r>
              <a:rPr lang="en-US" sz="1300" dirty="0">
                <a:solidFill>
                  <a:srgbClr val="5A5A5C"/>
                </a:solidFill>
                <a:latin typeface="Calibri" pitchFamily="34" charset="0"/>
                <a:ea typeface="Calibri" pitchFamily="34" charset="-122"/>
                <a:cs typeface="Calibri" pitchFamily="34" charset="-120"/>
              </a:rPr>
              <a:t>No relajar el cuidado cuando el servicio “ya ha terminado” para quien atiende, aunque para el cliente la despedida siga siendo parte plena.</a:t>
            </a:r>
            <a:endParaRPr lang="en-US" sz="1300" dirty="0"/>
          </a:p>
        </p:txBody>
      </p:sp>
      <p:sp>
        <p:nvSpPr>
          <p:cNvPr id="15"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3.2 — 3.5  ·  Qué, cómo, para quién y por qué</a:t>
            </a:r>
            <a:endParaRPr lang="en-US" sz="2600" dirty="0"/>
          </a:p>
        </p:txBody>
      </p:sp>
      <p:sp>
        <p:nvSpPr>
          <p:cNvPr id="3" name="Shape 1"/>
          <p:cNvSpPr/>
          <p:nvPr/>
        </p:nvSpPr>
        <p:spPr>
          <a:xfrm>
            <a:off x="548640" y="1463040"/>
            <a:ext cx="5120640" cy="2103120"/>
          </a:xfrm>
          <a:prstGeom prst="roundRect">
            <a:avLst>
              <a:gd name="adj" fmla="val 4348"/>
            </a:avLst>
          </a:prstGeom>
          <a:solidFill>
            <a:srgbClr val="FFFFFF"/>
          </a:solidFill>
          <a:ln/>
        </p:spPr>
      </p:sp>
      <p:sp>
        <p:nvSpPr>
          <p:cNvPr id="4" name="Shape 2"/>
          <p:cNvSpPr/>
          <p:nvPr/>
        </p:nvSpPr>
        <p:spPr>
          <a:xfrm>
            <a:off x="548640" y="1463040"/>
            <a:ext cx="109728" cy="2103120"/>
          </a:xfrm>
          <a:prstGeom prst="rect">
            <a:avLst/>
          </a:prstGeom>
          <a:solidFill>
            <a:srgbClr val="1D79ED"/>
          </a:solidFill>
          <a:ln/>
        </p:spPr>
      </p:sp>
      <p:sp>
        <p:nvSpPr>
          <p:cNvPr id="5" name="Text 3"/>
          <p:cNvSpPr txBox="1"/>
          <p:nvPr/>
        </p:nvSpPr>
        <p:spPr>
          <a:xfrm>
            <a:off x="868680" y="1627632"/>
            <a:ext cx="4663440" cy="365760"/>
          </a:xfrm>
          <a:prstGeom prst="rect">
            <a:avLst/>
          </a:prstGeom>
          <a:noFill/>
          <a:ln/>
        </p:spPr>
        <p:txBody>
          <a:bodyPr wrap="square" rtlCol="0" anchor="ctr"/>
          <a:lstStyle/>
          <a:p>
            <a:pPr indent="0" marL="0">
              <a:buNone/>
            </a:pPr>
            <a:r>
              <a:rPr lang="en-US" sz="1200" b="1" dirty="0">
                <a:solidFill>
                  <a:srgbClr val="1D79ED"/>
                </a:solidFill>
                <a:latin typeface="Calibri" pitchFamily="34" charset="0"/>
                <a:ea typeface="Calibri" pitchFamily="34" charset="-122"/>
                <a:cs typeface="Calibri" pitchFamily="34" charset="-120"/>
              </a:rPr>
              <a:t>QUÉ HACEMOS</a:t>
            </a:r>
            <a:endParaRPr lang="en-US" sz="1200" dirty="0"/>
          </a:p>
        </p:txBody>
      </p:sp>
      <p:sp>
        <p:nvSpPr>
          <p:cNvPr id="6" name="Text 4"/>
          <p:cNvSpPr txBox="1"/>
          <p:nvPr/>
        </p:nvSpPr>
        <p:spPr>
          <a:xfrm>
            <a:off x="868680" y="2011680"/>
            <a:ext cx="4663440" cy="1463040"/>
          </a:xfrm>
          <a:prstGeom prst="rect">
            <a:avLst/>
          </a:prstGeom>
          <a:noFill/>
          <a:ln/>
        </p:spPr>
        <p:txBody>
          <a:bodyPr wrap="square" rtlCol="0" anchor="t"/>
          <a:lstStyle/>
          <a:p>
            <a:pPr indent="0" marL="0">
              <a:lnSpc>
                <a:spcPct val="120000"/>
              </a:lnSpc>
              <a:buNone/>
            </a:pPr>
            <a:r>
              <a:rPr lang="en-US" sz="1300" dirty="0">
                <a:solidFill>
                  <a:srgbClr val="3E3D40"/>
                </a:solidFill>
                <a:latin typeface="Calibri" pitchFamily="34" charset="0"/>
                <a:ea typeface="Calibri" pitchFamily="34" charset="-122"/>
                <a:cs typeface="Calibri" pitchFamily="34" charset="-120"/>
              </a:rPr>
              <a:t>Recibimos, acompañamos y cuidamos a cada persona — en el pedido, la espera, la mesa, la despedida — con el mismo nivel de atención, sea quien sea.</a:t>
            </a:r>
            <a:endParaRPr lang="en-US" sz="1300" dirty="0"/>
          </a:p>
        </p:txBody>
      </p:sp>
      <p:sp>
        <p:nvSpPr>
          <p:cNvPr id="7" name="Shape 5"/>
          <p:cNvSpPr/>
          <p:nvPr/>
        </p:nvSpPr>
        <p:spPr>
          <a:xfrm>
            <a:off x="6263640" y="1463040"/>
            <a:ext cx="5120640" cy="2103120"/>
          </a:xfrm>
          <a:prstGeom prst="roundRect">
            <a:avLst>
              <a:gd name="adj" fmla="val 4348"/>
            </a:avLst>
          </a:prstGeom>
          <a:solidFill>
            <a:srgbClr val="FFFFFF"/>
          </a:solidFill>
          <a:ln/>
        </p:spPr>
      </p:sp>
      <p:sp>
        <p:nvSpPr>
          <p:cNvPr id="8" name="Shape 6"/>
          <p:cNvSpPr/>
          <p:nvPr/>
        </p:nvSpPr>
        <p:spPr>
          <a:xfrm>
            <a:off x="6263640" y="1463040"/>
            <a:ext cx="109728" cy="2103120"/>
          </a:xfrm>
          <a:prstGeom prst="rect">
            <a:avLst/>
          </a:prstGeom>
          <a:solidFill>
            <a:srgbClr val="E84E27"/>
          </a:solidFill>
          <a:ln/>
        </p:spPr>
      </p:sp>
      <p:sp>
        <p:nvSpPr>
          <p:cNvPr id="9" name="Text 7"/>
          <p:cNvSpPr txBox="1"/>
          <p:nvPr/>
        </p:nvSpPr>
        <p:spPr>
          <a:xfrm>
            <a:off x="6583680" y="1627632"/>
            <a:ext cx="4663440" cy="365760"/>
          </a:xfrm>
          <a:prstGeom prst="rect">
            <a:avLst/>
          </a:prstGeom>
          <a:noFill/>
          <a:ln/>
        </p:spPr>
        <p:txBody>
          <a:bodyPr wrap="square" rtlCol="0" anchor="ctr"/>
          <a:lstStyle/>
          <a:p>
            <a:pPr indent="0" marL="0">
              <a:buNone/>
            </a:pPr>
            <a:r>
              <a:rPr lang="en-US" sz="1200" b="1" dirty="0">
                <a:solidFill>
                  <a:srgbClr val="E84E27"/>
                </a:solidFill>
                <a:latin typeface="Calibri" pitchFamily="34" charset="0"/>
                <a:ea typeface="Calibri" pitchFamily="34" charset="-122"/>
                <a:cs typeface="Calibri" pitchFamily="34" charset="-120"/>
              </a:rPr>
              <a:t>CÓMO LO HACEMOS</a:t>
            </a:r>
            <a:endParaRPr lang="en-US" sz="1200" dirty="0"/>
          </a:p>
        </p:txBody>
      </p:sp>
      <p:sp>
        <p:nvSpPr>
          <p:cNvPr id="10" name="Text 8"/>
          <p:cNvSpPr txBox="1"/>
          <p:nvPr/>
        </p:nvSpPr>
        <p:spPr>
          <a:xfrm>
            <a:off x="6583680" y="2011680"/>
            <a:ext cx="4663440" cy="1463040"/>
          </a:xfrm>
          <a:prstGeom prst="rect">
            <a:avLst/>
          </a:prstGeom>
          <a:noFill/>
          <a:ln/>
        </p:spPr>
        <p:txBody>
          <a:bodyPr wrap="square" rtlCol="0" anchor="t"/>
          <a:lstStyle/>
          <a:p>
            <a:pPr indent="0" marL="0">
              <a:lnSpc>
                <a:spcPct val="120000"/>
              </a:lnSpc>
              <a:buNone/>
            </a:pPr>
            <a:r>
              <a:rPr lang="en-US" sz="1300" dirty="0">
                <a:solidFill>
                  <a:srgbClr val="3E3D40"/>
                </a:solidFill>
                <a:latin typeface="Calibri" pitchFamily="34" charset="0"/>
                <a:ea typeface="Calibri" pitchFamily="34" charset="-122"/>
                <a:cs typeface="Calibri" pitchFamily="34" charset="-120"/>
              </a:rPr>
              <a:t>Atentos pero eficientes. Cercanos pero no intrusivos. No hay receta única: es un criterio que cada persona aprende a leer, mesa a mesa.</a:t>
            </a:r>
            <a:endParaRPr lang="en-US" sz="1300" dirty="0"/>
          </a:p>
        </p:txBody>
      </p:sp>
      <p:sp>
        <p:nvSpPr>
          <p:cNvPr id="11" name="Shape 9"/>
          <p:cNvSpPr/>
          <p:nvPr/>
        </p:nvSpPr>
        <p:spPr>
          <a:xfrm>
            <a:off x="548640" y="3794760"/>
            <a:ext cx="5120640" cy="2103120"/>
          </a:xfrm>
          <a:prstGeom prst="roundRect">
            <a:avLst>
              <a:gd name="adj" fmla="val 4348"/>
            </a:avLst>
          </a:prstGeom>
          <a:solidFill>
            <a:srgbClr val="FFFFFF"/>
          </a:solidFill>
          <a:ln/>
        </p:spPr>
      </p:sp>
      <p:sp>
        <p:nvSpPr>
          <p:cNvPr id="12" name="Shape 10"/>
          <p:cNvSpPr/>
          <p:nvPr/>
        </p:nvSpPr>
        <p:spPr>
          <a:xfrm>
            <a:off x="548640" y="3794760"/>
            <a:ext cx="109728" cy="2103120"/>
          </a:xfrm>
          <a:prstGeom prst="rect">
            <a:avLst/>
          </a:prstGeom>
          <a:solidFill>
            <a:srgbClr val="1D79ED"/>
          </a:solidFill>
          <a:ln/>
        </p:spPr>
      </p:sp>
      <p:sp>
        <p:nvSpPr>
          <p:cNvPr id="13" name="Text 11"/>
          <p:cNvSpPr txBox="1"/>
          <p:nvPr/>
        </p:nvSpPr>
        <p:spPr>
          <a:xfrm>
            <a:off x="868680" y="3959352"/>
            <a:ext cx="4663440" cy="365760"/>
          </a:xfrm>
          <a:prstGeom prst="rect">
            <a:avLst/>
          </a:prstGeom>
          <a:noFill/>
          <a:ln/>
        </p:spPr>
        <p:txBody>
          <a:bodyPr wrap="square" rtlCol="0" anchor="ctr"/>
          <a:lstStyle/>
          <a:p>
            <a:pPr indent="0" marL="0">
              <a:buNone/>
            </a:pPr>
            <a:r>
              <a:rPr lang="en-US" sz="1200" b="1" dirty="0">
                <a:solidFill>
                  <a:srgbClr val="1D79ED"/>
                </a:solidFill>
                <a:latin typeface="Calibri" pitchFamily="34" charset="0"/>
                <a:ea typeface="Calibri" pitchFamily="34" charset="-122"/>
                <a:cs typeface="Calibri" pitchFamily="34" charset="-120"/>
              </a:rPr>
              <a:t>PARA QUIÉN LO HACEMOS</a:t>
            </a:r>
            <a:endParaRPr lang="en-US" sz="1200" dirty="0"/>
          </a:p>
        </p:txBody>
      </p:sp>
      <p:sp>
        <p:nvSpPr>
          <p:cNvPr id="14" name="Text 12"/>
          <p:cNvSpPr txBox="1"/>
          <p:nvPr/>
        </p:nvSpPr>
        <p:spPr>
          <a:xfrm>
            <a:off x="868680" y="4343400"/>
            <a:ext cx="4663440" cy="1463040"/>
          </a:xfrm>
          <a:prstGeom prst="rect">
            <a:avLst/>
          </a:prstGeom>
          <a:noFill/>
          <a:ln/>
        </p:spPr>
        <p:txBody>
          <a:bodyPr wrap="square" rtlCol="0" anchor="t"/>
          <a:lstStyle/>
          <a:p>
            <a:pPr indent="0" marL="0">
              <a:lnSpc>
                <a:spcPct val="120000"/>
              </a:lnSpc>
              <a:buNone/>
            </a:pPr>
            <a:r>
              <a:rPr lang="en-US" sz="1300" dirty="0">
                <a:solidFill>
                  <a:srgbClr val="3E3D40"/>
                </a:solidFill>
                <a:latin typeface="Calibri" pitchFamily="34" charset="0"/>
                <a:ea typeface="Calibri" pitchFamily="34" charset="-122"/>
                <a:cs typeface="Calibri" pitchFamily="34" charset="-120"/>
              </a:rPr>
              <a:t>Para cada cliente, primero. También para nosotros: el trabajo cuidado da sentido y orgullo. Y para Lady Madrid como proyecto.</a:t>
            </a:r>
            <a:endParaRPr lang="en-US" sz="1300" dirty="0"/>
          </a:p>
        </p:txBody>
      </p:sp>
      <p:sp>
        <p:nvSpPr>
          <p:cNvPr id="15" name="Shape 13"/>
          <p:cNvSpPr/>
          <p:nvPr/>
        </p:nvSpPr>
        <p:spPr>
          <a:xfrm>
            <a:off x="6263640" y="3794760"/>
            <a:ext cx="5120640" cy="2103120"/>
          </a:xfrm>
          <a:prstGeom prst="roundRect">
            <a:avLst>
              <a:gd name="adj" fmla="val 4348"/>
            </a:avLst>
          </a:prstGeom>
          <a:solidFill>
            <a:srgbClr val="FFFFFF"/>
          </a:solidFill>
          <a:ln/>
        </p:spPr>
      </p:sp>
      <p:sp>
        <p:nvSpPr>
          <p:cNvPr id="16" name="Shape 14"/>
          <p:cNvSpPr/>
          <p:nvPr/>
        </p:nvSpPr>
        <p:spPr>
          <a:xfrm>
            <a:off x="6263640" y="3794760"/>
            <a:ext cx="109728" cy="2103120"/>
          </a:xfrm>
          <a:prstGeom prst="rect">
            <a:avLst/>
          </a:prstGeom>
          <a:solidFill>
            <a:srgbClr val="E84E27"/>
          </a:solidFill>
          <a:ln/>
        </p:spPr>
      </p:sp>
      <p:sp>
        <p:nvSpPr>
          <p:cNvPr id="17" name="Text 15"/>
          <p:cNvSpPr txBox="1"/>
          <p:nvPr/>
        </p:nvSpPr>
        <p:spPr>
          <a:xfrm>
            <a:off x="6583680" y="3959352"/>
            <a:ext cx="4663440" cy="365760"/>
          </a:xfrm>
          <a:prstGeom prst="rect">
            <a:avLst/>
          </a:prstGeom>
          <a:noFill/>
          <a:ln/>
        </p:spPr>
        <p:txBody>
          <a:bodyPr wrap="square" rtlCol="0" anchor="ctr"/>
          <a:lstStyle/>
          <a:p>
            <a:pPr indent="0" marL="0">
              <a:buNone/>
            </a:pPr>
            <a:r>
              <a:rPr lang="en-US" sz="1200" b="1" dirty="0">
                <a:solidFill>
                  <a:srgbClr val="E84E27"/>
                </a:solidFill>
                <a:latin typeface="Calibri" pitchFamily="34" charset="0"/>
                <a:ea typeface="Calibri" pitchFamily="34" charset="-122"/>
                <a:cs typeface="Calibri" pitchFamily="34" charset="-120"/>
              </a:rPr>
              <a:t>POR QUÉ LO HACEMOS</a:t>
            </a:r>
            <a:endParaRPr lang="en-US" sz="1200" dirty="0"/>
          </a:p>
        </p:txBody>
      </p:sp>
      <p:sp>
        <p:nvSpPr>
          <p:cNvPr id="18" name="Text 16"/>
          <p:cNvSpPr txBox="1"/>
          <p:nvPr/>
        </p:nvSpPr>
        <p:spPr>
          <a:xfrm>
            <a:off x="6583680" y="4343400"/>
            <a:ext cx="4663440" cy="1463040"/>
          </a:xfrm>
          <a:prstGeom prst="rect">
            <a:avLst/>
          </a:prstGeom>
          <a:noFill/>
          <a:ln/>
        </p:spPr>
        <p:txBody>
          <a:bodyPr wrap="square" rtlCol="0" anchor="t"/>
          <a:lstStyle/>
          <a:p>
            <a:pPr indent="0" marL="0">
              <a:lnSpc>
                <a:spcPct val="120000"/>
              </a:lnSpc>
              <a:buNone/>
            </a:pPr>
            <a:r>
              <a:rPr lang="en-US" sz="1300" dirty="0">
                <a:solidFill>
                  <a:srgbClr val="3E3D40"/>
                </a:solidFill>
                <a:latin typeface="Calibri" pitchFamily="34" charset="0"/>
                <a:ea typeface="Calibri" pitchFamily="34" charset="-122"/>
                <a:cs typeface="Calibri" pitchFamily="34" charset="-120"/>
              </a:rPr>
              <a:t>Porque sin esto, somos un sitio más donde tomar café. Con esto, un sitio al que se decide volver — ahí vive nuestro negocio entero.</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D"/>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3.6 — Lo que el equipo necesita para sostener esto (1/2)</a:t>
            </a:r>
            <a:endParaRPr lang="en-US" sz="2600" dirty="0"/>
          </a:p>
        </p:txBody>
      </p:sp>
      <p:sp>
        <p:nvSpPr>
          <p:cNvPr id="3" name="Text 1"/>
          <p:cNvSpPr txBox="1"/>
          <p:nvPr/>
        </p:nvSpPr>
        <p:spPr>
          <a:xfrm>
            <a:off x="548640" y="1280160"/>
            <a:ext cx="10058400" cy="365760"/>
          </a:xfrm>
          <a:prstGeom prst="rect">
            <a:avLst/>
          </a:prstGeom>
          <a:noFill/>
          <a:ln/>
        </p:spPr>
        <p:txBody>
          <a:bodyPr wrap="square" rtlCol="0" anchor="ctr"/>
          <a:lstStyle/>
          <a:p>
            <a:pPr indent="0" marL="0">
              <a:buNone/>
            </a:pPr>
            <a:r>
              <a:rPr lang="en-US" sz="1300" i="1" dirty="0">
                <a:solidFill>
                  <a:srgbClr val="6B6B6D"/>
                </a:solidFill>
                <a:latin typeface="Calibri" pitchFamily="34" charset="0"/>
                <a:ea typeface="Calibri" pitchFamily="34" charset="-122"/>
                <a:cs typeface="Calibri" pitchFamily="34" charset="-120"/>
              </a:rPr>
              <a:t>No solo lo que el cliente recibe — la otra mitad de la misma promesa (2.4)</a:t>
            </a:r>
            <a:endParaRPr lang="en-US" sz="1300" dirty="0"/>
          </a:p>
        </p:txBody>
      </p:sp>
      <p:sp>
        <p:nvSpPr>
          <p:cNvPr id="4" name="Shape 2"/>
          <p:cNvSpPr/>
          <p:nvPr/>
        </p:nvSpPr>
        <p:spPr>
          <a:xfrm>
            <a:off x="548640" y="1828800"/>
            <a:ext cx="10149840" cy="1920240"/>
          </a:xfrm>
          <a:prstGeom prst="roundRect">
            <a:avLst>
              <a:gd name="adj" fmla="val 4762"/>
            </a:avLst>
          </a:prstGeom>
          <a:solidFill>
            <a:srgbClr val="E7DCCC"/>
          </a:solidFill>
          <a:ln/>
        </p:spPr>
      </p:sp>
      <p:sp>
        <p:nvSpPr>
          <p:cNvPr id="5" name="Text 3"/>
          <p:cNvSpPr txBox="1"/>
          <p:nvPr/>
        </p:nvSpPr>
        <p:spPr>
          <a:xfrm>
            <a:off x="822960" y="2011680"/>
            <a:ext cx="9601200" cy="1554480"/>
          </a:xfrm>
          <a:prstGeom prst="rect">
            <a:avLst/>
          </a:prstGeom>
          <a:noFill/>
          <a:ln/>
        </p:spPr>
        <p:txBody>
          <a:bodyPr wrap="square" rtlCol="0" anchor="t"/>
          <a:lstStyle/>
          <a:p>
            <a:pPr indent="0" marL="0">
              <a:lnSpc>
                <a:spcPct val="120000"/>
              </a:lnSpc>
              <a:buNone/>
            </a:pPr>
            <a:r>
              <a:rPr lang="en-US" sz="1400" b="1" dirty="0">
                <a:solidFill>
                  <a:srgbClr val="E84E27"/>
                </a:solidFill>
                <a:latin typeface="Calibri" pitchFamily="34" charset="0"/>
                <a:ea typeface="Calibri" pitchFamily="34" charset="-122"/>
                <a:cs typeface="Calibri" pitchFamily="34" charset="-120"/>
              </a:rPr>
              <a:t>Que la calidez no se confunda con disponibilidad ilimitada.
</a:t>
            </a:r>
            <a:endParaRPr lang="en-US" sz="1400" dirty="0"/>
          </a:p>
          <a:p>
            <a:pPr indent="0" marL="0">
              <a:lnSpc>
                <a:spcPct val="120000"/>
              </a:lnSpc>
              <a:buNone/>
            </a:pPr>
            <a:r>
              <a:rPr lang="en-US" sz="1400" dirty="0">
                <a:solidFill>
                  <a:srgbClr val="3E3D40"/>
                </a:solidFill>
                <a:latin typeface="Calibri" pitchFamily="34" charset="0"/>
                <a:ea typeface="Calibri" pitchFamily="34" charset="-122"/>
                <a:cs typeface="Calibri" pitchFamily="34" charset="-120"/>
              </a:rPr>
              <a:t>Mantener calidez genuina durante horas, a veces en solitario, consume algo real. Depende de pausas reales y de que pedir un respiro no se lea como no estar a la altura.</a:t>
            </a:r>
            <a:endParaRPr lang="en-US" sz="1400" dirty="0"/>
          </a:p>
        </p:txBody>
      </p:sp>
      <p:sp>
        <p:nvSpPr>
          <p:cNvPr id="6" name="Shape 4"/>
          <p:cNvSpPr/>
          <p:nvPr/>
        </p:nvSpPr>
        <p:spPr>
          <a:xfrm>
            <a:off x="548640" y="3977640"/>
            <a:ext cx="10149840" cy="1920240"/>
          </a:xfrm>
          <a:prstGeom prst="roundRect">
            <a:avLst>
              <a:gd name="adj" fmla="val 4762"/>
            </a:avLst>
          </a:prstGeom>
          <a:solidFill>
            <a:srgbClr val="E7DCCC"/>
          </a:solidFill>
          <a:ln/>
        </p:spPr>
      </p:sp>
      <p:sp>
        <p:nvSpPr>
          <p:cNvPr id="7" name="Text 5"/>
          <p:cNvSpPr txBox="1"/>
          <p:nvPr/>
        </p:nvSpPr>
        <p:spPr>
          <a:xfrm>
            <a:off x="822960" y="4160520"/>
            <a:ext cx="9601200" cy="1554480"/>
          </a:xfrm>
          <a:prstGeom prst="rect">
            <a:avLst/>
          </a:prstGeom>
          <a:noFill/>
          <a:ln/>
        </p:spPr>
        <p:txBody>
          <a:bodyPr wrap="square" rtlCol="0" anchor="t"/>
          <a:lstStyle/>
          <a:p>
            <a:pPr indent="0" marL="0">
              <a:lnSpc>
                <a:spcPct val="120000"/>
              </a:lnSpc>
              <a:buNone/>
            </a:pPr>
            <a:r>
              <a:rPr lang="en-US" sz="1400" b="1" dirty="0">
                <a:solidFill>
                  <a:srgbClr val="E84E27"/>
                </a:solidFill>
                <a:latin typeface="Calibri" pitchFamily="34" charset="0"/>
                <a:ea typeface="Calibri" pitchFamily="34" charset="-122"/>
                <a:cs typeface="Calibri" pitchFamily="34" charset="-120"/>
              </a:rPr>
              <a:t>Que “cubrirse entre todos” tenga alguien presente con quien cubrirse.
</a:t>
            </a:r>
            <a:endParaRPr lang="en-US" sz="1400" dirty="0"/>
          </a:p>
          <a:p>
            <a:pPr indent="0" marL="0">
              <a:lnSpc>
                <a:spcPct val="120000"/>
              </a:lnSpc>
              <a:buNone/>
            </a:pPr>
            <a:r>
              <a:rPr lang="en-US" sz="1400" dirty="0">
                <a:solidFill>
                  <a:srgbClr val="3E3D40"/>
                </a:solidFill>
                <a:latin typeface="Calibri" pitchFamily="34" charset="0"/>
                <a:ea typeface="Calibri" pitchFamily="34" charset="-122"/>
                <a:cs typeface="Calibri" pitchFamily="34" charset="-120"/>
              </a:rPr>
              <a:t>Funciona con más de una persona en el turno. En los tramos de una sola persona, se transforma en sostenerlo en solitario — y eso no es un fallo personal.</a:t>
            </a:r>
            <a:endParaRPr lang="en-US" sz="1400" dirty="0"/>
          </a:p>
        </p:txBody>
      </p:sp>
      <p:sp>
        <p:nvSpPr>
          <p:cNvPr id="8"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3.6 — Lo que el equipo necesita para sostener esto (2/2)</a:t>
            </a:r>
            <a:endParaRPr lang="en-US" sz="2600" dirty="0"/>
          </a:p>
        </p:txBody>
      </p:sp>
      <p:sp>
        <p:nvSpPr>
          <p:cNvPr id="3" name="Shape 1"/>
          <p:cNvSpPr/>
          <p:nvPr/>
        </p:nvSpPr>
        <p:spPr>
          <a:xfrm>
            <a:off x="548640" y="1554480"/>
            <a:ext cx="10149840" cy="1920240"/>
          </a:xfrm>
          <a:prstGeom prst="roundRect">
            <a:avLst>
              <a:gd name="adj" fmla="val 4762"/>
            </a:avLst>
          </a:prstGeom>
          <a:solidFill>
            <a:srgbClr val="E7DCCC"/>
          </a:solidFill>
          <a:ln/>
        </p:spPr>
      </p:sp>
      <p:sp>
        <p:nvSpPr>
          <p:cNvPr id="4" name="Text 2"/>
          <p:cNvSpPr txBox="1"/>
          <p:nvPr/>
        </p:nvSpPr>
        <p:spPr>
          <a:xfrm>
            <a:off x="822960" y="1737360"/>
            <a:ext cx="9601200" cy="1554480"/>
          </a:xfrm>
          <a:prstGeom prst="rect">
            <a:avLst/>
          </a:prstGeom>
          <a:noFill/>
          <a:ln/>
        </p:spPr>
        <p:txBody>
          <a:bodyPr wrap="square" rtlCol="0" anchor="t"/>
          <a:lstStyle/>
          <a:p>
            <a:pPr indent="0" marL="0">
              <a:lnSpc>
                <a:spcPct val="120000"/>
              </a:lnSpc>
              <a:buNone/>
            </a:pPr>
            <a:r>
              <a:rPr lang="en-US" sz="1400" b="1" dirty="0">
                <a:solidFill>
                  <a:srgbClr val="E84E27"/>
                </a:solidFill>
                <a:latin typeface="Calibri" pitchFamily="34" charset="0"/>
                <a:ea typeface="Calibri" pitchFamily="34" charset="-122"/>
                <a:cs typeface="Calibri" pitchFamily="34" charset="-120"/>
              </a:rPr>
              <a:t>Un canal real para decir “esto no se sostiene”.
</a:t>
            </a:r>
            <a:endParaRPr lang="en-US" sz="1400" dirty="0"/>
          </a:p>
          <a:p>
            <a:pPr indent="0" marL="0">
              <a:lnSpc>
                <a:spcPct val="120000"/>
              </a:lnSpc>
              <a:buNone/>
            </a:pPr>
            <a:r>
              <a:rPr lang="en-US" sz="1400" dirty="0">
                <a:solidFill>
                  <a:srgbClr val="3E3D40"/>
                </a:solidFill>
                <a:latin typeface="Calibri" pitchFamily="34" charset="0"/>
                <a:ea typeface="Calibri" pitchFamily="34" charset="-122"/>
                <a:cs typeface="Calibri" pitchFamily="34" charset="-120"/>
              </a:rPr>
              <a:t>El Log de Quejas y el escalado de incidencias están pensados para lo que pasa con el cliente. Hoy no existe un canal equivalente, formalizado, para el equipo.</a:t>
            </a:r>
            <a:endParaRPr lang="en-US" sz="1400" dirty="0"/>
          </a:p>
        </p:txBody>
      </p:sp>
      <p:sp>
        <p:nvSpPr>
          <p:cNvPr id="5" name="Shape 3"/>
          <p:cNvSpPr/>
          <p:nvPr/>
        </p:nvSpPr>
        <p:spPr>
          <a:xfrm>
            <a:off x="548640" y="3703320"/>
            <a:ext cx="10149840" cy="1920240"/>
          </a:xfrm>
          <a:prstGeom prst="roundRect">
            <a:avLst>
              <a:gd name="adj" fmla="val 4762"/>
            </a:avLst>
          </a:prstGeom>
          <a:solidFill>
            <a:srgbClr val="E7DCCC"/>
          </a:solidFill>
          <a:ln/>
        </p:spPr>
      </p:sp>
      <p:sp>
        <p:nvSpPr>
          <p:cNvPr id="6" name="Text 4"/>
          <p:cNvSpPr txBox="1"/>
          <p:nvPr/>
        </p:nvSpPr>
        <p:spPr>
          <a:xfrm>
            <a:off x="822960" y="3886200"/>
            <a:ext cx="9601200" cy="1554480"/>
          </a:xfrm>
          <a:prstGeom prst="rect">
            <a:avLst/>
          </a:prstGeom>
          <a:noFill/>
          <a:ln/>
        </p:spPr>
        <p:txBody>
          <a:bodyPr wrap="square" rtlCol="0" anchor="t"/>
          <a:lstStyle/>
          <a:p>
            <a:pPr indent="0" marL="0">
              <a:lnSpc>
                <a:spcPct val="120000"/>
              </a:lnSpc>
              <a:buNone/>
            </a:pPr>
            <a:r>
              <a:rPr lang="en-US" sz="1400" b="1" dirty="0">
                <a:solidFill>
                  <a:srgbClr val="E84E27"/>
                </a:solidFill>
                <a:latin typeface="Calibri" pitchFamily="34" charset="0"/>
                <a:ea typeface="Calibri" pitchFamily="34" charset="-122"/>
                <a:cs typeface="Calibri" pitchFamily="34" charset="-120"/>
              </a:rPr>
              <a:t>Que la polivalencia se reconozca como esfuerzo, no solo como virtud.
</a:t>
            </a:r>
            <a:endParaRPr lang="en-US" sz="1400" dirty="0"/>
          </a:p>
          <a:p>
            <a:pPr indent="0" marL="0">
              <a:lnSpc>
                <a:spcPct val="120000"/>
              </a:lnSpc>
              <a:buNone/>
            </a:pPr>
            <a:r>
              <a:rPr lang="en-US" sz="1400" dirty="0">
                <a:solidFill>
                  <a:srgbClr val="3E3D40"/>
                </a:solidFill>
                <a:latin typeface="Calibri" pitchFamily="34" charset="0"/>
                <a:ea typeface="Calibri" pitchFamily="34" charset="-122"/>
                <a:cs typeface="Calibri" pitchFamily="34" charset="-120"/>
              </a:rPr>
              <a:t>En un equipo de 4-5 personas, sin colchón, ayudar en otra función no es un extra ocasional: es la forma normal de trabajar, cada turno — y merece nombrarse.</a:t>
            </a:r>
            <a:endParaRPr lang="en-US" sz="1400" dirty="0"/>
          </a:p>
        </p:txBody>
      </p:sp>
      <p:sp>
        <p:nvSpPr>
          <p:cNvPr id="7" name="Text 5"/>
          <p:cNvSpPr txBox="1"/>
          <p:nvPr/>
        </p:nvSpPr>
        <p:spPr>
          <a:xfrm>
            <a:off x="548640" y="5852160"/>
            <a:ext cx="10149840" cy="548640"/>
          </a:xfrm>
          <a:prstGeom prst="rect">
            <a:avLst/>
          </a:prstGeom>
          <a:noFill/>
          <a:ln/>
        </p:spPr>
        <p:txBody>
          <a:bodyPr wrap="square" rtlCol="0" anchor="ctr"/>
          <a:lstStyle/>
          <a:p>
            <a:pPr indent="0" marL="0">
              <a:lnSpc>
                <a:spcPct val="115000"/>
              </a:lnSpc>
              <a:buNone/>
            </a:pPr>
            <a:r>
              <a:rPr lang="en-US" sz="1200" i="1" dirty="0">
                <a:solidFill>
                  <a:srgbClr val="6B6B6D"/>
                </a:solidFill>
                <a:latin typeface="Calibri" pitchFamily="34" charset="0"/>
                <a:ea typeface="Calibri" pitchFamily="34" charset="-122"/>
                <a:cs typeface="Calibri" pitchFamily="34" charset="-120"/>
              </a:rPr>
              <a:t>Cerrar el canal de escalado (6.g) no es solo una mejora operativa: es condición para sostener el principio más exigente de los siete sin desgaste silencioso.</a:t>
            </a:r>
            <a:endParaRPr lang="en-US" sz="1200" dirty="0"/>
          </a:p>
        </p:txBody>
      </p:sp>
      <p:sp>
        <p:nvSpPr>
          <p:cNvPr id="8"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1371600"/>
            <a:ext cx="1188720" cy="1188720"/>
          </a:xfrm>
          <a:prstGeom prst="ellipse">
            <a:avLst/>
          </a:prstGeom>
          <a:solidFill>
            <a:srgbClr val="E84E27"/>
          </a:solidFill>
          <a:ln/>
        </p:spPr>
      </p:sp>
      <p:sp>
        <p:nvSpPr>
          <p:cNvPr id="3" name="Text 1"/>
          <p:cNvSpPr/>
          <p:nvPr/>
        </p:nvSpPr>
        <p:spPr>
          <a:xfrm>
            <a:off x="548640" y="1371600"/>
            <a:ext cx="1188720" cy="1188720"/>
          </a:xfrm>
          <a:prstGeom prst="rect">
            <a:avLst/>
          </a:prstGeom>
          <a:noFill/>
          <a:ln/>
        </p:spPr>
        <p:txBody>
          <a:bodyPr wrap="square" rtlCol="0" anchor="ctr"/>
          <a:lstStyle/>
          <a:p>
            <a:pPr algn="ctr" indent="0" marL="0">
              <a:buNone/>
            </a:pPr>
            <a:r>
              <a:rPr lang="en-US" sz="4400" b="1" dirty="0">
                <a:solidFill>
                  <a:srgbClr val="FFFFFF"/>
                </a:solidFill>
                <a:latin typeface="GT Alpina" pitchFamily="34" charset="0"/>
                <a:ea typeface="GT Alpina" pitchFamily="34" charset="-122"/>
                <a:cs typeface="GT Alpina" pitchFamily="34" charset="-120"/>
              </a:rPr>
              <a:t>4</a:t>
            </a:r>
            <a:endParaRPr lang="en-US" sz="4400" dirty="0"/>
          </a:p>
        </p:txBody>
      </p:sp>
      <p:sp>
        <p:nvSpPr>
          <p:cNvPr id="4" name="Text 0"/>
          <p:cNvSpPr/>
          <p:nvPr>
            <p:ph idx="100" type="title" hasCustomPrompt="1"/>
          </p:nvPr>
        </p:nvSpPr>
        <p:spPr>
          <a:xfrm>
            <a:off x="548640" y="3017520"/>
            <a:ext cx="11064240" cy="1463040"/>
          </a:xfrm>
          <a:prstGeom prst="rect">
            <a:avLst/>
          </a:prstGeom>
          <a:noFill/>
          <a:ln/>
        </p:spPr>
        <p:txBody>
          <a:bodyPr wrap="square" rtlCol="0" anchor="t"/>
          <a:lstStyle/>
          <a:p>
            <a:pPr algn="l" indent="0" marL="0">
              <a:buNone/>
            </a:pPr>
            <a:r>
              <a:rPr lang="en-US" sz="3800" b="1" dirty="0">
                <a:solidFill>
                  <a:srgbClr val="FFFFFF"/>
                </a:solidFill>
                <a:latin typeface="GT Alpina" pitchFamily="34" charset="0"/>
                <a:ea typeface="GT Alpina" pitchFamily="34" charset="-122"/>
                <a:cs typeface="GT Alpina" pitchFamily="34" charset="-120"/>
              </a:rPr>
              <a:t>GUÍA DE DECISIÓN</a:t>
            </a:r>
            <a:endParaRPr lang="en-US" sz="3800" dirty="0"/>
          </a:p>
          <a:p>
            <a:pPr algn="l" indent="0" marL="0">
              <a:buNone/>
            </a:pPr>
            <a:r>
              <a:rPr lang="en-US" sz="3800" b="1" dirty="0">
                <a:solidFill>
                  <a:srgbClr val="FFFFFF"/>
                </a:solidFill>
                <a:latin typeface="GT Alpina" pitchFamily="34" charset="0"/>
                <a:ea typeface="GT Alpina" pitchFamily="34" charset="-122"/>
                <a:cs typeface="GT Alpina" pitchFamily="34" charset="-120"/>
              </a:rPr>
              <a:t>CUANDO ALGO NO SALE BIEN</a:t>
            </a:r>
            <a:endParaRPr lang="en-US" sz="3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4 — No es el protocolo de quejas</a:t>
            </a:r>
            <a:endParaRPr lang="en-US" sz="2600" dirty="0"/>
          </a:p>
        </p:txBody>
      </p:sp>
      <p:sp>
        <p:nvSpPr>
          <p:cNvPr id="3" name="Text 1"/>
          <p:cNvSpPr txBox="1"/>
          <p:nvPr/>
        </p:nvSpPr>
        <p:spPr>
          <a:xfrm>
            <a:off x="548640" y="2103120"/>
            <a:ext cx="9601200" cy="3200400"/>
          </a:xfrm>
          <a:prstGeom prst="rect">
            <a:avLst/>
          </a:prstGeom>
          <a:noFill/>
          <a:ln/>
        </p:spPr>
        <p:txBody>
          <a:bodyPr wrap="square" rtlCol="0" anchor="ctr"/>
          <a:lstStyle/>
          <a:p>
            <a:pPr indent="0" marL="0">
              <a:lnSpc>
                <a:spcPct val="130000"/>
              </a:lnSpc>
              <a:buNone/>
            </a:pPr>
            <a:r>
              <a:rPr lang="en-US" sz="1800" dirty="0">
                <a:solidFill>
                  <a:srgbClr val="3E3D40"/>
                </a:solidFill>
                <a:latin typeface="Calibri" pitchFamily="34" charset="0"/>
                <a:ea typeface="Calibri" pitchFamily="34" charset="-122"/>
                <a:cs typeface="Calibri" pitchFamily="34" charset="-120"/>
              </a:rPr>
              <a:t>El procedimiento exacto </a:t>
            </a:r>
            <a:pPr indent="0" marL="0">
              <a:lnSpc>
                <a:spcPct val="130000"/>
              </a:lnSpc>
              <a:buNone/>
            </a:pPr>
            <a:r>
              <a:rPr lang="en-US" sz="1800" b="1" dirty="0">
                <a:solidFill>
                  <a:srgbClr val="1D79ED"/>
                </a:solidFill>
                <a:latin typeface="Calibri" pitchFamily="34" charset="0"/>
                <a:ea typeface="Calibri" pitchFamily="34" charset="-122"/>
                <a:cs typeface="Calibri" pitchFamily="34" charset="-120"/>
              </a:rPr>
              <a:t>— qué se escucha, cuándo se escala, cómo queda registrado en el Log de Quejas — </a:t>
            </a:r>
            <a:pPr indent="0" marL="0">
              <a:lnSpc>
                <a:spcPct val="130000"/>
              </a:lnSpc>
              <a:buNone/>
            </a:pPr>
            <a:r>
              <a:rPr lang="en-US" sz="1800" dirty="0">
                <a:solidFill>
                  <a:srgbClr val="3E3D40"/>
                </a:solidFill>
                <a:latin typeface="Calibri" pitchFamily="34" charset="0"/>
                <a:ea typeface="Calibri" pitchFamily="34" charset="-122"/>
                <a:cs typeface="Calibri" pitchFamily="34" charset="-120"/>
              </a:rPr>
              <a:t>ya está fijado en la Estrategia y Modelo Operativo (2.c), y es lo que hay que seguir siempre.
</a:t>
            </a:r>
            <a:pPr indent="0" marL="0">
              <a:lnSpc>
                <a:spcPct val="130000"/>
              </a:lnSpc>
              <a:buNone/>
            </a:pPr>
            <a:r>
              <a:rPr lang="en-US" sz="1800" b="1" dirty="0">
                <a:solidFill>
                  <a:srgbClr val="E84E27"/>
                </a:solidFill>
                <a:latin typeface="Calibri" pitchFamily="34" charset="0"/>
                <a:ea typeface="Calibri" pitchFamily="34" charset="-122"/>
                <a:cs typeface="Calibri" pitchFamily="34" charset="-120"/>
              </a:rPr>
              <a:t>Lo que aportamos aquí es distinto y anterior: </a:t>
            </a:r>
            <a:pPr indent="0" marL="0">
              <a:lnSpc>
                <a:spcPct val="130000"/>
              </a:lnSpc>
              <a:buNone/>
            </a:pPr>
            <a:r>
              <a:rPr lang="en-US" sz="1800" dirty="0">
                <a:solidFill>
                  <a:srgbClr val="3E3D40"/>
                </a:solidFill>
                <a:latin typeface="Calibri" pitchFamily="34" charset="0"/>
                <a:ea typeface="Calibri" pitchFamily="34" charset="-122"/>
                <a:cs typeface="Calibri" pitchFamily="34" charset="-120"/>
              </a:rPr>
              <a:t>cómo pensar la decisión, desde nuestros valores, en el momento en que algo se tuerce — antes incluso de saber si hace falta escalar.</a:t>
            </a:r>
            <a:endParaRPr lang="en-US" sz="18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D"/>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4.1 — Antes de actuar (criterio de fondo)</a:t>
            </a:r>
            <a:endParaRPr lang="en-US" sz="2600" dirty="0"/>
          </a:p>
        </p:txBody>
      </p:sp>
      <p:sp>
        <p:nvSpPr>
          <p:cNvPr id="3" name="Text 1"/>
          <p:cNvSpPr txBox="1"/>
          <p:nvPr/>
        </p:nvSpPr>
        <p:spPr>
          <a:xfrm>
            <a:off x="548640" y="1371600"/>
            <a:ext cx="10058400" cy="548640"/>
          </a:xfrm>
          <a:prstGeom prst="rect">
            <a:avLst/>
          </a:prstGeom>
          <a:noFill/>
          <a:ln/>
        </p:spPr>
        <p:txBody>
          <a:bodyPr wrap="square" rtlCol="0" anchor="ctr"/>
          <a:lstStyle/>
          <a:p>
            <a:pPr indent="0" marL="0">
              <a:buNone/>
            </a:pPr>
            <a:r>
              <a:rPr lang="en-US" sz="1500" b="1" dirty="0">
                <a:solidFill>
                  <a:srgbClr val="E84E27"/>
                </a:solidFill>
                <a:latin typeface="Calibri" pitchFamily="34" charset="0"/>
                <a:ea typeface="Calibri" pitchFamily="34" charset="-122"/>
                <a:cs typeface="Calibri" pitchFamily="34" charset="-120"/>
              </a:rPr>
              <a:t>Un problema no se discute, se resuelve. </a:t>
            </a:r>
            <a:pPr indent="0" marL="0">
              <a:buNone/>
            </a:pPr>
            <a:r>
              <a:rPr lang="en-US" sz="1500" dirty="0">
                <a:solidFill>
                  <a:srgbClr val="3E3D40"/>
                </a:solidFill>
                <a:latin typeface="Calibri" pitchFamily="34" charset="0"/>
                <a:ea typeface="Calibri" pitchFamily="34" charset="-122"/>
                <a:cs typeface="Calibri" pitchFamily="34" charset="-120"/>
              </a:rPr>
              <a:t>Antes de decidir cualquier otra cosa, tres preguntas, en orden:</a:t>
            </a:r>
            <a:endParaRPr lang="en-US" sz="1500" dirty="0"/>
          </a:p>
        </p:txBody>
      </p:sp>
      <p:sp>
        <p:nvSpPr>
          <p:cNvPr id="4" name="Shape 2"/>
          <p:cNvSpPr/>
          <p:nvPr/>
        </p:nvSpPr>
        <p:spPr>
          <a:xfrm>
            <a:off x="548640" y="2103120"/>
            <a:ext cx="502920" cy="502920"/>
          </a:xfrm>
          <a:prstGeom prst="ellipse">
            <a:avLst/>
          </a:prstGeom>
          <a:solidFill>
            <a:srgbClr val="1D79ED"/>
          </a:solidFill>
          <a:ln/>
        </p:spPr>
      </p:sp>
      <p:sp>
        <p:nvSpPr>
          <p:cNvPr id="5" name="Text 3"/>
          <p:cNvSpPr/>
          <p:nvPr/>
        </p:nvSpPr>
        <p:spPr>
          <a:xfrm>
            <a:off x="548640" y="2103120"/>
            <a:ext cx="502920" cy="502920"/>
          </a:xfrm>
          <a:prstGeom prst="rect">
            <a:avLst/>
          </a:prstGeom>
          <a:noFill/>
          <a:ln/>
        </p:spPr>
        <p:txBody>
          <a:bodyPr wrap="square" rtlCol="0" anchor="ctr"/>
          <a:lstStyle/>
          <a:p>
            <a:pPr algn="ctr" indent="0" marL="0">
              <a:buNone/>
            </a:pPr>
            <a:r>
              <a:rPr lang="en-US" sz="1800" b="1" dirty="0">
                <a:solidFill>
                  <a:srgbClr val="FFFFFF"/>
                </a:solidFill>
                <a:latin typeface="GT Alpina" pitchFamily="34" charset="0"/>
                <a:ea typeface="GT Alpina" pitchFamily="34" charset="-122"/>
                <a:cs typeface="GT Alpina" pitchFamily="34" charset="-120"/>
              </a:rPr>
              <a:t>1</a:t>
            </a:r>
            <a:endParaRPr lang="en-US" sz="1800" dirty="0"/>
          </a:p>
        </p:txBody>
      </p:sp>
      <p:sp>
        <p:nvSpPr>
          <p:cNvPr id="6" name="Text 4"/>
          <p:cNvSpPr txBox="1"/>
          <p:nvPr/>
        </p:nvSpPr>
        <p:spPr>
          <a:xfrm>
            <a:off x="1280160" y="2057400"/>
            <a:ext cx="9692640" cy="1005840"/>
          </a:xfrm>
          <a:prstGeom prst="rect">
            <a:avLst/>
          </a:prstGeom>
          <a:noFill/>
          <a:ln/>
        </p:spPr>
        <p:txBody>
          <a:bodyPr wrap="square" rtlCol="0" anchor="t"/>
          <a:lstStyle/>
          <a:p>
            <a:pPr indent="0" marL="0">
              <a:lnSpc>
                <a:spcPct val="120000"/>
              </a:lnSpc>
              <a:buNone/>
            </a:pPr>
            <a:r>
              <a:rPr lang="en-US" sz="1350" b="1" dirty="0">
                <a:solidFill>
                  <a:srgbClr val="3E3D40"/>
                </a:solidFill>
                <a:latin typeface="Calibri" pitchFamily="34" charset="0"/>
                <a:ea typeface="Calibri" pitchFamily="34" charset="-122"/>
                <a:cs typeface="Calibri" pitchFamily="34" charset="-120"/>
              </a:rPr>
              <a:t>¿Qué necesita de verdad la persona que tengo delante ahora mismo?
</a:t>
            </a:r>
            <a:endParaRPr lang="en-US" sz="1350" dirty="0"/>
          </a:p>
          <a:p>
            <a:pPr indent="0" marL="0">
              <a:lnSpc>
                <a:spcPct val="120000"/>
              </a:lnSpc>
              <a:buNone/>
            </a:pPr>
            <a:r>
              <a:rPr lang="en-US" sz="1350" dirty="0">
                <a:solidFill>
                  <a:srgbClr val="5A5A5C"/>
                </a:solidFill>
                <a:latin typeface="Calibri" pitchFamily="34" charset="0"/>
                <a:ea typeface="Calibri" pitchFamily="34" charset="-122"/>
                <a:cs typeface="Calibri" pitchFamily="34" charset="-120"/>
              </a:rPr>
              <a:t>No lo que “técnicamente” tiene derecho a esperar, sino qué le devolvería la sensación de haber sido escuchada.</a:t>
            </a:r>
            <a:endParaRPr lang="en-US" sz="1350" dirty="0"/>
          </a:p>
        </p:txBody>
      </p:sp>
      <p:sp>
        <p:nvSpPr>
          <p:cNvPr id="7" name="Shape 5"/>
          <p:cNvSpPr/>
          <p:nvPr/>
        </p:nvSpPr>
        <p:spPr>
          <a:xfrm>
            <a:off x="548640" y="3337560"/>
            <a:ext cx="502920" cy="502920"/>
          </a:xfrm>
          <a:prstGeom prst="ellipse">
            <a:avLst/>
          </a:prstGeom>
          <a:solidFill>
            <a:srgbClr val="1D79ED"/>
          </a:solidFill>
          <a:ln/>
        </p:spPr>
      </p:sp>
      <p:sp>
        <p:nvSpPr>
          <p:cNvPr id="8" name="Text 6"/>
          <p:cNvSpPr/>
          <p:nvPr/>
        </p:nvSpPr>
        <p:spPr>
          <a:xfrm>
            <a:off x="548640" y="3337560"/>
            <a:ext cx="502920" cy="502920"/>
          </a:xfrm>
          <a:prstGeom prst="rect">
            <a:avLst/>
          </a:prstGeom>
          <a:noFill/>
          <a:ln/>
        </p:spPr>
        <p:txBody>
          <a:bodyPr wrap="square" rtlCol="0" anchor="ctr"/>
          <a:lstStyle/>
          <a:p>
            <a:pPr algn="ctr" indent="0" marL="0">
              <a:buNone/>
            </a:pPr>
            <a:r>
              <a:rPr lang="en-US" sz="1800" b="1" dirty="0">
                <a:solidFill>
                  <a:srgbClr val="FFFFFF"/>
                </a:solidFill>
                <a:latin typeface="GT Alpina" pitchFamily="34" charset="0"/>
                <a:ea typeface="GT Alpina" pitchFamily="34" charset="-122"/>
                <a:cs typeface="GT Alpina" pitchFamily="34" charset="-120"/>
              </a:rPr>
              <a:t>2</a:t>
            </a:r>
            <a:endParaRPr lang="en-US" sz="1800" dirty="0"/>
          </a:p>
        </p:txBody>
      </p:sp>
      <p:sp>
        <p:nvSpPr>
          <p:cNvPr id="9" name="Text 7"/>
          <p:cNvSpPr txBox="1"/>
          <p:nvPr/>
        </p:nvSpPr>
        <p:spPr>
          <a:xfrm>
            <a:off x="1280160" y="3291840"/>
            <a:ext cx="9692640" cy="1005840"/>
          </a:xfrm>
          <a:prstGeom prst="rect">
            <a:avLst/>
          </a:prstGeom>
          <a:noFill/>
          <a:ln/>
        </p:spPr>
        <p:txBody>
          <a:bodyPr wrap="square" rtlCol="0" anchor="t"/>
          <a:lstStyle/>
          <a:p>
            <a:pPr indent="0" marL="0">
              <a:lnSpc>
                <a:spcPct val="120000"/>
              </a:lnSpc>
              <a:buNone/>
            </a:pPr>
            <a:r>
              <a:rPr lang="en-US" sz="1350" b="1" dirty="0">
                <a:solidFill>
                  <a:srgbClr val="3E3D40"/>
                </a:solidFill>
                <a:latin typeface="Calibri" pitchFamily="34" charset="0"/>
                <a:ea typeface="Calibri" pitchFamily="34" charset="-122"/>
                <a:cs typeface="Calibri" pitchFamily="34" charset="-120"/>
              </a:rPr>
              <a:t>¿Estoy defendiéndome a mí o estoy resolviendo a la persona?
</a:t>
            </a:r>
            <a:endParaRPr lang="en-US" sz="1350" dirty="0"/>
          </a:p>
          <a:p>
            <a:pPr indent="0" marL="0">
              <a:lnSpc>
                <a:spcPct val="120000"/>
              </a:lnSpc>
              <a:buNone/>
            </a:pPr>
            <a:r>
              <a:rPr lang="en-US" sz="1350" dirty="0">
                <a:solidFill>
                  <a:srgbClr val="5A5A5C"/>
                </a:solidFill>
                <a:latin typeface="Calibri" pitchFamily="34" charset="0"/>
                <a:ea typeface="Calibri" pitchFamily="34" charset="-122"/>
                <a:cs typeface="Calibri" pitchFamily="34" charset="-120"/>
              </a:rPr>
              <a:t>Si la primera frase que viene a la cabeza es una justificación, es señal de pararse un segundo.</a:t>
            </a:r>
            <a:endParaRPr lang="en-US" sz="1350" dirty="0"/>
          </a:p>
        </p:txBody>
      </p:sp>
      <p:sp>
        <p:nvSpPr>
          <p:cNvPr id="10" name="Shape 8"/>
          <p:cNvSpPr/>
          <p:nvPr/>
        </p:nvSpPr>
        <p:spPr>
          <a:xfrm>
            <a:off x="548640" y="4572000"/>
            <a:ext cx="502920" cy="502920"/>
          </a:xfrm>
          <a:prstGeom prst="ellipse">
            <a:avLst/>
          </a:prstGeom>
          <a:solidFill>
            <a:srgbClr val="1D79ED"/>
          </a:solidFill>
          <a:ln/>
        </p:spPr>
      </p:sp>
      <p:sp>
        <p:nvSpPr>
          <p:cNvPr id="11" name="Text 9"/>
          <p:cNvSpPr/>
          <p:nvPr/>
        </p:nvSpPr>
        <p:spPr>
          <a:xfrm>
            <a:off x="548640" y="4572000"/>
            <a:ext cx="502920" cy="502920"/>
          </a:xfrm>
          <a:prstGeom prst="rect">
            <a:avLst/>
          </a:prstGeom>
          <a:noFill/>
          <a:ln/>
        </p:spPr>
        <p:txBody>
          <a:bodyPr wrap="square" rtlCol="0" anchor="ctr"/>
          <a:lstStyle/>
          <a:p>
            <a:pPr algn="ctr" indent="0" marL="0">
              <a:buNone/>
            </a:pPr>
            <a:r>
              <a:rPr lang="en-US" sz="1800" b="1" dirty="0">
                <a:solidFill>
                  <a:srgbClr val="FFFFFF"/>
                </a:solidFill>
                <a:latin typeface="GT Alpina" pitchFamily="34" charset="0"/>
                <a:ea typeface="GT Alpina" pitchFamily="34" charset="-122"/>
                <a:cs typeface="GT Alpina" pitchFamily="34" charset="-120"/>
              </a:rPr>
              <a:t>3</a:t>
            </a:r>
            <a:endParaRPr lang="en-US" sz="1800" dirty="0"/>
          </a:p>
        </p:txBody>
      </p:sp>
      <p:sp>
        <p:nvSpPr>
          <p:cNvPr id="12" name="Text 10"/>
          <p:cNvSpPr txBox="1"/>
          <p:nvPr/>
        </p:nvSpPr>
        <p:spPr>
          <a:xfrm>
            <a:off x="1280160" y="4526280"/>
            <a:ext cx="9692640" cy="1005840"/>
          </a:xfrm>
          <a:prstGeom prst="rect">
            <a:avLst/>
          </a:prstGeom>
          <a:noFill/>
          <a:ln/>
        </p:spPr>
        <p:txBody>
          <a:bodyPr wrap="square" rtlCol="0" anchor="t"/>
          <a:lstStyle/>
          <a:p>
            <a:pPr indent="0" marL="0">
              <a:lnSpc>
                <a:spcPct val="120000"/>
              </a:lnSpc>
              <a:buNone/>
            </a:pPr>
            <a:r>
              <a:rPr lang="en-US" sz="1350" b="1" dirty="0">
                <a:solidFill>
                  <a:srgbClr val="3E3D40"/>
                </a:solidFill>
                <a:latin typeface="Calibri" pitchFamily="34" charset="0"/>
                <a:ea typeface="Calibri" pitchFamily="34" charset="-122"/>
                <a:cs typeface="Calibri" pitchFamily="34" charset="-120"/>
              </a:rPr>
              <a:t>¿Esto lo puedo resolver yo con criterio, o necesita una decisión que no es mía?
</a:t>
            </a:r>
            <a:endParaRPr lang="en-US" sz="1350" dirty="0"/>
          </a:p>
          <a:p>
            <a:pPr indent="0" marL="0">
              <a:lnSpc>
                <a:spcPct val="120000"/>
              </a:lnSpc>
              <a:buNone/>
            </a:pPr>
            <a:r>
              <a:rPr lang="en-US" sz="1350" dirty="0">
                <a:solidFill>
                  <a:srgbClr val="5A5A5C"/>
                </a:solidFill>
                <a:latin typeface="Calibri" pitchFamily="34" charset="0"/>
                <a:ea typeface="Calibri" pitchFamily="34" charset="-122"/>
                <a:cs typeface="Calibri" pitchFamily="34" charset="-120"/>
              </a:rPr>
              <a:t>El criterio para saber qué resolver nace de los valores; el cómo escalarlo ya está en 2.c.</a:t>
            </a:r>
            <a:endParaRPr lang="en-US" sz="1350" dirty="0"/>
          </a:p>
        </p:txBody>
      </p:sp>
      <p:sp>
        <p:nvSpPr>
          <p:cNvPr id="13"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4.2 — Marco de decisión ante problemas de servicio</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0149840" cy="4572000"/>
        </p:xfrm>
        <a:graphic>
          <a:graphicData uri="http://schemas.openxmlformats.org/drawingml/2006/table">
            <a:tbl>
              <a:tblPr/>
              <a:tblGrid>
                <a:gridCol w="5120640"/>
                <a:gridCol w="5029200"/>
              </a:tblGrid>
              <a:tr h="762000">
                <a:tc>
                  <a:txBody>
                    <a:bodyPr/>
                    <a:lstStyle/>
                    <a:p>
                      <a:pPr indent="0" marL="0">
                        <a:buNone/>
                      </a:pPr>
                      <a:r>
                        <a:rPr lang="en-US" sz="1200" b="1" dirty="0">
                          <a:solidFill>
                            <a:srgbClr val="FFFFFF"/>
                          </a:solidFill>
                        </a:rPr>
                        <a:t>Pregunta que nos hacemos</a:t>
                      </a:r>
                      <a:endParaRPr lang="en-US" sz="1200" dirty="0"/>
                    </a:p>
                  </a:txBody>
                  <a:tcPr marL="127000" marR="127000" marT="101600" marB="1016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1D79ED"/>
                    </a:solidFill>
                  </a:tcPr>
                </a:tc>
                <a:tc>
                  <a:txBody>
                    <a:bodyPr/>
                    <a:lstStyle/>
                    <a:p>
                      <a:pPr indent="0" marL="0">
                        <a:buNone/>
                      </a:pPr>
                      <a:r>
                        <a:rPr lang="en-US" sz="1200" b="1" dirty="0">
                          <a:solidFill>
                            <a:srgbClr val="FFFFFF"/>
                          </a:solidFill>
                        </a:rPr>
                        <a:t>Lo que nos jugamos si la respondemos mal</a:t>
                      </a:r>
                      <a:endParaRPr lang="en-US" sz="1200" dirty="0"/>
                    </a:p>
                  </a:txBody>
                  <a:tcPr marL="127000" marR="127000" marT="101600" marB="1016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1D79ED"/>
                    </a:solidFill>
                  </a:tcPr>
                </a:tc>
              </a:tr>
              <a:tr h="762000">
                <a:tc>
                  <a:txBody>
                    <a:bodyPr/>
                    <a:lstStyle/>
                    <a:p>
                      <a:pPr indent="0" marL="0">
                        <a:buNone/>
                      </a:pPr>
                      <a:r>
                        <a:rPr lang="en-US" sz="1250" dirty="0">
                          <a:solidFill>
                            <a:srgbClr val="3E3D40"/>
                          </a:solidFill>
                        </a:rPr>
                        <a:t>¿He escuchado de verdad, sin interrumpir?</a:t>
                      </a:r>
                      <a:endParaRPr lang="en-US" sz="1250" dirty="0"/>
                    </a:p>
                  </a:txBody>
                  <a:tcPr marL="127000" marR="127000" marT="101600" marB="1016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50" i="1" dirty="0">
                          <a:solidFill>
                            <a:srgbClr val="5A5A5C"/>
                          </a:solidFill>
                        </a:rPr>
                        <a:t>Que la persona sienta que se le discute en vez de resolverle.</a:t>
                      </a:r>
                      <a:endParaRPr lang="en-US" sz="1250" dirty="0"/>
                    </a:p>
                  </a:txBody>
                  <a:tcPr marL="127000" marR="127000" marT="101600" marB="1016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762000">
                <a:tc>
                  <a:txBody>
                    <a:bodyPr/>
                    <a:lstStyle/>
                    <a:p>
                      <a:pPr indent="0" marL="0">
                        <a:buNone/>
                      </a:pPr>
                      <a:r>
                        <a:rPr lang="en-US" sz="1250" dirty="0">
                          <a:solidFill>
                            <a:srgbClr val="3E3D40"/>
                          </a:solidFill>
                        </a:rPr>
                        <a:t>¿Mi respuesta es una solución, o una excusa con forma de respuesta?</a:t>
                      </a:r>
                      <a:endParaRPr lang="en-US" sz="1250" dirty="0"/>
                    </a:p>
                  </a:txBody>
                  <a:tcPr marL="127000" marR="127000" marT="101600" marB="1016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50" i="1" dirty="0">
                          <a:solidFill>
                            <a:srgbClr val="5A5A5C"/>
                          </a:solidFill>
                        </a:rPr>
                        <a:t>Que un error pequeño se convierta en una queja grande por cómo se gestiona.</a:t>
                      </a:r>
                      <a:endParaRPr lang="en-US" sz="1250" dirty="0"/>
                    </a:p>
                  </a:txBody>
                  <a:tcPr marL="127000" marR="127000" marT="101600" marB="1016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762000">
                <a:tc>
                  <a:txBody>
                    <a:bodyPr/>
                    <a:lstStyle/>
                    <a:p>
                      <a:pPr indent="0" marL="0">
                        <a:buNone/>
                      </a:pPr>
                      <a:r>
                        <a:rPr lang="en-US" sz="1250" dirty="0">
                          <a:solidFill>
                            <a:srgbClr val="3E3D40"/>
                          </a:solidFill>
                        </a:rPr>
                        <a:t>¿Estoy tratando esto como si fuera personal?</a:t>
                      </a:r>
                      <a:endParaRPr lang="en-US" sz="1250" dirty="0"/>
                    </a:p>
                  </a:txBody>
                  <a:tcPr marL="127000" marR="127000" marT="101600" marB="1016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50" i="1" dirty="0">
                          <a:solidFill>
                            <a:srgbClr val="5A5A5C"/>
                          </a:solidFill>
                        </a:rPr>
                        <a:t>Que la emoción tape el criterio — “no se discute” aplica también a no entrar al choque.</a:t>
                      </a:r>
                      <a:endParaRPr lang="en-US" sz="1250" dirty="0"/>
                    </a:p>
                  </a:txBody>
                  <a:tcPr marL="127000" marR="127000" marT="101600" marB="1016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762000">
                <a:tc>
                  <a:txBody>
                    <a:bodyPr/>
                    <a:lstStyle/>
                    <a:p>
                      <a:pPr indent="0" marL="0">
                        <a:buNone/>
                      </a:pPr>
                      <a:r>
                        <a:rPr lang="en-US" sz="1250" dirty="0">
                          <a:solidFill>
                            <a:srgbClr val="3E3D40"/>
                          </a:solidFill>
                        </a:rPr>
                        <a:t>¿Esto afecta solo a esta mesa, o puede repetirse?</a:t>
                      </a:r>
                      <a:endParaRPr lang="en-US" sz="1250" dirty="0"/>
                    </a:p>
                  </a:txBody>
                  <a:tcPr marL="127000" marR="127000" marT="101600" marB="1016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50" i="1" dirty="0">
                          <a:solidFill>
                            <a:srgbClr val="5A5A5C"/>
                          </a:solidFill>
                        </a:rPr>
                        <a:t>Que algo que merecía subir a Dirección se quede sin dejar rastro para aprender.</a:t>
                      </a:r>
                      <a:endParaRPr lang="en-US" sz="1250" dirty="0"/>
                    </a:p>
                  </a:txBody>
                  <a:tcPr marL="127000" marR="127000" marT="101600" marB="1016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762000">
                <a:tc>
                  <a:txBody>
                    <a:bodyPr/>
                    <a:lstStyle/>
                    <a:p>
                      <a:pPr indent="0" marL="0">
                        <a:buNone/>
                      </a:pPr>
                      <a:r>
                        <a:rPr lang="en-US" sz="1250" dirty="0">
                          <a:solidFill>
                            <a:srgbClr val="3E3D40"/>
                          </a:solidFill>
                        </a:rPr>
                        <a:t>¿Mi solución es coherente con nuestra promesa (2.4)?</a:t>
                      </a:r>
                      <a:endParaRPr lang="en-US" sz="1250" dirty="0"/>
                    </a:p>
                  </a:txBody>
                  <a:tcPr marL="127000" marR="127000" marT="101600" marB="1016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50" i="1" dirty="0">
                          <a:solidFill>
                            <a:srgbClr val="5A5A5C"/>
                          </a:solidFill>
                        </a:rPr>
                        <a:t>Que resolvamos el problema rompiendo la promesa de fondo — rápido pero frío.</a:t>
                      </a:r>
                      <a:endParaRPr lang="en-US" sz="1250" dirty="0"/>
                    </a:p>
                  </a:txBody>
                  <a:tcPr marL="127000" marR="127000" marT="101600" marB="1016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4"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1371600"/>
            <a:ext cx="1188720" cy="1188720"/>
          </a:xfrm>
          <a:prstGeom prst="ellipse">
            <a:avLst/>
          </a:prstGeom>
          <a:solidFill>
            <a:srgbClr val="E84E27"/>
          </a:solidFill>
          <a:ln/>
        </p:spPr>
      </p:sp>
      <p:sp>
        <p:nvSpPr>
          <p:cNvPr id="3" name="Text 1"/>
          <p:cNvSpPr/>
          <p:nvPr/>
        </p:nvSpPr>
        <p:spPr>
          <a:xfrm>
            <a:off x="548640" y="1371600"/>
            <a:ext cx="1188720" cy="1188720"/>
          </a:xfrm>
          <a:prstGeom prst="rect">
            <a:avLst/>
          </a:prstGeom>
          <a:noFill/>
          <a:ln/>
        </p:spPr>
        <p:txBody>
          <a:bodyPr wrap="square" rtlCol="0" anchor="ctr"/>
          <a:lstStyle/>
          <a:p>
            <a:pPr algn="ctr" indent="0" marL="0">
              <a:buNone/>
            </a:pPr>
            <a:r>
              <a:rPr lang="en-US" sz="4400" b="1" dirty="0">
                <a:solidFill>
                  <a:srgbClr val="FFFFFF"/>
                </a:solidFill>
                <a:latin typeface="GT Alpina" pitchFamily="34" charset="0"/>
                <a:ea typeface="GT Alpina" pitchFamily="34" charset="-122"/>
                <a:cs typeface="GT Alpina" pitchFamily="34" charset="-120"/>
              </a:rPr>
              <a:t>5</a:t>
            </a:r>
            <a:endParaRPr lang="en-US" sz="4400" dirty="0"/>
          </a:p>
        </p:txBody>
      </p:sp>
      <p:sp>
        <p:nvSpPr>
          <p:cNvPr id="4" name="Text 0"/>
          <p:cNvSpPr/>
          <p:nvPr>
            <p:ph idx="100" type="title" hasCustomPrompt="1"/>
          </p:nvPr>
        </p:nvSpPr>
        <p:spPr>
          <a:xfrm>
            <a:off x="548640" y="3017520"/>
            <a:ext cx="11064240" cy="1463040"/>
          </a:xfrm>
          <a:prstGeom prst="rect">
            <a:avLst/>
          </a:prstGeom>
          <a:noFill/>
          <a:ln/>
        </p:spPr>
        <p:txBody>
          <a:bodyPr wrap="square" rtlCol="0" anchor="t"/>
          <a:lstStyle/>
          <a:p>
            <a:pPr algn="l" indent="0" marL="0">
              <a:buNone/>
            </a:pPr>
            <a:r>
              <a:rPr lang="en-US" sz="3800" b="1" dirty="0">
                <a:solidFill>
                  <a:srgbClr val="FFFFFF"/>
                </a:solidFill>
                <a:latin typeface="GT Alpina" pitchFamily="34" charset="0"/>
                <a:ea typeface="GT Alpina" pitchFamily="34" charset="-122"/>
                <a:cs typeface="GT Alpina" pitchFamily="34" charset="-120"/>
              </a:rPr>
              <a:t>CÓMO DAMOS VIDA</a:t>
            </a:r>
            <a:endParaRPr lang="en-US" sz="3800" dirty="0"/>
          </a:p>
          <a:p>
            <a:pPr algn="l" indent="0" marL="0">
              <a:buNone/>
            </a:pPr>
            <a:r>
              <a:rPr lang="en-US" sz="3800" b="1" dirty="0">
                <a:solidFill>
                  <a:srgbClr val="FFFFFF"/>
                </a:solidFill>
                <a:latin typeface="GT Alpina" pitchFamily="34" charset="0"/>
                <a:ea typeface="GT Alpina" pitchFamily="34" charset="-122"/>
                <a:cs typeface="GT Alpina" pitchFamily="34" charset="-120"/>
              </a:rPr>
              <a:t>A LA EXPERIENCIA</a:t>
            </a:r>
            <a:endParaRPr lang="en-US" sz="3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5.1 — Comportamientos que nos definen</a:t>
            </a:r>
            <a:endParaRPr lang="en-US" sz="2600" dirty="0"/>
          </a:p>
        </p:txBody>
      </p:sp>
      <p:sp>
        <p:nvSpPr>
          <p:cNvPr id="3" name="Text 1"/>
          <p:cNvSpPr txBox="1"/>
          <p:nvPr/>
        </p:nvSpPr>
        <p:spPr>
          <a:xfrm>
            <a:off x="548640" y="1417320"/>
            <a:ext cx="10149840" cy="4206240"/>
          </a:xfrm>
          <a:prstGeom prst="rect">
            <a:avLst/>
          </a:prstGeom>
          <a:noFill/>
          <a:ln/>
        </p:spPr>
        <p:txBody>
          <a:bodyPr wrap="square" rtlCol="0" anchor="t"/>
          <a:lstStyle/>
          <a:p>
            <a:pPr marL="342900" indent="-342900">
              <a:lnSpc>
                <a:spcPct val="125000"/>
              </a:lnSpc>
              <a:spcAft>
                <a:spcPts val="1000"/>
              </a:spcAft>
              <a:buSzPct val="100000"/>
              <a:buChar char="●"/>
            </a:pPr>
            <a:r>
              <a:rPr lang="en-US" sz="1500" dirty="0">
                <a:solidFill>
                  <a:srgbClr val="3E3D40"/>
                </a:solidFill>
                <a:latin typeface="Calibri" pitchFamily="34" charset="0"/>
                <a:ea typeface="Calibri" pitchFamily="34" charset="-122"/>
                <a:cs typeface="Calibri" pitchFamily="34" charset="-120"/>
              </a:rPr>
              <a:t>Explicar el tueste propio o el obrador propio a quien no lo sabe, sin que nadie lo pida.</a:t>
            </a:r>
            <a:endParaRPr lang="en-US" sz="1500" dirty="0"/>
          </a:p>
          <a:p>
            <a:pPr marL="342900" indent="-342900">
              <a:lnSpc>
                <a:spcPct val="125000"/>
              </a:lnSpc>
              <a:spcAft>
                <a:spcPts val="1000"/>
              </a:spcAft>
              <a:buSzPct val="100000"/>
              <a:buChar char="●"/>
            </a:pPr>
            <a:r>
              <a:rPr lang="en-US" sz="1500" dirty="0">
                <a:solidFill>
                  <a:srgbClr val="3E3D40"/>
                </a:solidFill>
                <a:latin typeface="Calibri" pitchFamily="34" charset="0"/>
                <a:ea typeface="Calibri" pitchFamily="34" charset="-122"/>
                <a:cs typeface="Calibri" pitchFamily="34" charset="-120"/>
              </a:rPr>
              <a:t>Dirigirse a la persona, no a la mesa ni al pedido.</a:t>
            </a:r>
            <a:endParaRPr lang="en-US" sz="1500" dirty="0"/>
          </a:p>
          <a:p>
            <a:pPr marL="342900" indent="-342900">
              <a:lnSpc>
                <a:spcPct val="125000"/>
              </a:lnSpc>
              <a:spcAft>
                <a:spcPts val="1000"/>
              </a:spcAft>
              <a:buSzPct val="100000"/>
              <a:buChar char="●"/>
            </a:pPr>
            <a:r>
              <a:rPr lang="en-US" sz="1500" dirty="0">
                <a:solidFill>
                  <a:srgbClr val="3E3D40"/>
                </a:solidFill>
                <a:latin typeface="Calibri" pitchFamily="34" charset="0"/>
                <a:ea typeface="Calibri" pitchFamily="34" charset="-122"/>
                <a:cs typeface="Calibri" pitchFamily="34" charset="-120"/>
              </a:rPr>
              <a:t>Avisar cuando algo va a tardar, en vez de dejar que el silencio hable por nosotros.</a:t>
            </a:r>
            <a:endParaRPr lang="en-US" sz="1500" dirty="0"/>
          </a:p>
          <a:p>
            <a:pPr marL="342900" indent="-342900">
              <a:lnSpc>
                <a:spcPct val="125000"/>
              </a:lnSpc>
              <a:spcAft>
                <a:spcPts val="1000"/>
              </a:spcAft>
              <a:buSzPct val="100000"/>
              <a:buChar char="●"/>
            </a:pPr>
            <a:r>
              <a:rPr lang="en-US" sz="1500" dirty="0">
                <a:solidFill>
                  <a:srgbClr val="3E3D40"/>
                </a:solidFill>
                <a:latin typeface="Calibri" pitchFamily="34" charset="0"/>
                <a:ea typeface="Calibri" pitchFamily="34" charset="-122"/>
                <a:cs typeface="Calibri" pitchFamily="34" charset="-120"/>
              </a:rPr>
              <a:t>Ofrecer, sin forzar, al tomar el pedido y al final, antes de cobrar.</a:t>
            </a:r>
            <a:endParaRPr lang="en-US" sz="1500" dirty="0"/>
          </a:p>
          <a:p>
            <a:pPr marL="342900" indent="-342900">
              <a:lnSpc>
                <a:spcPct val="125000"/>
              </a:lnSpc>
              <a:spcAft>
                <a:spcPts val="1000"/>
              </a:spcAft>
              <a:buSzPct val="100000"/>
              <a:buChar char="●"/>
            </a:pPr>
            <a:r>
              <a:rPr lang="en-US" sz="1500" dirty="0">
                <a:solidFill>
                  <a:srgbClr val="3E3D40"/>
                </a:solidFill>
                <a:latin typeface="Calibri" pitchFamily="34" charset="0"/>
                <a:ea typeface="Calibri" pitchFamily="34" charset="-122"/>
                <a:cs typeface="Calibri" pitchFamily="34" charset="-120"/>
              </a:rPr>
              <a:t>Ayudar a un compañero en otra función sin que nadie lo pida — “esto no me toca” no existe aquí.</a:t>
            </a:r>
            <a:endParaRPr lang="en-US" sz="1500" dirty="0"/>
          </a:p>
          <a:p>
            <a:pPr marL="342900" indent="-342900">
              <a:lnSpc>
                <a:spcPct val="125000"/>
              </a:lnSpc>
              <a:spcAft>
                <a:spcPts val="1000"/>
              </a:spcAft>
              <a:buSzPct val="100000"/>
              <a:buChar char="●"/>
            </a:pPr>
            <a:r>
              <a:rPr lang="en-US" sz="1500" dirty="0">
                <a:solidFill>
                  <a:srgbClr val="3E3D40"/>
                </a:solidFill>
                <a:latin typeface="Calibri" pitchFamily="34" charset="0"/>
                <a:ea typeface="Calibri" pitchFamily="34" charset="-122"/>
                <a:cs typeface="Calibri" pitchFamily="34" charset="-120"/>
              </a:rPr>
              <a:t>Despedirse con una frase cálida, nunca con un gesto puramente administrativo.</a:t>
            </a:r>
            <a:endParaRPr lang="en-US" sz="1500" dirty="0"/>
          </a:p>
        </p:txBody>
      </p:sp>
      <p:sp>
        <p:nvSpPr>
          <p:cNvPr id="4" name="Text 2"/>
          <p:cNvSpPr txBox="1"/>
          <p:nvPr/>
        </p:nvSpPr>
        <p:spPr>
          <a:xfrm>
            <a:off x="548640" y="5760720"/>
            <a:ext cx="10149840" cy="548640"/>
          </a:xfrm>
          <a:prstGeom prst="rect">
            <a:avLst/>
          </a:prstGeom>
          <a:noFill/>
          <a:ln/>
        </p:spPr>
        <p:txBody>
          <a:bodyPr wrap="square" rtlCol="0" anchor="ctr"/>
          <a:lstStyle/>
          <a:p>
            <a:pPr indent="0" marL="0">
              <a:buNone/>
            </a:pPr>
            <a:r>
              <a:rPr lang="en-US" sz="1250" i="1" dirty="0">
                <a:solidFill>
                  <a:srgbClr val="E84E27"/>
                </a:solidFill>
                <a:latin typeface="Calibri" pitchFamily="34" charset="0"/>
                <a:ea typeface="Calibri" pitchFamily="34" charset="-122"/>
                <a:cs typeface="Calibri" pitchFamily="34" charset="-120"/>
              </a:rPr>
              <a:t>Lo difícil no es cada comportamiento por separado — es mantenerlos igual en la hora tranquila de un martes y en la mañana de sábado con la terraza llena.</a:t>
            </a:r>
            <a:endParaRPr lang="en-US" sz="1250" dirty="0"/>
          </a:p>
        </p:txBody>
      </p:sp>
      <p:sp>
        <p:nvSpPr>
          <p:cNvPr id="5"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5.2 — Nuestro lenguaje</a:t>
            </a:r>
            <a:endParaRPr lang="en-US" sz="2600" dirty="0"/>
          </a:p>
        </p:txBody>
      </p:sp>
      <p:sp>
        <p:nvSpPr>
          <p:cNvPr id="3" name="Shape 1"/>
          <p:cNvSpPr/>
          <p:nvPr/>
        </p:nvSpPr>
        <p:spPr>
          <a:xfrm>
            <a:off x="548640" y="1463040"/>
            <a:ext cx="10149840" cy="1463040"/>
          </a:xfrm>
          <a:prstGeom prst="roundRect">
            <a:avLst>
              <a:gd name="adj" fmla="val 6250"/>
            </a:avLst>
          </a:prstGeom>
          <a:solidFill>
            <a:srgbClr val="1D79ED"/>
          </a:solidFill>
          <a:ln/>
        </p:spPr>
      </p:sp>
      <p:sp>
        <p:nvSpPr>
          <p:cNvPr id="4" name="Text 2"/>
          <p:cNvSpPr txBox="1"/>
          <p:nvPr/>
        </p:nvSpPr>
        <p:spPr>
          <a:xfrm>
            <a:off x="822960" y="1645920"/>
            <a:ext cx="9601200" cy="1097280"/>
          </a:xfrm>
          <a:prstGeom prst="rect">
            <a:avLst/>
          </a:prstGeom>
          <a:noFill/>
          <a:ln/>
        </p:spPr>
        <p:txBody>
          <a:bodyPr wrap="square" rtlCol="0" anchor="ctr"/>
          <a:lstStyle/>
          <a:p>
            <a:pPr indent="0" marL="0">
              <a:lnSpc>
                <a:spcPct val="120000"/>
              </a:lnSpc>
              <a:buNone/>
            </a:pPr>
            <a:r>
              <a:rPr lang="en-US" sz="1800" dirty="0">
                <a:solidFill>
                  <a:srgbClr val="FFFFFF"/>
                </a:solidFill>
                <a:latin typeface="GT Alpina" pitchFamily="34" charset="0"/>
                <a:ea typeface="GT Alpina" pitchFamily="34" charset="-122"/>
                <a:cs typeface="GT Alpina" pitchFamily="34" charset="-120"/>
              </a:rPr>
              <a:t>No seguimos un guion cerrado. Adaptamos la comunicación a cada persona y cada momento — profesional, respetuosa y positiva.</a:t>
            </a:r>
            <a:endParaRPr lang="en-US" sz="1800" dirty="0"/>
          </a:p>
        </p:txBody>
      </p:sp>
      <p:sp>
        <p:nvSpPr>
          <p:cNvPr id="5" name="Text 3"/>
          <p:cNvSpPr txBox="1"/>
          <p:nvPr/>
        </p:nvSpPr>
        <p:spPr>
          <a:xfrm>
            <a:off x="548640" y="3200400"/>
            <a:ext cx="10149840" cy="2560320"/>
          </a:xfrm>
          <a:prstGeom prst="rect">
            <a:avLst/>
          </a:prstGeom>
          <a:noFill/>
          <a:ln/>
        </p:spPr>
        <p:txBody>
          <a:bodyPr wrap="square" rtlCol="0" anchor="ctr"/>
          <a:lstStyle/>
          <a:p>
            <a:pPr indent="0" marL="0">
              <a:lnSpc>
                <a:spcPct val="125000"/>
              </a:lnSpc>
              <a:buNone/>
            </a:pPr>
            <a:r>
              <a:rPr lang="en-US" sz="1500" b="1" dirty="0">
                <a:solidFill>
                  <a:srgbClr val="3E3D40"/>
                </a:solidFill>
                <a:latin typeface="Calibri" pitchFamily="34" charset="0"/>
                <a:ea typeface="Calibri" pitchFamily="34" charset="-122"/>
                <a:cs typeface="Calibri" pitchFamily="34" charset="-120"/>
              </a:rPr>
              <a:t>Lo que buscamos: </a:t>
            </a:r>
            <a:pPr indent="0" marL="0">
              <a:lnSpc>
                <a:spcPct val="125000"/>
              </a:lnSpc>
              <a:buNone/>
            </a:pPr>
            <a:r>
              <a:rPr lang="en-US" sz="1500" dirty="0">
                <a:solidFill>
                  <a:srgbClr val="5A5A5C"/>
                </a:solidFill>
                <a:latin typeface="Calibri" pitchFamily="34" charset="0"/>
                <a:ea typeface="Calibri" pitchFamily="34" charset="-122"/>
                <a:cs typeface="Calibri" pitchFamily="34" charset="-120"/>
              </a:rPr>
              <a:t>que el cliente se sienta cómodo y acompañado, nunca presionado ni tratado como un número.
</a:t>
            </a:r>
            <a:pPr indent="0" marL="0">
              <a:lnSpc>
                <a:spcPct val="125000"/>
              </a:lnSpc>
              <a:buNone/>
            </a:pPr>
            <a:r>
              <a:rPr lang="en-US" sz="1500" b="1" dirty="0">
                <a:solidFill>
                  <a:srgbClr val="E84E27"/>
                </a:solidFill>
                <a:latin typeface="Calibri" pitchFamily="34" charset="0"/>
                <a:ea typeface="Calibri" pitchFamily="34" charset="-122"/>
                <a:cs typeface="Calibri" pitchFamily="34" charset="-120"/>
              </a:rPr>
              <a:t>Consecuencia práctica: </a:t>
            </a:r>
            <a:pPr indent="0" marL="0">
              <a:lnSpc>
                <a:spcPct val="125000"/>
              </a:lnSpc>
              <a:buNone/>
            </a:pPr>
            <a:r>
              <a:rPr lang="en-US" sz="1500" dirty="0">
                <a:solidFill>
                  <a:srgbClr val="5A5A5C"/>
                </a:solidFill>
                <a:latin typeface="Calibri" pitchFamily="34" charset="0"/>
                <a:ea typeface="Calibri" pitchFamily="34" charset="-122"/>
                <a:cs typeface="Calibri" pitchFamily="34" charset="-120"/>
              </a:rPr>
              <a:t>si recomendamos un dulce del obrador o una bebida para subir el ticket medio, la frase tiene que sonar a recomendación de quien conoce el producto — no a técnica de venta. Si una sugerencia suena forzada, se corrige el lenguaje, no se insiste más fuerte.</a:t>
            </a:r>
            <a:endParaRPr lang="en-US" sz="1500" dirty="0"/>
          </a:p>
        </p:txBody>
      </p:sp>
      <p:sp>
        <p:nvSpPr>
          <p:cNvPr id="6"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731520"/>
            <a:ext cx="7315200" cy="457200"/>
          </a:xfrm>
          <a:prstGeom prst="rect">
            <a:avLst/>
          </a:prstGeom>
          <a:noFill/>
          <a:ln/>
        </p:spPr>
        <p:txBody>
          <a:bodyPr wrap="square" rtlCol="0" anchor="ctr"/>
          <a:lstStyle/>
          <a:p>
            <a:pPr indent="0" marL="0">
              <a:buNone/>
            </a:pPr>
            <a:r>
              <a:rPr lang="en-US" sz="1300" dirty="0">
                <a:solidFill>
                  <a:srgbClr val="E7DCCC"/>
                </a:solidFill>
                <a:latin typeface="Calibri" pitchFamily="34" charset="0"/>
                <a:ea typeface="Calibri" pitchFamily="34" charset="-122"/>
                <a:cs typeface="Calibri" pitchFamily="34" charset="-120"/>
              </a:rPr>
              <a:t>5.3 — CÓMO COBRA VIDA LA MARCA</a:t>
            </a:r>
            <a:endParaRPr lang="en-US" sz="1300" dirty="0"/>
          </a:p>
        </p:txBody>
      </p:sp>
      <p:sp>
        <p:nvSpPr>
          <p:cNvPr id="3" name="Text 1"/>
          <p:cNvSpPr txBox="1"/>
          <p:nvPr/>
        </p:nvSpPr>
        <p:spPr>
          <a:xfrm>
            <a:off x="548640" y="2103120"/>
            <a:ext cx="10515600" cy="2560320"/>
          </a:xfrm>
          <a:prstGeom prst="rect">
            <a:avLst/>
          </a:prstGeom>
          <a:noFill/>
          <a:ln/>
        </p:spPr>
        <p:txBody>
          <a:bodyPr wrap="square" rtlCol="0" anchor="ctr"/>
          <a:lstStyle/>
          <a:p>
            <a:pPr indent="0" marL="0">
              <a:lnSpc>
                <a:spcPct val="115000"/>
              </a:lnSpc>
              <a:buNone/>
            </a:pPr>
            <a:r>
              <a:rPr lang="en-US" sz="3200" b="1" dirty="0">
                <a:solidFill>
                  <a:srgbClr val="FFFFFF"/>
                </a:solidFill>
                <a:latin typeface="GT Alpina" pitchFamily="34" charset="0"/>
                <a:ea typeface="GT Alpina" pitchFamily="34" charset="-122"/>
                <a:cs typeface="GT Alpina" pitchFamily="34" charset="-120"/>
              </a:rPr>
              <a:t>La marca no es lo que decimos que somos.</a:t>
            </a:r>
            <a:endParaRPr lang="en-US" sz="3200" dirty="0"/>
          </a:p>
          <a:p>
            <a:pPr indent="0" marL="0">
              <a:lnSpc>
                <a:spcPct val="115000"/>
              </a:lnSpc>
              <a:buNone/>
            </a:pPr>
            <a:r>
              <a:rPr lang="en-US" sz="3200" b="1" dirty="0">
                <a:solidFill>
                  <a:srgbClr val="FFFFFF"/>
                </a:solidFill>
                <a:latin typeface="GT Alpina" pitchFamily="34" charset="0"/>
                <a:ea typeface="GT Alpina" pitchFamily="34" charset="-122"/>
                <a:cs typeface="GT Alpina" pitchFamily="34" charset="-120"/>
              </a:rPr>
              <a:t>Es lo que las personas sienten</a:t>
            </a:r>
            <a:endParaRPr lang="en-US" sz="3200" dirty="0"/>
          </a:p>
          <a:p>
            <a:pPr indent="0" marL="0">
              <a:lnSpc>
                <a:spcPct val="115000"/>
              </a:lnSpc>
              <a:buNone/>
            </a:pPr>
            <a:r>
              <a:rPr lang="en-US" sz="3200" b="1" dirty="0">
                <a:solidFill>
                  <a:srgbClr val="FFFFFF"/>
                </a:solidFill>
                <a:latin typeface="GT Alpina" pitchFamily="34" charset="0"/>
                <a:ea typeface="GT Alpina" pitchFamily="34" charset="-122"/>
                <a:cs typeface="GT Alpina" pitchFamily="34" charset="-120"/>
              </a:rPr>
              <a:t>en cada interacción.</a:t>
            </a:r>
            <a:endParaRPr lang="en-US" sz="3200" dirty="0"/>
          </a:p>
        </p:txBody>
      </p:sp>
      <p:sp>
        <p:nvSpPr>
          <p:cNvPr id="4" name="Text 2"/>
          <p:cNvSpPr txBox="1"/>
          <p:nvPr/>
        </p:nvSpPr>
        <p:spPr>
          <a:xfrm>
            <a:off x="548640" y="4846320"/>
            <a:ext cx="9144000" cy="1463040"/>
          </a:xfrm>
          <a:prstGeom prst="rect">
            <a:avLst/>
          </a:prstGeom>
          <a:noFill/>
          <a:ln/>
        </p:spPr>
        <p:txBody>
          <a:bodyPr wrap="square" rtlCol="0" anchor="ctr"/>
          <a:lstStyle/>
          <a:p>
            <a:pPr indent="0" marL="0">
              <a:lnSpc>
                <a:spcPct val="125000"/>
              </a:lnSpc>
              <a:buNone/>
            </a:pPr>
            <a:r>
              <a:rPr lang="en-US" sz="1400" dirty="0">
                <a:solidFill>
                  <a:srgbClr val="E7DCCC"/>
                </a:solidFill>
                <a:latin typeface="Calibri" pitchFamily="34" charset="0"/>
                <a:ea typeface="Calibri" pitchFamily="34" charset="-122"/>
                <a:cs typeface="Calibri" pitchFamily="34" charset="-120"/>
              </a:rPr>
              <a:t>Cada conversación, cada decisión pequeña, cada detalle que se cuida o se descuida, construye esa percepción, mesa a mesa. Por eso comportamientos, lenguaje y detalles son, en realidad, la explicación de cómo se construye la marca de verdad, turno a turno.</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5.4 — Los pequeños detalles que nos definen</a:t>
            </a:r>
            <a:endParaRPr lang="en-US" sz="2600" dirty="0"/>
          </a:p>
        </p:txBody>
      </p:sp>
      <p:sp>
        <p:nvSpPr>
          <p:cNvPr id="3" name="Shape 1"/>
          <p:cNvSpPr/>
          <p:nvPr/>
        </p:nvSpPr>
        <p:spPr>
          <a:xfrm>
            <a:off x="548640" y="1463040"/>
            <a:ext cx="5120640" cy="1920240"/>
          </a:xfrm>
          <a:prstGeom prst="roundRect">
            <a:avLst>
              <a:gd name="adj" fmla="val 4762"/>
            </a:avLst>
          </a:prstGeom>
          <a:solidFill>
            <a:srgbClr val="FFFFFF"/>
          </a:solidFill>
          <a:ln/>
        </p:spPr>
      </p:sp>
      <p:sp>
        <p:nvSpPr>
          <p:cNvPr id="4" name="Text 2"/>
          <p:cNvSpPr txBox="1"/>
          <p:nvPr/>
        </p:nvSpPr>
        <p:spPr>
          <a:xfrm>
            <a:off x="822960" y="1645920"/>
            <a:ext cx="4572000" cy="457200"/>
          </a:xfrm>
          <a:prstGeom prst="rect">
            <a:avLst/>
          </a:prstGeom>
          <a:noFill/>
          <a:ln/>
        </p:spPr>
        <p:txBody>
          <a:bodyPr wrap="square" rtlCol="0" anchor="ctr"/>
          <a:lstStyle/>
          <a:p>
            <a:pPr indent="0" marL="0">
              <a:buNone/>
            </a:pPr>
            <a:r>
              <a:rPr lang="en-US" sz="1400" b="1" dirty="0">
                <a:solidFill>
                  <a:srgbClr val="1D79ED"/>
                </a:solidFill>
                <a:latin typeface="Calibri" pitchFamily="34" charset="0"/>
                <a:ea typeface="Calibri" pitchFamily="34" charset="-122"/>
                <a:cs typeface="Calibri" pitchFamily="34" charset="-120"/>
              </a:rPr>
              <a:t>El expositor del obrador</a:t>
            </a:r>
            <a:endParaRPr lang="en-US" sz="1400" dirty="0"/>
          </a:p>
        </p:txBody>
      </p:sp>
      <p:sp>
        <p:nvSpPr>
          <p:cNvPr id="5" name="Text 3"/>
          <p:cNvSpPr txBox="1"/>
          <p:nvPr/>
        </p:nvSpPr>
        <p:spPr>
          <a:xfrm>
            <a:off x="822960" y="2148840"/>
            <a:ext cx="4572000" cy="1097280"/>
          </a:xfrm>
          <a:prstGeom prst="rect">
            <a:avLst/>
          </a:prstGeom>
          <a:noFill/>
          <a:ln/>
        </p:spPr>
        <p:txBody>
          <a:bodyPr wrap="square" rtlCol="0" anchor="ctr"/>
          <a:lstStyle/>
          <a:p>
            <a:pPr indent="0" marL="0">
              <a:lnSpc>
                <a:spcPct val="120000"/>
              </a:lnSpc>
              <a:buNone/>
            </a:pPr>
            <a:r>
              <a:rPr lang="en-US" sz="1300" dirty="0">
                <a:solidFill>
                  <a:srgbClr val="5A5A5C"/>
                </a:solidFill>
                <a:latin typeface="Calibri" pitchFamily="34" charset="0"/>
                <a:ea typeface="Calibri" pitchFamily="34" charset="-122"/>
                <a:cs typeface="Calibri" pitchFamily="34" charset="-120"/>
              </a:rPr>
              <a:t>cuidado y lleno — el punto de contacto más silencioso y más persuasivo que tenemos.</a:t>
            </a:r>
            <a:endParaRPr lang="en-US" sz="1300" dirty="0"/>
          </a:p>
        </p:txBody>
      </p:sp>
      <p:sp>
        <p:nvSpPr>
          <p:cNvPr id="6" name="Shape 4"/>
          <p:cNvSpPr/>
          <p:nvPr/>
        </p:nvSpPr>
        <p:spPr>
          <a:xfrm>
            <a:off x="6263640" y="1463040"/>
            <a:ext cx="5120640" cy="1920240"/>
          </a:xfrm>
          <a:prstGeom prst="roundRect">
            <a:avLst>
              <a:gd name="adj" fmla="val 4762"/>
            </a:avLst>
          </a:prstGeom>
          <a:solidFill>
            <a:srgbClr val="FFFFFF"/>
          </a:solidFill>
          <a:ln/>
        </p:spPr>
      </p:sp>
      <p:sp>
        <p:nvSpPr>
          <p:cNvPr id="7" name="Text 5"/>
          <p:cNvSpPr txBox="1"/>
          <p:nvPr/>
        </p:nvSpPr>
        <p:spPr>
          <a:xfrm>
            <a:off x="6537960" y="1645920"/>
            <a:ext cx="4572000" cy="457200"/>
          </a:xfrm>
          <a:prstGeom prst="rect">
            <a:avLst/>
          </a:prstGeom>
          <a:noFill/>
          <a:ln/>
        </p:spPr>
        <p:txBody>
          <a:bodyPr wrap="square" rtlCol="0" anchor="ctr"/>
          <a:lstStyle/>
          <a:p>
            <a:pPr indent="0" marL="0">
              <a:buNone/>
            </a:pPr>
            <a:r>
              <a:rPr lang="en-US" sz="1400" b="1" dirty="0">
                <a:solidFill>
                  <a:srgbClr val="1D79ED"/>
                </a:solidFill>
                <a:latin typeface="Calibri" pitchFamily="34" charset="0"/>
                <a:ea typeface="Calibri" pitchFamily="34" charset="-122"/>
                <a:cs typeface="Calibri" pitchFamily="34" charset="-120"/>
              </a:rPr>
              <a:t>Ver preparar el café en barra</a:t>
            </a:r>
            <a:endParaRPr lang="en-US" sz="1400" dirty="0"/>
          </a:p>
        </p:txBody>
      </p:sp>
      <p:sp>
        <p:nvSpPr>
          <p:cNvPr id="8" name="Text 6"/>
          <p:cNvSpPr txBox="1"/>
          <p:nvPr/>
        </p:nvSpPr>
        <p:spPr>
          <a:xfrm>
            <a:off x="6537960" y="2148840"/>
            <a:ext cx="4572000" cy="1097280"/>
          </a:xfrm>
          <a:prstGeom prst="rect">
            <a:avLst/>
          </a:prstGeom>
          <a:noFill/>
          <a:ln/>
        </p:spPr>
        <p:txBody>
          <a:bodyPr wrap="square" rtlCol="0" anchor="ctr"/>
          <a:lstStyle/>
          <a:p>
            <a:pPr indent="0" marL="0">
              <a:lnSpc>
                <a:spcPct val="120000"/>
              </a:lnSpc>
              <a:buNone/>
            </a:pPr>
            <a:r>
              <a:rPr lang="en-US" sz="1300" dirty="0">
                <a:solidFill>
                  <a:srgbClr val="5A5A5C"/>
                </a:solidFill>
                <a:latin typeface="Calibri" pitchFamily="34" charset="0"/>
                <a:ea typeface="Calibri" pitchFamily="34" charset="-122"/>
                <a:cs typeface="Calibri" pitchFamily="34" charset="-120"/>
              </a:rPr>
              <a:t>como parte de la experiencia, no solo un lugar de trabajo que ignorar.</a:t>
            </a:r>
            <a:endParaRPr lang="en-US" sz="1300" dirty="0"/>
          </a:p>
        </p:txBody>
      </p:sp>
      <p:sp>
        <p:nvSpPr>
          <p:cNvPr id="9" name="Shape 7"/>
          <p:cNvSpPr/>
          <p:nvPr/>
        </p:nvSpPr>
        <p:spPr>
          <a:xfrm>
            <a:off x="548640" y="3611880"/>
            <a:ext cx="5120640" cy="1920240"/>
          </a:xfrm>
          <a:prstGeom prst="roundRect">
            <a:avLst>
              <a:gd name="adj" fmla="val 4762"/>
            </a:avLst>
          </a:prstGeom>
          <a:solidFill>
            <a:srgbClr val="FFFFFF"/>
          </a:solidFill>
          <a:ln/>
        </p:spPr>
      </p:sp>
      <p:sp>
        <p:nvSpPr>
          <p:cNvPr id="10" name="Text 8"/>
          <p:cNvSpPr txBox="1"/>
          <p:nvPr/>
        </p:nvSpPr>
        <p:spPr>
          <a:xfrm>
            <a:off x="822960" y="3794760"/>
            <a:ext cx="4572000" cy="457200"/>
          </a:xfrm>
          <a:prstGeom prst="rect">
            <a:avLst/>
          </a:prstGeom>
          <a:noFill/>
          <a:ln/>
        </p:spPr>
        <p:txBody>
          <a:bodyPr wrap="square" rtlCol="0" anchor="ctr"/>
          <a:lstStyle/>
          <a:p>
            <a:pPr indent="0" marL="0">
              <a:buNone/>
            </a:pPr>
            <a:r>
              <a:rPr lang="en-US" sz="1400" b="1" dirty="0">
                <a:solidFill>
                  <a:srgbClr val="1D79ED"/>
                </a:solidFill>
                <a:latin typeface="Calibri" pitchFamily="34" charset="0"/>
                <a:ea typeface="Calibri" pitchFamily="34" charset="-122"/>
                <a:cs typeface="Calibri" pitchFamily="34" charset="-120"/>
              </a:rPr>
              <a:t>Un ticket claro, a tiempo</a:t>
            </a:r>
            <a:endParaRPr lang="en-US" sz="1400" dirty="0"/>
          </a:p>
        </p:txBody>
      </p:sp>
      <p:sp>
        <p:nvSpPr>
          <p:cNvPr id="11" name="Text 9"/>
          <p:cNvSpPr txBox="1"/>
          <p:nvPr/>
        </p:nvSpPr>
        <p:spPr>
          <a:xfrm>
            <a:off x="822960" y="4297680"/>
            <a:ext cx="4572000" cy="1097280"/>
          </a:xfrm>
          <a:prstGeom prst="rect">
            <a:avLst/>
          </a:prstGeom>
          <a:noFill/>
          <a:ln/>
        </p:spPr>
        <p:txBody>
          <a:bodyPr wrap="square" rtlCol="0" anchor="ctr"/>
          <a:lstStyle/>
          <a:p>
            <a:pPr indent="0" marL="0">
              <a:lnSpc>
                <a:spcPct val="120000"/>
              </a:lnSpc>
              <a:buNone/>
            </a:pPr>
            <a:r>
              <a:rPr lang="en-US" sz="1300" dirty="0">
                <a:solidFill>
                  <a:srgbClr val="5A5A5C"/>
                </a:solidFill>
                <a:latin typeface="Calibri" pitchFamily="34" charset="0"/>
                <a:ea typeface="Calibri" pitchFamily="34" charset="-122"/>
                <a:cs typeface="Calibri" pitchFamily="34" charset="-120"/>
              </a:rPr>
              <a:t>que comunica cuidado incluso en el momento más administrativo del servicio.</a:t>
            </a:r>
            <a:endParaRPr lang="en-US" sz="1300" dirty="0"/>
          </a:p>
        </p:txBody>
      </p:sp>
      <p:sp>
        <p:nvSpPr>
          <p:cNvPr id="12" name="Shape 10"/>
          <p:cNvSpPr/>
          <p:nvPr/>
        </p:nvSpPr>
        <p:spPr>
          <a:xfrm>
            <a:off x="6263640" y="3611880"/>
            <a:ext cx="5120640" cy="1920240"/>
          </a:xfrm>
          <a:prstGeom prst="roundRect">
            <a:avLst>
              <a:gd name="adj" fmla="val 4762"/>
            </a:avLst>
          </a:prstGeom>
          <a:solidFill>
            <a:srgbClr val="FFFFFF"/>
          </a:solidFill>
          <a:ln/>
        </p:spPr>
      </p:sp>
      <p:sp>
        <p:nvSpPr>
          <p:cNvPr id="13" name="Text 11"/>
          <p:cNvSpPr txBox="1"/>
          <p:nvPr/>
        </p:nvSpPr>
        <p:spPr>
          <a:xfrm>
            <a:off x="6537960" y="3794760"/>
            <a:ext cx="4572000" cy="457200"/>
          </a:xfrm>
          <a:prstGeom prst="rect">
            <a:avLst/>
          </a:prstGeom>
          <a:noFill/>
          <a:ln/>
        </p:spPr>
        <p:txBody>
          <a:bodyPr wrap="square" rtlCol="0" anchor="ctr"/>
          <a:lstStyle/>
          <a:p>
            <a:pPr indent="0" marL="0">
              <a:buNone/>
            </a:pPr>
            <a:r>
              <a:rPr lang="en-US" sz="1400" b="1" dirty="0">
                <a:solidFill>
                  <a:srgbClr val="1D79ED"/>
                </a:solidFill>
                <a:latin typeface="Calibri" pitchFamily="34" charset="0"/>
                <a:ea typeface="Calibri" pitchFamily="34" charset="-122"/>
                <a:cs typeface="Calibri" pitchFamily="34" charset="-120"/>
              </a:rPr>
              <a:t>El chequeo a los pocos minutos</a:t>
            </a:r>
            <a:endParaRPr lang="en-US" sz="1400" dirty="0"/>
          </a:p>
        </p:txBody>
      </p:sp>
      <p:sp>
        <p:nvSpPr>
          <p:cNvPr id="14" name="Text 12"/>
          <p:cNvSpPr txBox="1"/>
          <p:nvPr/>
        </p:nvSpPr>
        <p:spPr>
          <a:xfrm>
            <a:off x="6537960" y="4297680"/>
            <a:ext cx="4572000" cy="1097280"/>
          </a:xfrm>
          <a:prstGeom prst="rect">
            <a:avLst/>
          </a:prstGeom>
          <a:noFill/>
          <a:ln/>
        </p:spPr>
        <p:txBody>
          <a:bodyPr wrap="square" rtlCol="0" anchor="ctr"/>
          <a:lstStyle/>
          <a:p>
            <a:pPr indent="0" marL="0">
              <a:lnSpc>
                <a:spcPct val="120000"/>
              </a:lnSpc>
              <a:buNone/>
            </a:pPr>
            <a:r>
              <a:rPr lang="en-US" sz="1300" dirty="0">
                <a:solidFill>
                  <a:srgbClr val="5A5A5C"/>
                </a:solidFill>
                <a:latin typeface="Calibri" pitchFamily="34" charset="0"/>
                <a:ea typeface="Calibri" pitchFamily="34" charset="-122"/>
                <a:cs typeface="Calibri" pitchFamily="34" charset="-120"/>
              </a:rPr>
              <a:t>gesto de cuidado si llega en el momento justo — interrupción si llega a destiempo.</a:t>
            </a:r>
            <a:endParaRPr lang="en-US" sz="1300" dirty="0"/>
          </a:p>
        </p:txBody>
      </p:sp>
      <p:sp>
        <p:nvSpPr>
          <p:cNvPr id="15" name="Text 13"/>
          <p:cNvSpPr txBox="1"/>
          <p:nvPr/>
        </p:nvSpPr>
        <p:spPr>
          <a:xfrm>
            <a:off x="548640" y="5760720"/>
            <a:ext cx="10149840" cy="457200"/>
          </a:xfrm>
          <a:prstGeom prst="rect">
            <a:avLst/>
          </a:prstGeom>
          <a:noFill/>
          <a:ln/>
        </p:spPr>
        <p:txBody>
          <a:bodyPr wrap="square" rtlCol="0" anchor="ctr"/>
          <a:lstStyle/>
          <a:p>
            <a:pPr indent="0" marL="0">
              <a:buNone/>
            </a:pPr>
            <a:r>
              <a:rPr lang="en-US" sz="1250" i="1" dirty="0">
                <a:solidFill>
                  <a:srgbClr val="6B6B6D"/>
                </a:solidFill>
                <a:latin typeface="Calibri" pitchFamily="34" charset="0"/>
                <a:ea typeface="Calibri" pitchFamily="34" charset="-122"/>
                <a:cs typeface="Calibri" pitchFamily="34" charset="-120"/>
              </a:rPr>
              <a:t>Ninguno de estos detalles “vende” por sí solo. Lo que hacen es confirmar, en silencio, todo lo que ya hemos dicho en voz alta.</a:t>
            </a:r>
            <a:endParaRPr lang="en-US" sz="12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D"/>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5.5 — Cómo representamos Lady Madrid</a:t>
            </a:r>
            <a:endParaRPr lang="en-US" sz="2600" dirty="0"/>
          </a:p>
        </p:txBody>
      </p:sp>
      <p:sp>
        <p:nvSpPr>
          <p:cNvPr id="3" name="Text 1"/>
          <p:cNvSpPr txBox="1"/>
          <p:nvPr/>
        </p:nvSpPr>
        <p:spPr>
          <a:xfrm>
            <a:off x="548640" y="1463040"/>
            <a:ext cx="10149840" cy="1188720"/>
          </a:xfrm>
          <a:prstGeom prst="rect">
            <a:avLst/>
          </a:prstGeom>
          <a:noFill/>
          <a:ln/>
        </p:spPr>
        <p:txBody>
          <a:bodyPr wrap="square" rtlCol="0" anchor="ctr"/>
          <a:lstStyle/>
          <a:p>
            <a:pPr indent="0" marL="0">
              <a:lnSpc>
                <a:spcPct val="125000"/>
              </a:lnSpc>
              <a:buNone/>
            </a:pPr>
            <a:r>
              <a:rPr lang="en-US" sz="1500" b="1" dirty="0">
                <a:solidFill>
                  <a:srgbClr val="1D79ED"/>
                </a:solidFill>
                <a:latin typeface="Calibri" pitchFamily="34" charset="0"/>
                <a:ea typeface="Calibri" pitchFamily="34" charset="-122"/>
                <a:cs typeface="Calibri" pitchFamily="34" charset="-120"/>
              </a:rPr>
              <a:t>Un único concepto, dos direcciones. </a:t>
            </a:r>
            <a:pPr indent="0" marL="0">
              <a:lnSpc>
                <a:spcPct val="125000"/>
              </a:lnSpc>
              <a:buNone/>
            </a:pPr>
            <a:r>
              <a:rPr lang="en-US" sz="1500" dirty="0">
                <a:solidFill>
                  <a:srgbClr val="3E3D40"/>
                </a:solidFill>
                <a:latin typeface="Calibri" pitchFamily="34" charset="0"/>
                <a:ea typeface="Calibri" pitchFamily="34" charset="-122"/>
                <a:cs typeface="Calibri" pitchFamily="34" charset="-120"/>
              </a:rPr>
              <a:t>No hay una personalidad de marca en Plaza República Dominicana y otra en Parquesur: el mismo café de especialidad, el mismo obrador propio, los mismos siete principios, en las dos.</a:t>
            </a:r>
            <a:endParaRPr lang="en-US" sz="1500" dirty="0"/>
          </a:p>
        </p:txBody>
      </p:sp>
      <p:sp>
        <p:nvSpPr>
          <p:cNvPr id="4" name="Shape 2"/>
          <p:cNvSpPr/>
          <p:nvPr/>
        </p:nvSpPr>
        <p:spPr>
          <a:xfrm>
            <a:off x="548640" y="2834640"/>
            <a:ext cx="4937760" cy="2651760"/>
          </a:xfrm>
          <a:prstGeom prst="roundRect">
            <a:avLst>
              <a:gd name="adj" fmla="val 3448"/>
            </a:avLst>
          </a:prstGeom>
          <a:solidFill>
            <a:srgbClr val="E7DCCC"/>
          </a:solidFill>
          <a:ln/>
        </p:spPr>
      </p:sp>
      <p:sp>
        <p:nvSpPr>
          <p:cNvPr id="5" name="Text 3"/>
          <p:cNvSpPr txBox="1"/>
          <p:nvPr/>
        </p:nvSpPr>
        <p:spPr>
          <a:xfrm>
            <a:off x="822960" y="3063240"/>
            <a:ext cx="4389120" cy="2194560"/>
          </a:xfrm>
          <a:prstGeom prst="rect">
            <a:avLst/>
          </a:prstGeom>
          <a:noFill/>
          <a:ln/>
        </p:spPr>
        <p:txBody>
          <a:bodyPr wrap="square" rtlCol="0" anchor="ctr"/>
          <a:lstStyle/>
          <a:p>
            <a:pPr indent="0" marL="0">
              <a:lnSpc>
                <a:spcPct val="120000"/>
              </a:lnSpc>
              <a:buNone/>
            </a:pPr>
            <a:r>
              <a:rPr lang="en-US" sz="1350" b="1" dirty="0">
                <a:solidFill>
                  <a:srgbClr val="1D79ED"/>
                </a:solidFill>
                <a:latin typeface="Calibri" pitchFamily="34" charset="0"/>
                <a:ea typeface="Calibri" pitchFamily="34" charset="-122"/>
                <a:cs typeface="Calibri" pitchFamily="34" charset="-120"/>
              </a:rPr>
              <a:t>PLAZA REPÚBLICA DOMINICANA
</a:t>
            </a:r>
            <a:endParaRPr lang="en-US" sz="1350" dirty="0"/>
          </a:p>
          <a:p>
            <a:pPr indent="0" marL="0">
              <a:lnSpc>
                <a:spcPct val="120000"/>
              </a:lnSpc>
              <a:buNone/>
            </a:pPr>
            <a:r>
              <a:rPr lang="en-US" sz="1350" dirty="0">
                <a:solidFill>
                  <a:srgbClr val="3E3D40"/>
                </a:solidFill>
                <a:latin typeface="Calibri" pitchFamily="34" charset="0"/>
                <a:ea typeface="Calibri" pitchFamily="34" charset="-122"/>
                <a:cs typeface="Calibri" pitchFamily="34" charset="-120"/>
              </a:rPr>
              <a:t>Desarrollada a fondo en este documento — el mismo nivel de detalle operativo que sostiene esta cultura.</a:t>
            </a:r>
            <a:endParaRPr lang="en-US" sz="1350" dirty="0"/>
          </a:p>
        </p:txBody>
      </p:sp>
      <p:sp>
        <p:nvSpPr>
          <p:cNvPr id="6" name="Shape 4"/>
          <p:cNvSpPr/>
          <p:nvPr/>
        </p:nvSpPr>
        <p:spPr>
          <a:xfrm>
            <a:off x="6400800" y="2834640"/>
            <a:ext cx="4937760" cy="2651760"/>
          </a:xfrm>
          <a:prstGeom prst="roundRect">
            <a:avLst>
              <a:gd name="adj" fmla="val 3448"/>
            </a:avLst>
          </a:prstGeom>
          <a:solidFill>
            <a:srgbClr val="E7DCCC"/>
          </a:solidFill>
          <a:ln/>
        </p:spPr>
      </p:sp>
      <p:sp>
        <p:nvSpPr>
          <p:cNvPr id="7" name="Text 5"/>
          <p:cNvSpPr txBox="1"/>
          <p:nvPr/>
        </p:nvSpPr>
        <p:spPr>
          <a:xfrm>
            <a:off x="6675120" y="3063240"/>
            <a:ext cx="4389120" cy="2194560"/>
          </a:xfrm>
          <a:prstGeom prst="rect">
            <a:avLst/>
          </a:prstGeom>
          <a:noFill/>
          <a:ln/>
        </p:spPr>
        <p:txBody>
          <a:bodyPr wrap="square" rtlCol="0" anchor="ctr"/>
          <a:lstStyle/>
          <a:p>
            <a:pPr indent="0" marL="0">
              <a:lnSpc>
                <a:spcPct val="120000"/>
              </a:lnSpc>
              <a:buNone/>
            </a:pPr>
            <a:r>
              <a:rPr lang="en-US" sz="1350" b="1" dirty="0">
                <a:solidFill>
                  <a:srgbClr val="1D79ED"/>
                </a:solidFill>
                <a:latin typeface="Calibri" pitchFamily="34" charset="0"/>
                <a:ea typeface="Calibri" pitchFamily="34" charset="-122"/>
                <a:cs typeface="Calibri" pitchFamily="34" charset="-120"/>
              </a:rPr>
              <a:t>PARQUESUR
</a:t>
            </a:r>
            <a:endParaRPr lang="en-US" sz="1350" dirty="0"/>
          </a:p>
          <a:p>
            <a:pPr indent="0" marL="0">
              <a:lnSpc>
                <a:spcPct val="120000"/>
              </a:lnSpc>
              <a:buNone/>
            </a:pPr>
            <a:r>
              <a:rPr lang="en-US" sz="1350" dirty="0">
                <a:solidFill>
                  <a:srgbClr val="3E3D40"/>
                </a:solidFill>
                <a:latin typeface="Calibri" pitchFamily="34" charset="0"/>
                <a:ea typeface="Calibri" pitchFamily="34" charset="-122"/>
                <a:cs typeface="Calibri" pitchFamily="34" charset="-120"/>
              </a:rPr>
              <a:t>Mismo concepto, mismos principios — pero hoy con menos detalle operativo documentado. Es un hueco de información, no una diferencia de cultura.</a:t>
            </a:r>
            <a:endParaRPr lang="en-US" sz="1350" dirty="0"/>
          </a:p>
        </p:txBody>
      </p:sp>
      <p:sp>
        <p:nvSpPr>
          <p:cNvPr id="8" name="Text 6"/>
          <p:cNvSpPr txBox="1"/>
          <p:nvPr/>
        </p:nvSpPr>
        <p:spPr>
          <a:xfrm>
            <a:off x="548640" y="5669280"/>
            <a:ext cx="10149840" cy="640080"/>
          </a:xfrm>
          <a:prstGeom prst="rect">
            <a:avLst/>
          </a:prstGeom>
          <a:noFill/>
          <a:ln/>
        </p:spPr>
        <p:txBody>
          <a:bodyPr wrap="square" rtlCol="0" anchor="ctr"/>
          <a:lstStyle/>
          <a:p>
            <a:pPr indent="0" marL="0">
              <a:lnSpc>
                <a:spcPct val="115000"/>
              </a:lnSpc>
              <a:buNone/>
            </a:pPr>
            <a:r>
              <a:rPr lang="en-US" sz="1200" i="1" dirty="0">
                <a:solidFill>
                  <a:srgbClr val="6B6B6D"/>
                </a:solidFill>
                <a:latin typeface="Calibri" pitchFamily="34" charset="0"/>
                <a:ea typeface="Calibri" pitchFamily="34" charset="-122"/>
                <a:cs typeface="Calibri" pitchFamily="34" charset="-120"/>
              </a:rPr>
              <a:t>La consistencia no la da un único equipo compartido ni una única barra: se sostiene porque todo el equipo, en ambos locales, trabaja desde el mismo criterio escrito — igual que la producción del obrador en ambos locales.</a:t>
            </a:r>
            <a:endParaRPr lang="en-US" sz="1200" dirty="0"/>
          </a:p>
        </p:txBody>
      </p:sp>
      <p:sp>
        <p:nvSpPr>
          <p:cNvPr id="9"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5.6 — Cómo presentamos la carta y recomendamos</a:t>
            </a:r>
            <a:endParaRPr lang="en-US" sz="2600" dirty="0"/>
          </a:p>
        </p:txBody>
      </p:sp>
      <p:sp>
        <p:nvSpPr>
          <p:cNvPr id="3" name="Text 1"/>
          <p:cNvSpPr txBox="1"/>
          <p:nvPr/>
        </p:nvSpPr>
        <p:spPr>
          <a:xfrm>
            <a:off x="548640" y="1417320"/>
            <a:ext cx="10149840" cy="2194560"/>
          </a:xfrm>
          <a:prstGeom prst="rect">
            <a:avLst/>
          </a:prstGeom>
          <a:noFill/>
          <a:ln/>
        </p:spPr>
        <p:txBody>
          <a:bodyPr wrap="square" rtlCol="0" anchor="ctr"/>
          <a:lstStyle/>
          <a:p>
            <a:pPr indent="0" marL="0">
              <a:lnSpc>
                <a:spcPct val="125000"/>
              </a:lnSpc>
              <a:buNone/>
            </a:pPr>
            <a:r>
              <a:rPr lang="en-US" sz="1450" b="1" dirty="0">
                <a:solidFill>
                  <a:srgbClr val="E84E27"/>
                </a:solidFill>
                <a:latin typeface="Calibri" pitchFamily="34" charset="0"/>
                <a:ea typeface="Calibri" pitchFamily="34" charset="-122"/>
                <a:cs typeface="Calibri" pitchFamily="34" charset="-120"/>
              </a:rPr>
              <a:t>Si no conocemos el producto, no podemos venderlo. </a:t>
            </a:r>
            <a:pPr indent="0" marL="0">
              <a:lnSpc>
                <a:spcPct val="125000"/>
              </a:lnSpc>
              <a:buNone/>
            </a:pPr>
            <a:r>
              <a:rPr lang="en-US" sz="1450" dirty="0">
                <a:solidFill>
                  <a:srgbClr val="3E3D40"/>
                </a:solidFill>
                <a:latin typeface="Calibri" pitchFamily="34" charset="0"/>
                <a:ea typeface="Calibri" pitchFamily="34" charset="-122"/>
                <a:cs typeface="Calibri" pitchFamily="34" charset="-120"/>
              </a:rPr>
              <a:t>Presentar la carta no es “tomar nota más despacio”: cualquier persona tiene que poder explicar qué hace especial a nuestro café y a nuestro obrador — es la base de cualquier recomendación honesta.
</a:t>
            </a:r>
            <a:pPr indent="0" marL="0">
              <a:lnSpc>
                <a:spcPct val="125000"/>
              </a:lnSpc>
              <a:buNone/>
            </a:pPr>
            <a:r>
              <a:rPr lang="en-US" sz="1450" b="1" dirty="0">
                <a:solidFill>
                  <a:srgbClr val="1D79ED"/>
                </a:solidFill>
                <a:latin typeface="Calibri" pitchFamily="34" charset="0"/>
                <a:ea typeface="Calibri" pitchFamily="34" charset="-122"/>
                <a:cs typeface="Calibri" pitchFamily="34" charset="-120"/>
              </a:rPr>
              <a:t>Recomendar no es sugerir lo que más margen deja</a:t>
            </a:r>
            <a:pPr indent="0" marL="0">
              <a:lnSpc>
                <a:spcPct val="125000"/>
              </a:lnSpc>
              <a:buNone/>
            </a:pPr>
            <a:r>
              <a:rPr lang="en-US" sz="1450" dirty="0">
                <a:solidFill>
                  <a:srgbClr val="3E3D40"/>
                </a:solidFill>
                <a:latin typeface="Calibri" pitchFamily="34" charset="0"/>
                <a:ea typeface="Calibri" pitchFamily="34" charset="-122"/>
                <a:cs typeface="Calibri" pitchFamily="34" charset="-120"/>
              </a:rPr>
              <a:t> — es ayudar a elegir bien, en los dos momentos naturales del servicio: al tomar el pedido, y al final.</a:t>
            </a:r>
            <a:endParaRPr lang="en-US" sz="1450" dirty="0"/>
          </a:p>
        </p:txBody>
      </p:sp>
      <p:sp>
        <p:nvSpPr>
          <p:cNvPr id="4" name="Shape 2"/>
          <p:cNvSpPr/>
          <p:nvPr/>
        </p:nvSpPr>
        <p:spPr>
          <a:xfrm>
            <a:off x="548640" y="3749040"/>
            <a:ext cx="10149840" cy="2651760"/>
          </a:xfrm>
          <a:prstGeom prst="roundRect">
            <a:avLst>
              <a:gd name="adj" fmla="val 3448"/>
            </a:avLst>
          </a:prstGeom>
          <a:solidFill>
            <a:srgbClr val="E84E27"/>
          </a:solidFill>
          <a:ln/>
        </p:spPr>
      </p:sp>
      <p:sp>
        <p:nvSpPr>
          <p:cNvPr id="5" name="Text 3"/>
          <p:cNvSpPr txBox="1"/>
          <p:nvPr/>
        </p:nvSpPr>
        <p:spPr>
          <a:xfrm>
            <a:off x="822960" y="3931920"/>
            <a:ext cx="9601200" cy="2286000"/>
          </a:xfrm>
          <a:prstGeom prst="rect">
            <a:avLst/>
          </a:prstGeom>
          <a:noFill/>
          <a:ln/>
        </p:spPr>
        <p:txBody>
          <a:bodyPr wrap="square" rtlCol="0" anchor="ctr"/>
          <a:lstStyle/>
          <a:p>
            <a:pPr indent="0" marL="0">
              <a:lnSpc>
                <a:spcPct val="122000"/>
              </a:lnSpc>
              <a:buNone/>
            </a:pPr>
            <a:r>
              <a:rPr lang="en-US" sz="1500" b="1" dirty="0">
                <a:solidFill>
                  <a:srgbClr val="FFFFFF"/>
                </a:solidFill>
                <a:latin typeface="Calibri" pitchFamily="34" charset="0"/>
                <a:ea typeface="Calibri" pitchFamily="34" charset="-122"/>
                <a:cs typeface="Calibri" pitchFamily="34" charset="-120"/>
              </a:rPr>
              <a:t>Una tensión real, que no escondemos:
</a:t>
            </a:r>
            <a:endParaRPr lang="en-US" sz="1500" dirty="0"/>
          </a:p>
          <a:p>
            <a:pPr indent="0" marL="0">
              <a:lnSpc>
                <a:spcPct val="122000"/>
              </a:lnSpc>
              <a:buNone/>
            </a:pPr>
            <a:r>
              <a:rPr lang="en-US" sz="1350" dirty="0">
                <a:solidFill>
                  <a:srgbClr val="FFFFFF"/>
                </a:solidFill>
                <a:latin typeface="Calibri" pitchFamily="34" charset="0"/>
                <a:ea typeface="Calibri" pitchFamily="34" charset="-122"/>
                <a:cs typeface="Calibri" pitchFamily="34" charset="-120"/>
              </a:rPr>
              <a:t>pedir a la vez “sube el ticket medio” y “no presiones nunca” exige formación de producto que hoy, por el propio hueco de formación, no está garantizada en todo el equipo. Y, aunque esa formación se resuelva, recomendar bien es un esfuerzo añadido, repetido mesa tras mesa, en un turno donde muchas veces se trabaja solo. El objetivo de ticket medio también depende de que haya margen real para detenerse unos segundos más en cada mesa.</a:t>
            </a:r>
            <a:endParaRPr lang="en-US" sz="1500" dirty="0"/>
          </a:p>
        </p:txBody>
      </p:sp>
      <p:sp>
        <p:nvSpPr>
          <p:cNvPr id="6"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5.7 — El recorrido del servicio</a:t>
            </a:r>
            <a:endParaRPr lang="en-US" sz="2600" dirty="0"/>
          </a:p>
        </p:txBody>
      </p:sp>
      <p:sp>
        <p:nvSpPr>
          <p:cNvPr id="3" name="Text 1"/>
          <p:cNvSpPr txBox="1"/>
          <p:nvPr/>
        </p:nvSpPr>
        <p:spPr>
          <a:xfrm>
            <a:off x="548640" y="1463040"/>
            <a:ext cx="10149840" cy="548640"/>
          </a:xfrm>
          <a:prstGeom prst="rect">
            <a:avLst/>
          </a:prstGeom>
          <a:noFill/>
          <a:ln/>
        </p:spPr>
        <p:txBody>
          <a:bodyPr wrap="square" rtlCol="0" anchor="ctr"/>
          <a:lstStyle/>
          <a:p>
            <a:pPr indent="0" marL="0">
              <a:buNone/>
            </a:pPr>
            <a:r>
              <a:rPr lang="en-US" sz="1500" b="1" dirty="0">
                <a:solidFill>
                  <a:srgbClr val="1D79ED"/>
                </a:solidFill>
                <a:latin typeface="Calibri" pitchFamily="34" charset="0"/>
                <a:ea typeface="Calibri" pitchFamily="34" charset="-122"/>
                <a:cs typeface="Calibri" pitchFamily="34" charset="-120"/>
              </a:rPr>
              <a:t>Ya está desarrollado con todo el detalle en la Estrategia y Modelo Operativo (2.d) — no lo repetimos aquí.</a:t>
            </a:r>
            <a:endParaRPr lang="en-US" sz="1500" dirty="0"/>
          </a:p>
        </p:txBody>
      </p:sp>
      <p:sp>
        <p:nvSpPr>
          <p:cNvPr id="4" name="Shape 2"/>
          <p:cNvSpPr/>
          <p:nvPr/>
        </p:nvSpPr>
        <p:spPr>
          <a:xfrm>
            <a:off x="548640" y="2377440"/>
            <a:ext cx="868680" cy="868680"/>
          </a:xfrm>
          <a:prstGeom prst="roundRect">
            <a:avLst>
              <a:gd name="adj" fmla="val 8421"/>
            </a:avLst>
          </a:prstGeom>
          <a:solidFill>
            <a:srgbClr val="E84E27"/>
          </a:solidFill>
          <a:ln w="12700">
            <a:solidFill>
              <a:srgbClr val="E7DCCC"/>
            </a:solidFill>
            <a:prstDash val="solid"/>
          </a:ln>
        </p:spPr>
      </p:sp>
      <p:sp>
        <p:nvSpPr>
          <p:cNvPr id="5" name="Text 3"/>
          <p:cNvSpPr txBox="1"/>
          <p:nvPr/>
        </p:nvSpPr>
        <p:spPr>
          <a:xfrm>
            <a:off x="548640" y="2450592"/>
            <a:ext cx="868680" cy="320040"/>
          </a:xfrm>
          <a:prstGeom prst="rect">
            <a:avLst/>
          </a:prstGeom>
          <a:noFill/>
          <a:ln/>
        </p:spPr>
        <p:txBody>
          <a:bodyPr wrap="square" rtlCol="0" anchor="ctr"/>
          <a:lstStyle/>
          <a:p>
            <a:pPr algn="ctr" indent="0" marL="0">
              <a:buNone/>
            </a:pPr>
            <a:r>
              <a:rPr lang="en-US" sz="1400" b="1" dirty="0">
                <a:solidFill>
                  <a:srgbClr val="FFFFFF"/>
                </a:solidFill>
                <a:latin typeface="GT Alpina" pitchFamily="34" charset="0"/>
                <a:ea typeface="GT Alpina" pitchFamily="34" charset="-122"/>
                <a:cs typeface="GT Alpina" pitchFamily="34" charset="-120"/>
              </a:rPr>
              <a:t>1</a:t>
            </a:r>
            <a:endParaRPr lang="en-US" sz="1400" dirty="0"/>
          </a:p>
        </p:txBody>
      </p:sp>
      <p:sp>
        <p:nvSpPr>
          <p:cNvPr id="6" name="Text 4"/>
          <p:cNvSpPr txBox="1"/>
          <p:nvPr/>
        </p:nvSpPr>
        <p:spPr>
          <a:xfrm>
            <a:off x="502920" y="2743200"/>
            <a:ext cx="941832" cy="45720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Bienvenida</a:t>
            </a:r>
            <a:endParaRPr lang="en-US" sz="900" dirty="0"/>
          </a:p>
        </p:txBody>
      </p:sp>
      <p:sp>
        <p:nvSpPr>
          <p:cNvPr id="7" name="Shape 5"/>
          <p:cNvSpPr/>
          <p:nvPr/>
        </p:nvSpPr>
        <p:spPr>
          <a:xfrm>
            <a:off x="1490472" y="2377440"/>
            <a:ext cx="868680" cy="868680"/>
          </a:xfrm>
          <a:prstGeom prst="roundRect">
            <a:avLst>
              <a:gd name="adj" fmla="val 8421"/>
            </a:avLst>
          </a:prstGeom>
          <a:solidFill>
            <a:srgbClr val="FFFFFF"/>
          </a:solidFill>
          <a:ln w="12700">
            <a:solidFill>
              <a:srgbClr val="E7DCCC"/>
            </a:solidFill>
            <a:prstDash val="solid"/>
          </a:ln>
        </p:spPr>
      </p:sp>
      <p:sp>
        <p:nvSpPr>
          <p:cNvPr id="8" name="Text 6"/>
          <p:cNvSpPr txBox="1"/>
          <p:nvPr/>
        </p:nvSpPr>
        <p:spPr>
          <a:xfrm>
            <a:off x="1490472" y="2450592"/>
            <a:ext cx="868680" cy="320040"/>
          </a:xfrm>
          <a:prstGeom prst="rect">
            <a:avLst/>
          </a:prstGeom>
          <a:noFill/>
          <a:ln/>
        </p:spPr>
        <p:txBody>
          <a:bodyPr wrap="square" rtlCol="0" anchor="ctr"/>
          <a:lstStyle/>
          <a:p>
            <a:pPr algn="ctr" indent="0" marL="0">
              <a:buNone/>
            </a:pPr>
            <a:r>
              <a:rPr lang="en-US" sz="1400" b="1" dirty="0">
                <a:solidFill>
                  <a:srgbClr val="1D79ED"/>
                </a:solidFill>
                <a:latin typeface="GT Alpina" pitchFamily="34" charset="0"/>
                <a:ea typeface="GT Alpina" pitchFamily="34" charset="-122"/>
                <a:cs typeface="GT Alpina" pitchFamily="34" charset="-120"/>
              </a:rPr>
              <a:t>2</a:t>
            </a:r>
            <a:endParaRPr lang="en-US" sz="1400" dirty="0"/>
          </a:p>
        </p:txBody>
      </p:sp>
      <p:sp>
        <p:nvSpPr>
          <p:cNvPr id="9" name="Text 7"/>
          <p:cNvSpPr txBox="1"/>
          <p:nvPr/>
        </p:nvSpPr>
        <p:spPr>
          <a:xfrm>
            <a:off x="1444752" y="2743200"/>
            <a:ext cx="941832" cy="457200"/>
          </a:xfrm>
          <a:prstGeom prst="rect">
            <a:avLst/>
          </a:prstGeom>
          <a:noFill/>
          <a:ln/>
        </p:spPr>
        <p:txBody>
          <a:bodyPr wrap="square" rtlCol="0" anchor="t"/>
          <a:lstStyle/>
          <a:p>
            <a:pPr algn="ctr" indent="0" marL="0">
              <a:buNone/>
            </a:pPr>
            <a:r>
              <a:rPr lang="en-US" sz="900" dirty="0">
                <a:solidFill>
                  <a:srgbClr val="3E3D40"/>
                </a:solidFill>
                <a:latin typeface="Calibri" pitchFamily="34" charset="0"/>
                <a:ea typeface="Calibri" pitchFamily="34" charset="-122"/>
                <a:cs typeface="Calibri" pitchFamily="34" charset="-120"/>
              </a:rPr>
              <a:t>Carta</a:t>
            </a:r>
            <a:endParaRPr lang="en-US" sz="900" dirty="0"/>
          </a:p>
        </p:txBody>
      </p:sp>
      <p:sp>
        <p:nvSpPr>
          <p:cNvPr id="10" name="Shape 8"/>
          <p:cNvSpPr/>
          <p:nvPr/>
        </p:nvSpPr>
        <p:spPr>
          <a:xfrm>
            <a:off x="2432304" y="2377440"/>
            <a:ext cx="868680" cy="868680"/>
          </a:xfrm>
          <a:prstGeom prst="roundRect">
            <a:avLst>
              <a:gd name="adj" fmla="val 8421"/>
            </a:avLst>
          </a:prstGeom>
          <a:solidFill>
            <a:srgbClr val="FFFFFF"/>
          </a:solidFill>
          <a:ln w="12700">
            <a:solidFill>
              <a:srgbClr val="E7DCCC"/>
            </a:solidFill>
            <a:prstDash val="solid"/>
          </a:ln>
        </p:spPr>
      </p:sp>
      <p:sp>
        <p:nvSpPr>
          <p:cNvPr id="11" name="Text 9"/>
          <p:cNvSpPr txBox="1"/>
          <p:nvPr/>
        </p:nvSpPr>
        <p:spPr>
          <a:xfrm>
            <a:off x="2432304" y="2450592"/>
            <a:ext cx="868680" cy="320040"/>
          </a:xfrm>
          <a:prstGeom prst="rect">
            <a:avLst/>
          </a:prstGeom>
          <a:noFill/>
          <a:ln/>
        </p:spPr>
        <p:txBody>
          <a:bodyPr wrap="square" rtlCol="0" anchor="ctr"/>
          <a:lstStyle/>
          <a:p>
            <a:pPr algn="ctr" indent="0" marL="0">
              <a:buNone/>
            </a:pPr>
            <a:r>
              <a:rPr lang="en-US" sz="1400" b="1" dirty="0">
                <a:solidFill>
                  <a:srgbClr val="1D79ED"/>
                </a:solidFill>
                <a:latin typeface="GT Alpina" pitchFamily="34" charset="0"/>
                <a:ea typeface="GT Alpina" pitchFamily="34" charset="-122"/>
                <a:cs typeface="GT Alpina" pitchFamily="34" charset="-120"/>
              </a:rPr>
              <a:t>3</a:t>
            </a:r>
            <a:endParaRPr lang="en-US" sz="1400" dirty="0"/>
          </a:p>
        </p:txBody>
      </p:sp>
      <p:sp>
        <p:nvSpPr>
          <p:cNvPr id="12" name="Text 10"/>
          <p:cNvSpPr txBox="1"/>
          <p:nvPr/>
        </p:nvSpPr>
        <p:spPr>
          <a:xfrm>
            <a:off x="2386584" y="2743200"/>
            <a:ext cx="941832" cy="457200"/>
          </a:xfrm>
          <a:prstGeom prst="rect">
            <a:avLst/>
          </a:prstGeom>
          <a:noFill/>
          <a:ln/>
        </p:spPr>
        <p:txBody>
          <a:bodyPr wrap="square" rtlCol="0" anchor="t"/>
          <a:lstStyle/>
          <a:p>
            <a:pPr algn="ctr" indent="0" marL="0">
              <a:buNone/>
            </a:pPr>
            <a:r>
              <a:rPr lang="en-US" sz="900" dirty="0">
                <a:solidFill>
                  <a:srgbClr val="3E3D40"/>
                </a:solidFill>
                <a:latin typeface="Calibri" pitchFamily="34" charset="0"/>
                <a:ea typeface="Calibri" pitchFamily="34" charset="-122"/>
                <a:cs typeface="Calibri" pitchFamily="34" charset="-120"/>
              </a:rPr>
              <a:t>Pedido</a:t>
            </a:r>
            <a:endParaRPr lang="en-US" sz="900" dirty="0"/>
          </a:p>
        </p:txBody>
      </p:sp>
      <p:sp>
        <p:nvSpPr>
          <p:cNvPr id="13" name="Shape 11"/>
          <p:cNvSpPr/>
          <p:nvPr/>
        </p:nvSpPr>
        <p:spPr>
          <a:xfrm>
            <a:off x="3374136" y="2377440"/>
            <a:ext cx="868680" cy="868680"/>
          </a:xfrm>
          <a:prstGeom prst="roundRect">
            <a:avLst>
              <a:gd name="adj" fmla="val 8421"/>
            </a:avLst>
          </a:prstGeom>
          <a:solidFill>
            <a:srgbClr val="FFFFFF"/>
          </a:solidFill>
          <a:ln w="12700">
            <a:solidFill>
              <a:srgbClr val="E7DCCC"/>
            </a:solidFill>
            <a:prstDash val="solid"/>
          </a:ln>
        </p:spPr>
      </p:sp>
      <p:sp>
        <p:nvSpPr>
          <p:cNvPr id="14" name="Text 12"/>
          <p:cNvSpPr txBox="1"/>
          <p:nvPr/>
        </p:nvSpPr>
        <p:spPr>
          <a:xfrm>
            <a:off x="3374136" y="2450592"/>
            <a:ext cx="868680" cy="320040"/>
          </a:xfrm>
          <a:prstGeom prst="rect">
            <a:avLst/>
          </a:prstGeom>
          <a:noFill/>
          <a:ln/>
        </p:spPr>
        <p:txBody>
          <a:bodyPr wrap="square" rtlCol="0" anchor="ctr"/>
          <a:lstStyle/>
          <a:p>
            <a:pPr algn="ctr" indent="0" marL="0">
              <a:buNone/>
            </a:pPr>
            <a:r>
              <a:rPr lang="en-US" sz="1400" b="1" dirty="0">
                <a:solidFill>
                  <a:srgbClr val="1D79ED"/>
                </a:solidFill>
                <a:latin typeface="GT Alpina" pitchFamily="34" charset="0"/>
                <a:ea typeface="GT Alpina" pitchFamily="34" charset="-122"/>
                <a:cs typeface="GT Alpina" pitchFamily="34" charset="-120"/>
              </a:rPr>
              <a:t>4</a:t>
            </a:r>
            <a:endParaRPr lang="en-US" sz="1400" dirty="0"/>
          </a:p>
        </p:txBody>
      </p:sp>
      <p:sp>
        <p:nvSpPr>
          <p:cNvPr id="15" name="Text 13"/>
          <p:cNvSpPr txBox="1"/>
          <p:nvPr/>
        </p:nvSpPr>
        <p:spPr>
          <a:xfrm>
            <a:off x="3328416" y="2743200"/>
            <a:ext cx="941832" cy="457200"/>
          </a:xfrm>
          <a:prstGeom prst="rect">
            <a:avLst/>
          </a:prstGeom>
          <a:noFill/>
          <a:ln/>
        </p:spPr>
        <p:txBody>
          <a:bodyPr wrap="square" rtlCol="0" anchor="t"/>
          <a:lstStyle/>
          <a:p>
            <a:pPr algn="ctr" indent="0" marL="0">
              <a:buNone/>
            </a:pPr>
            <a:r>
              <a:rPr lang="en-US" sz="900" dirty="0">
                <a:solidFill>
                  <a:srgbClr val="3E3D40"/>
                </a:solidFill>
                <a:latin typeface="Calibri" pitchFamily="34" charset="0"/>
                <a:ea typeface="Calibri" pitchFamily="34" charset="-122"/>
                <a:cs typeface="Calibri" pitchFamily="34" charset="-120"/>
              </a:rPr>
              <a:t>Bebida</a:t>
            </a:r>
            <a:endParaRPr lang="en-US" sz="900" dirty="0"/>
          </a:p>
        </p:txBody>
      </p:sp>
      <p:sp>
        <p:nvSpPr>
          <p:cNvPr id="16" name="Shape 14"/>
          <p:cNvSpPr/>
          <p:nvPr/>
        </p:nvSpPr>
        <p:spPr>
          <a:xfrm>
            <a:off x="4315968" y="2377440"/>
            <a:ext cx="868680" cy="868680"/>
          </a:xfrm>
          <a:prstGeom prst="roundRect">
            <a:avLst>
              <a:gd name="adj" fmla="val 8421"/>
            </a:avLst>
          </a:prstGeom>
          <a:solidFill>
            <a:srgbClr val="FFFFFF"/>
          </a:solidFill>
          <a:ln w="12700">
            <a:solidFill>
              <a:srgbClr val="E7DCCC"/>
            </a:solidFill>
            <a:prstDash val="solid"/>
          </a:ln>
        </p:spPr>
      </p:sp>
      <p:sp>
        <p:nvSpPr>
          <p:cNvPr id="17" name="Text 15"/>
          <p:cNvSpPr txBox="1"/>
          <p:nvPr/>
        </p:nvSpPr>
        <p:spPr>
          <a:xfrm>
            <a:off x="4315968" y="2450592"/>
            <a:ext cx="868680" cy="320040"/>
          </a:xfrm>
          <a:prstGeom prst="rect">
            <a:avLst/>
          </a:prstGeom>
          <a:noFill/>
          <a:ln/>
        </p:spPr>
        <p:txBody>
          <a:bodyPr wrap="square" rtlCol="0" anchor="ctr"/>
          <a:lstStyle/>
          <a:p>
            <a:pPr algn="ctr" indent="0" marL="0">
              <a:buNone/>
            </a:pPr>
            <a:r>
              <a:rPr lang="en-US" sz="1400" b="1" dirty="0">
                <a:solidFill>
                  <a:srgbClr val="1D79ED"/>
                </a:solidFill>
                <a:latin typeface="GT Alpina" pitchFamily="34" charset="0"/>
                <a:ea typeface="GT Alpina" pitchFamily="34" charset="-122"/>
                <a:cs typeface="GT Alpina" pitchFamily="34" charset="-120"/>
              </a:rPr>
              <a:t>5</a:t>
            </a:r>
            <a:endParaRPr lang="en-US" sz="1400" dirty="0"/>
          </a:p>
        </p:txBody>
      </p:sp>
      <p:sp>
        <p:nvSpPr>
          <p:cNvPr id="18" name="Text 16"/>
          <p:cNvSpPr txBox="1"/>
          <p:nvPr/>
        </p:nvSpPr>
        <p:spPr>
          <a:xfrm>
            <a:off x="4270248" y="2743200"/>
            <a:ext cx="941832" cy="457200"/>
          </a:xfrm>
          <a:prstGeom prst="rect">
            <a:avLst/>
          </a:prstGeom>
          <a:noFill/>
          <a:ln/>
        </p:spPr>
        <p:txBody>
          <a:bodyPr wrap="square" rtlCol="0" anchor="t"/>
          <a:lstStyle/>
          <a:p>
            <a:pPr algn="ctr" indent="0" marL="0">
              <a:buNone/>
            </a:pPr>
            <a:r>
              <a:rPr lang="en-US" sz="900" dirty="0">
                <a:solidFill>
                  <a:srgbClr val="3E3D40"/>
                </a:solidFill>
                <a:latin typeface="Calibri" pitchFamily="34" charset="0"/>
                <a:ea typeface="Calibri" pitchFamily="34" charset="-122"/>
                <a:cs typeface="Calibri" pitchFamily="34" charset="-120"/>
              </a:rPr>
              <a:t>Comida</a:t>
            </a:r>
            <a:endParaRPr lang="en-US" sz="900" dirty="0"/>
          </a:p>
        </p:txBody>
      </p:sp>
      <p:sp>
        <p:nvSpPr>
          <p:cNvPr id="19" name="Shape 17"/>
          <p:cNvSpPr/>
          <p:nvPr/>
        </p:nvSpPr>
        <p:spPr>
          <a:xfrm>
            <a:off x="5257800" y="2377440"/>
            <a:ext cx="868680" cy="868680"/>
          </a:xfrm>
          <a:prstGeom prst="roundRect">
            <a:avLst>
              <a:gd name="adj" fmla="val 8421"/>
            </a:avLst>
          </a:prstGeom>
          <a:solidFill>
            <a:srgbClr val="FFFFFF"/>
          </a:solidFill>
          <a:ln w="12700">
            <a:solidFill>
              <a:srgbClr val="E7DCCC"/>
            </a:solidFill>
            <a:prstDash val="solid"/>
          </a:ln>
        </p:spPr>
      </p:sp>
      <p:sp>
        <p:nvSpPr>
          <p:cNvPr id="20" name="Text 18"/>
          <p:cNvSpPr txBox="1"/>
          <p:nvPr/>
        </p:nvSpPr>
        <p:spPr>
          <a:xfrm>
            <a:off x="5257800" y="2450592"/>
            <a:ext cx="868680" cy="320040"/>
          </a:xfrm>
          <a:prstGeom prst="rect">
            <a:avLst/>
          </a:prstGeom>
          <a:noFill/>
          <a:ln/>
        </p:spPr>
        <p:txBody>
          <a:bodyPr wrap="square" rtlCol="0" anchor="ctr"/>
          <a:lstStyle/>
          <a:p>
            <a:pPr algn="ctr" indent="0" marL="0">
              <a:buNone/>
            </a:pPr>
            <a:r>
              <a:rPr lang="en-US" sz="1400" b="1" dirty="0">
                <a:solidFill>
                  <a:srgbClr val="1D79ED"/>
                </a:solidFill>
                <a:latin typeface="GT Alpina" pitchFamily="34" charset="0"/>
                <a:ea typeface="GT Alpina" pitchFamily="34" charset="-122"/>
                <a:cs typeface="GT Alpina" pitchFamily="34" charset="-120"/>
              </a:rPr>
              <a:t>6</a:t>
            </a:r>
            <a:endParaRPr lang="en-US" sz="1400" dirty="0"/>
          </a:p>
        </p:txBody>
      </p:sp>
      <p:sp>
        <p:nvSpPr>
          <p:cNvPr id="21" name="Text 19"/>
          <p:cNvSpPr txBox="1"/>
          <p:nvPr/>
        </p:nvSpPr>
        <p:spPr>
          <a:xfrm>
            <a:off x="5212080" y="2743200"/>
            <a:ext cx="941832" cy="457200"/>
          </a:xfrm>
          <a:prstGeom prst="rect">
            <a:avLst/>
          </a:prstGeom>
          <a:noFill/>
          <a:ln/>
        </p:spPr>
        <p:txBody>
          <a:bodyPr wrap="square" rtlCol="0" anchor="t"/>
          <a:lstStyle/>
          <a:p>
            <a:pPr algn="ctr" indent="0" marL="0">
              <a:buNone/>
            </a:pPr>
            <a:r>
              <a:rPr lang="en-US" sz="900" dirty="0">
                <a:solidFill>
                  <a:srgbClr val="3E3D40"/>
                </a:solidFill>
                <a:latin typeface="Calibri" pitchFamily="34" charset="0"/>
                <a:ea typeface="Calibri" pitchFamily="34" charset="-122"/>
                <a:cs typeface="Calibri" pitchFamily="34" charset="-120"/>
              </a:rPr>
              <a:t>Chequeo</a:t>
            </a:r>
            <a:endParaRPr lang="en-US" sz="900" dirty="0"/>
          </a:p>
        </p:txBody>
      </p:sp>
      <p:sp>
        <p:nvSpPr>
          <p:cNvPr id="22" name="Shape 20"/>
          <p:cNvSpPr/>
          <p:nvPr/>
        </p:nvSpPr>
        <p:spPr>
          <a:xfrm>
            <a:off x="6199632" y="2377440"/>
            <a:ext cx="868680" cy="868680"/>
          </a:xfrm>
          <a:prstGeom prst="roundRect">
            <a:avLst>
              <a:gd name="adj" fmla="val 8421"/>
            </a:avLst>
          </a:prstGeom>
          <a:solidFill>
            <a:srgbClr val="FFFFFF"/>
          </a:solidFill>
          <a:ln w="12700">
            <a:solidFill>
              <a:srgbClr val="E7DCCC"/>
            </a:solidFill>
            <a:prstDash val="solid"/>
          </a:ln>
        </p:spPr>
      </p:sp>
      <p:sp>
        <p:nvSpPr>
          <p:cNvPr id="23" name="Text 21"/>
          <p:cNvSpPr txBox="1"/>
          <p:nvPr/>
        </p:nvSpPr>
        <p:spPr>
          <a:xfrm>
            <a:off x="6199632" y="2450592"/>
            <a:ext cx="868680" cy="320040"/>
          </a:xfrm>
          <a:prstGeom prst="rect">
            <a:avLst/>
          </a:prstGeom>
          <a:noFill/>
          <a:ln/>
        </p:spPr>
        <p:txBody>
          <a:bodyPr wrap="square" rtlCol="0" anchor="ctr"/>
          <a:lstStyle/>
          <a:p>
            <a:pPr algn="ctr" indent="0" marL="0">
              <a:buNone/>
            </a:pPr>
            <a:r>
              <a:rPr lang="en-US" sz="1400" b="1" dirty="0">
                <a:solidFill>
                  <a:srgbClr val="1D79ED"/>
                </a:solidFill>
                <a:latin typeface="GT Alpina" pitchFamily="34" charset="0"/>
                <a:ea typeface="GT Alpina" pitchFamily="34" charset="-122"/>
                <a:cs typeface="GT Alpina" pitchFamily="34" charset="-120"/>
              </a:rPr>
              <a:t>7</a:t>
            </a:r>
            <a:endParaRPr lang="en-US" sz="1400" dirty="0"/>
          </a:p>
        </p:txBody>
      </p:sp>
      <p:sp>
        <p:nvSpPr>
          <p:cNvPr id="24" name="Text 22"/>
          <p:cNvSpPr txBox="1"/>
          <p:nvPr/>
        </p:nvSpPr>
        <p:spPr>
          <a:xfrm>
            <a:off x="6153912" y="2743200"/>
            <a:ext cx="941832" cy="457200"/>
          </a:xfrm>
          <a:prstGeom prst="rect">
            <a:avLst/>
          </a:prstGeom>
          <a:noFill/>
          <a:ln/>
        </p:spPr>
        <p:txBody>
          <a:bodyPr wrap="square" rtlCol="0" anchor="t"/>
          <a:lstStyle/>
          <a:p>
            <a:pPr algn="ctr" indent="0" marL="0">
              <a:buNone/>
            </a:pPr>
            <a:r>
              <a:rPr lang="en-US" sz="900" dirty="0">
                <a:solidFill>
                  <a:srgbClr val="3E3D40"/>
                </a:solidFill>
                <a:latin typeface="Calibri" pitchFamily="34" charset="0"/>
                <a:ea typeface="Calibri" pitchFamily="34" charset="-122"/>
                <a:cs typeface="Calibri" pitchFamily="34" charset="-120"/>
              </a:rPr>
              <a:t>Retirada</a:t>
            </a:r>
            <a:endParaRPr lang="en-US" sz="900" dirty="0"/>
          </a:p>
        </p:txBody>
      </p:sp>
      <p:sp>
        <p:nvSpPr>
          <p:cNvPr id="25" name="Shape 23"/>
          <p:cNvSpPr/>
          <p:nvPr/>
        </p:nvSpPr>
        <p:spPr>
          <a:xfrm>
            <a:off x="7141464" y="2377440"/>
            <a:ext cx="868680" cy="868680"/>
          </a:xfrm>
          <a:prstGeom prst="roundRect">
            <a:avLst>
              <a:gd name="adj" fmla="val 8421"/>
            </a:avLst>
          </a:prstGeom>
          <a:solidFill>
            <a:srgbClr val="FFFFFF"/>
          </a:solidFill>
          <a:ln w="12700">
            <a:solidFill>
              <a:srgbClr val="E7DCCC"/>
            </a:solidFill>
            <a:prstDash val="solid"/>
          </a:ln>
        </p:spPr>
      </p:sp>
      <p:sp>
        <p:nvSpPr>
          <p:cNvPr id="26" name="Text 24"/>
          <p:cNvSpPr txBox="1"/>
          <p:nvPr/>
        </p:nvSpPr>
        <p:spPr>
          <a:xfrm>
            <a:off x="7141464" y="2450592"/>
            <a:ext cx="868680" cy="320040"/>
          </a:xfrm>
          <a:prstGeom prst="rect">
            <a:avLst/>
          </a:prstGeom>
          <a:noFill/>
          <a:ln/>
        </p:spPr>
        <p:txBody>
          <a:bodyPr wrap="square" rtlCol="0" anchor="ctr"/>
          <a:lstStyle/>
          <a:p>
            <a:pPr algn="ctr" indent="0" marL="0">
              <a:buNone/>
            </a:pPr>
            <a:r>
              <a:rPr lang="en-US" sz="1400" b="1" dirty="0">
                <a:solidFill>
                  <a:srgbClr val="1D79ED"/>
                </a:solidFill>
                <a:latin typeface="GT Alpina" pitchFamily="34" charset="0"/>
                <a:ea typeface="GT Alpina" pitchFamily="34" charset="-122"/>
                <a:cs typeface="GT Alpina" pitchFamily="34" charset="-120"/>
              </a:rPr>
              <a:t>8</a:t>
            </a:r>
            <a:endParaRPr lang="en-US" sz="1400" dirty="0"/>
          </a:p>
        </p:txBody>
      </p:sp>
      <p:sp>
        <p:nvSpPr>
          <p:cNvPr id="27" name="Text 25"/>
          <p:cNvSpPr txBox="1"/>
          <p:nvPr/>
        </p:nvSpPr>
        <p:spPr>
          <a:xfrm>
            <a:off x="7095744" y="2743200"/>
            <a:ext cx="941832" cy="457200"/>
          </a:xfrm>
          <a:prstGeom prst="rect">
            <a:avLst/>
          </a:prstGeom>
          <a:noFill/>
          <a:ln/>
        </p:spPr>
        <p:txBody>
          <a:bodyPr wrap="square" rtlCol="0" anchor="t"/>
          <a:lstStyle/>
          <a:p>
            <a:pPr algn="ctr" indent="0" marL="0">
              <a:buNone/>
            </a:pPr>
            <a:r>
              <a:rPr lang="en-US" sz="900" dirty="0">
                <a:solidFill>
                  <a:srgbClr val="3E3D40"/>
                </a:solidFill>
                <a:latin typeface="Calibri" pitchFamily="34" charset="0"/>
                <a:ea typeface="Calibri" pitchFamily="34" charset="-122"/>
                <a:cs typeface="Calibri" pitchFamily="34" charset="-120"/>
              </a:rPr>
              <a:t>Más</a:t>
            </a:r>
            <a:endParaRPr lang="en-US" sz="900" dirty="0"/>
          </a:p>
        </p:txBody>
      </p:sp>
      <p:sp>
        <p:nvSpPr>
          <p:cNvPr id="28" name="Shape 26"/>
          <p:cNvSpPr/>
          <p:nvPr/>
        </p:nvSpPr>
        <p:spPr>
          <a:xfrm>
            <a:off x="8083296" y="2377440"/>
            <a:ext cx="868680" cy="868680"/>
          </a:xfrm>
          <a:prstGeom prst="roundRect">
            <a:avLst>
              <a:gd name="adj" fmla="val 8421"/>
            </a:avLst>
          </a:prstGeom>
          <a:solidFill>
            <a:srgbClr val="FFFFFF"/>
          </a:solidFill>
          <a:ln w="12700">
            <a:solidFill>
              <a:srgbClr val="E7DCCC"/>
            </a:solidFill>
            <a:prstDash val="solid"/>
          </a:ln>
        </p:spPr>
      </p:sp>
      <p:sp>
        <p:nvSpPr>
          <p:cNvPr id="29" name="Text 27"/>
          <p:cNvSpPr txBox="1"/>
          <p:nvPr/>
        </p:nvSpPr>
        <p:spPr>
          <a:xfrm>
            <a:off x="8083296" y="2450592"/>
            <a:ext cx="868680" cy="320040"/>
          </a:xfrm>
          <a:prstGeom prst="rect">
            <a:avLst/>
          </a:prstGeom>
          <a:noFill/>
          <a:ln/>
        </p:spPr>
        <p:txBody>
          <a:bodyPr wrap="square" rtlCol="0" anchor="ctr"/>
          <a:lstStyle/>
          <a:p>
            <a:pPr algn="ctr" indent="0" marL="0">
              <a:buNone/>
            </a:pPr>
            <a:r>
              <a:rPr lang="en-US" sz="1400" b="1" dirty="0">
                <a:solidFill>
                  <a:srgbClr val="1D79ED"/>
                </a:solidFill>
                <a:latin typeface="GT Alpina" pitchFamily="34" charset="0"/>
                <a:ea typeface="GT Alpina" pitchFamily="34" charset="-122"/>
                <a:cs typeface="GT Alpina" pitchFamily="34" charset="-120"/>
              </a:rPr>
              <a:t>9</a:t>
            </a:r>
            <a:endParaRPr lang="en-US" sz="1400" dirty="0"/>
          </a:p>
        </p:txBody>
      </p:sp>
      <p:sp>
        <p:nvSpPr>
          <p:cNvPr id="30" name="Text 28"/>
          <p:cNvSpPr txBox="1"/>
          <p:nvPr/>
        </p:nvSpPr>
        <p:spPr>
          <a:xfrm>
            <a:off x="8037576" y="2743200"/>
            <a:ext cx="941832" cy="457200"/>
          </a:xfrm>
          <a:prstGeom prst="rect">
            <a:avLst/>
          </a:prstGeom>
          <a:noFill/>
          <a:ln/>
        </p:spPr>
        <p:txBody>
          <a:bodyPr wrap="square" rtlCol="0" anchor="t"/>
          <a:lstStyle/>
          <a:p>
            <a:pPr algn="ctr" indent="0" marL="0">
              <a:buNone/>
            </a:pPr>
            <a:r>
              <a:rPr lang="en-US" sz="900" dirty="0">
                <a:solidFill>
                  <a:srgbClr val="3E3D40"/>
                </a:solidFill>
                <a:latin typeface="Calibri" pitchFamily="34" charset="0"/>
                <a:ea typeface="Calibri" pitchFamily="34" charset="-122"/>
                <a:cs typeface="Calibri" pitchFamily="34" charset="-120"/>
              </a:rPr>
              <a:t>Cobro</a:t>
            </a:r>
            <a:endParaRPr lang="en-US" sz="900" dirty="0"/>
          </a:p>
        </p:txBody>
      </p:sp>
      <p:sp>
        <p:nvSpPr>
          <p:cNvPr id="31" name="Shape 29"/>
          <p:cNvSpPr/>
          <p:nvPr/>
        </p:nvSpPr>
        <p:spPr>
          <a:xfrm>
            <a:off x="9025128" y="2377440"/>
            <a:ext cx="868680" cy="868680"/>
          </a:xfrm>
          <a:prstGeom prst="roundRect">
            <a:avLst>
              <a:gd name="adj" fmla="val 8421"/>
            </a:avLst>
          </a:prstGeom>
          <a:solidFill>
            <a:srgbClr val="E84E27"/>
          </a:solidFill>
          <a:ln w="12700">
            <a:solidFill>
              <a:srgbClr val="E7DCCC"/>
            </a:solidFill>
            <a:prstDash val="solid"/>
          </a:ln>
        </p:spPr>
      </p:sp>
      <p:sp>
        <p:nvSpPr>
          <p:cNvPr id="32" name="Text 30"/>
          <p:cNvSpPr txBox="1"/>
          <p:nvPr/>
        </p:nvSpPr>
        <p:spPr>
          <a:xfrm>
            <a:off x="9025128" y="2450592"/>
            <a:ext cx="868680" cy="320040"/>
          </a:xfrm>
          <a:prstGeom prst="rect">
            <a:avLst/>
          </a:prstGeom>
          <a:noFill/>
          <a:ln/>
        </p:spPr>
        <p:txBody>
          <a:bodyPr wrap="square" rtlCol="0" anchor="ctr"/>
          <a:lstStyle/>
          <a:p>
            <a:pPr algn="ctr" indent="0" marL="0">
              <a:buNone/>
            </a:pPr>
            <a:r>
              <a:rPr lang="en-US" sz="1400" b="1" dirty="0">
                <a:solidFill>
                  <a:srgbClr val="FFFFFF"/>
                </a:solidFill>
                <a:latin typeface="GT Alpina" pitchFamily="34" charset="0"/>
                <a:ea typeface="GT Alpina" pitchFamily="34" charset="-122"/>
                <a:cs typeface="GT Alpina" pitchFamily="34" charset="-120"/>
              </a:rPr>
              <a:t>10</a:t>
            </a:r>
            <a:endParaRPr lang="en-US" sz="1400" dirty="0"/>
          </a:p>
        </p:txBody>
      </p:sp>
      <p:sp>
        <p:nvSpPr>
          <p:cNvPr id="33" name="Text 31"/>
          <p:cNvSpPr txBox="1"/>
          <p:nvPr/>
        </p:nvSpPr>
        <p:spPr>
          <a:xfrm>
            <a:off x="8979408" y="2743200"/>
            <a:ext cx="941832" cy="45720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Despedida</a:t>
            </a:r>
            <a:endParaRPr lang="en-US" sz="900" dirty="0"/>
          </a:p>
        </p:txBody>
      </p:sp>
      <p:sp>
        <p:nvSpPr>
          <p:cNvPr id="34" name="Text 32"/>
          <p:cNvSpPr txBox="1"/>
          <p:nvPr/>
        </p:nvSpPr>
        <p:spPr>
          <a:xfrm>
            <a:off x="548640" y="3749040"/>
            <a:ext cx="10149840" cy="2377440"/>
          </a:xfrm>
          <a:prstGeom prst="rect">
            <a:avLst/>
          </a:prstGeom>
          <a:noFill/>
          <a:ln/>
        </p:spPr>
        <p:txBody>
          <a:bodyPr wrap="square" rtlCol="0" anchor="ctr"/>
          <a:lstStyle/>
          <a:p>
            <a:pPr indent="0" marL="0">
              <a:lnSpc>
                <a:spcPct val="128000"/>
              </a:lnSpc>
              <a:buNone/>
            </a:pPr>
            <a:r>
              <a:rPr lang="en-US" sz="1500" b="1" dirty="0">
                <a:solidFill>
                  <a:srgbClr val="E84E27"/>
                </a:solidFill>
                <a:latin typeface="Calibri" pitchFamily="34" charset="0"/>
                <a:ea typeface="Calibri" pitchFamily="34" charset="-122"/>
                <a:cs typeface="Calibri" pitchFamily="34" charset="-120"/>
              </a:rPr>
              <a:t>El espíritu que aporta este documento: </a:t>
            </a:r>
            <a:pPr indent="0" marL="0">
              <a:lnSpc>
                <a:spcPct val="128000"/>
              </a:lnSpc>
              <a:buNone/>
            </a:pPr>
            <a:r>
              <a:rPr lang="en-US" sz="1500" dirty="0">
                <a:solidFill>
                  <a:srgbClr val="3E3D40"/>
                </a:solidFill>
                <a:latin typeface="Calibri" pitchFamily="34" charset="0"/>
                <a:ea typeface="Calibri" pitchFamily="34" charset="-122"/>
                <a:cs typeface="Calibri" pitchFamily="34" charset="-120"/>
              </a:rPr>
              <a:t>cada paso es una oportunidad para vivir los principios de arriba — ser anfitriones, mantener la atención, cuidar el lenguaje, conocer el producto — no una lista de tareas que se marcan y se olvidan.</a:t>
            </a:r>
            <a:endParaRPr lang="en-US" sz="1500" dirty="0"/>
          </a:p>
          <a:p>
            <a:pPr indent="0" marL="0">
              <a:lnSpc>
                <a:spcPct val="128000"/>
              </a:lnSpc>
              <a:buNone/>
            </a:pPr>
            <a:endParaRPr lang="en-US" sz="1500" dirty="0"/>
          </a:p>
          <a:p>
            <a:pPr indent="0" marL="0">
              <a:lnSpc>
                <a:spcPct val="128000"/>
              </a:lnSpc>
              <a:buNone/>
            </a:pPr>
            <a:r>
              <a:rPr lang="en-US" sz="1500" dirty="0">
                <a:solidFill>
                  <a:srgbClr val="3E3D40"/>
                </a:solidFill>
                <a:latin typeface="Calibri" pitchFamily="34" charset="0"/>
                <a:ea typeface="Calibri" pitchFamily="34" charset="-122"/>
                <a:cs typeface="Calibri" pitchFamily="34" charset="-120"/>
              </a:rPr>
              <a:t>Si el recorrido se siente mecánico, la pregunta no es “¿qué paso me he saltado?”, es </a:t>
            </a:r>
            <a:endParaRPr lang="en-US" sz="1500" dirty="0"/>
          </a:p>
          <a:p>
            <a:pPr indent="0" marL="0">
              <a:lnSpc>
                <a:spcPct val="128000"/>
              </a:lnSpc>
              <a:buNone/>
            </a:pPr>
            <a:r>
              <a:rPr lang="en-US" sz="1500" i="1" dirty="0">
                <a:solidFill>
                  <a:srgbClr val="1D79ED"/>
                </a:solidFill>
                <a:latin typeface="Calibri" pitchFamily="34" charset="0"/>
                <a:ea typeface="Calibri" pitchFamily="34" charset="-122"/>
                <a:cs typeface="Calibri" pitchFamily="34" charset="-120"/>
              </a:rPr>
              <a:t>“¿he recibido a esta persona, o solo la he procesado?”</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D"/>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1371600"/>
            <a:ext cx="1188720" cy="1188720"/>
          </a:xfrm>
          <a:prstGeom prst="ellipse">
            <a:avLst/>
          </a:prstGeom>
          <a:solidFill>
            <a:srgbClr val="E84E27"/>
          </a:solidFill>
          <a:ln/>
        </p:spPr>
      </p:sp>
      <p:sp>
        <p:nvSpPr>
          <p:cNvPr id="3" name="Text 1"/>
          <p:cNvSpPr/>
          <p:nvPr/>
        </p:nvSpPr>
        <p:spPr>
          <a:xfrm>
            <a:off x="548640" y="1371600"/>
            <a:ext cx="1188720" cy="1188720"/>
          </a:xfrm>
          <a:prstGeom prst="rect">
            <a:avLst/>
          </a:prstGeom>
          <a:noFill/>
          <a:ln/>
        </p:spPr>
        <p:txBody>
          <a:bodyPr wrap="square" rtlCol="0" anchor="ctr"/>
          <a:lstStyle/>
          <a:p>
            <a:pPr algn="ctr" indent="0" marL="0">
              <a:buNone/>
            </a:pPr>
            <a:r>
              <a:rPr lang="en-US" sz="4400" b="1" dirty="0">
                <a:solidFill>
                  <a:srgbClr val="FFFFFF"/>
                </a:solidFill>
                <a:latin typeface="GT Alpina" pitchFamily="34" charset="0"/>
                <a:ea typeface="GT Alpina" pitchFamily="34" charset="-122"/>
                <a:cs typeface="GT Alpina" pitchFamily="34" charset="-120"/>
              </a:rPr>
              <a:t>6</a:t>
            </a:r>
            <a:endParaRPr lang="en-US" sz="4400" dirty="0"/>
          </a:p>
        </p:txBody>
      </p:sp>
      <p:sp>
        <p:nvSpPr>
          <p:cNvPr id="4" name="Text 0"/>
          <p:cNvSpPr/>
          <p:nvPr>
            <p:ph idx="100" type="title" hasCustomPrompt="1"/>
          </p:nvPr>
        </p:nvSpPr>
        <p:spPr>
          <a:xfrm>
            <a:off x="548640" y="3017520"/>
            <a:ext cx="11064240" cy="1463040"/>
          </a:xfrm>
          <a:prstGeom prst="rect">
            <a:avLst/>
          </a:prstGeom>
          <a:noFill/>
          <a:ln/>
        </p:spPr>
        <p:txBody>
          <a:bodyPr wrap="square" rtlCol="0" anchor="t"/>
          <a:lstStyle/>
          <a:p>
            <a:pPr algn="l" indent="0" marL="0">
              <a:buNone/>
            </a:pPr>
            <a:r>
              <a:rPr lang="en-US" sz="3800" b="1" dirty="0">
                <a:solidFill>
                  <a:srgbClr val="FFFFFF"/>
                </a:solidFill>
                <a:latin typeface="GT Alpina" pitchFamily="34" charset="0"/>
                <a:ea typeface="GT Alpina" pitchFamily="34" charset="-122"/>
                <a:cs typeface="GT Alpina" pitchFamily="34" charset="-120"/>
              </a:rPr>
              <a:t>CÓMO NOS PRESENTAMOS</a:t>
            </a:r>
            <a:endParaRPr lang="en-US" sz="3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6 — Antes de empezar</a:t>
            </a:r>
            <a:endParaRPr lang="en-US" sz="2600" dirty="0"/>
          </a:p>
        </p:txBody>
      </p:sp>
      <p:sp>
        <p:nvSpPr>
          <p:cNvPr id="3" name="Shape 1"/>
          <p:cNvSpPr/>
          <p:nvPr/>
        </p:nvSpPr>
        <p:spPr>
          <a:xfrm>
            <a:off x="548640" y="1554480"/>
            <a:ext cx="10149840" cy="1463040"/>
          </a:xfrm>
          <a:prstGeom prst="roundRect">
            <a:avLst>
              <a:gd name="adj" fmla="val 6250"/>
            </a:avLst>
          </a:prstGeom>
          <a:solidFill>
            <a:srgbClr val="E84E27"/>
          </a:solidFill>
          <a:ln/>
        </p:spPr>
      </p:sp>
      <p:sp>
        <p:nvSpPr>
          <p:cNvPr id="4" name="Text 2"/>
          <p:cNvSpPr txBox="1"/>
          <p:nvPr/>
        </p:nvSpPr>
        <p:spPr>
          <a:xfrm>
            <a:off x="822960" y="1737360"/>
            <a:ext cx="9601200" cy="1097280"/>
          </a:xfrm>
          <a:prstGeom prst="rect">
            <a:avLst/>
          </a:prstGeom>
          <a:noFill/>
          <a:ln/>
        </p:spPr>
        <p:txBody>
          <a:bodyPr wrap="square" rtlCol="0" anchor="ctr"/>
          <a:lstStyle/>
          <a:p>
            <a:pPr indent="0" marL="0">
              <a:lnSpc>
                <a:spcPct val="120000"/>
              </a:lnSpc>
              <a:buNone/>
            </a:pPr>
            <a:r>
              <a:rPr lang="en-US" sz="1600" dirty="0">
                <a:solidFill>
                  <a:srgbClr val="FFFFFF"/>
                </a:solidFill>
                <a:latin typeface="GT Alpina" pitchFamily="34" charset="0"/>
                <a:ea typeface="GT Alpina" pitchFamily="34" charset="-122"/>
                <a:cs typeface="GT Alpina" pitchFamily="34" charset="-120"/>
              </a:rPr>
              <a:t>Hoy no tenemos una política de uniforme o presentación personal ya escrita para Lady Madrid. Lo que viene a continuación es una propuesta nueva — no algo ya decidido ni validado con Propiedad.</a:t>
            </a:r>
            <a:endParaRPr lang="en-US" sz="1600" dirty="0"/>
          </a:p>
        </p:txBody>
      </p:sp>
      <p:sp>
        <p:nvSpPr>
          <p:cNvPr id="5" name="Text 3"/>
          <p:cNvSpPr txBox="1"/>
          <p:nvPr/>
        </p:nvSpPr>
        <p:spPr>
          <a:xfrm>
            <a:off x="548640" y="3383280"/>
            <a:ext cx="10149840" cy="2011680"/>
          </a:xfrm>
          <a:prstGeom prst="rect">
            <a:avLst/>
          </a:prstGeom>
          <a:noFill/>
          <a:ln/>
        </p:spPr>
        <p:txBody>
          <a:bodyPr wrap="square" rtlCol="0" anchor="ctr"/>
          <a:lstStyle/>
          <a:p>
            <a:pPr indent="0" marL="0">
              <a:lnSpc>
                <a:spcPct val="130000"/>
              </a:lnSpc>
              <a:buNone/>
            </a:pPr>
            <a:r>
              <a:rPr lang="en-US" sz="1500" b="1" dirty="0">
                <a:solidFill>
                  <a:srgbClr val="1D79ED"/>
                </a:solidFill>
                <a:latin typeface="Calibri" pitchFamily="34" charset="0"/>
                <a:ea typeface="Calibri" pitchFamily="34" charset="-122"/>
                <a:cs typeface="Calibri" pitchFamily="34" charset="-120"/>
              </a:rPr>
              <a:t>Por qué no se puede copiar un estándar genérico: </a:t>
            </a:r>
            <a:pPr indent="0" marL="0">
              <a:lnSpc>
                <a:spcPct val="130000"/>
              </a:lnSpc>
              <a:buNone/>
            </a:pPr>
            <a:r>
              <a:rPr lang="en-US" sz="1500" dirty="0">
                <a:solidFill>
                  <a:srgbClr val="3E3D40"/>
                </a:solidFill>
                <a:latin typeface="Calibri" pitchFamily="34" charset="0"/>
                <a:ea typeface="Calibri" pitchFamily="34" charset="-122"/>
                <a:cs typeface="Calibri" pitchFamily="34" charset="-120"/>
              </a:rPr>
              <a:t>en Lady Madrid no hay un puesto de barra, uno de sala y uno de cocina con su propia imagen — hay un único equipo polivalente. Cualquier estándar tiene que pensarse para </a:t>
            </a:r>
            <a:pPr indent="0" marL="0">
              <a:lnSpc>
                <a:spcPct val="130000"/>
              </a:lnSpc>
              <a:buNone/>
            </a:pPr>
            <a:r>
              <a:rPr lang="en-US" sz="1500" b="1" dirty="0">
                <a:solidFill>
                  <a:srgbClr val="3E3D40"/>
                </a:solidFill>
                <a:latin typeface="Calibri" pitchFamily="34" charset="0"/>
                <a:ea typeface="Calibri" pitchFamily="34" charset="-122"/>
                <a:cs typeface="Calibri" pitchFamily="34" charset="-120"/>
              </a:rPr>
              <a:t>una sola persona que puede estar en cualquiera de los tres sitios a la vez</a:t>
            </a:r>
            <a:pPr indent="0" marL="0">
              <a:lnSpc>
                <a:spcPct val="130000"/>
              </a:lnSpc>
              <a:buNone/>
            </a:pPr>
            <a:r>
              <a:rPr lang="en-US" sz="1500" dirty="0">
                <a:solidFill>
                  <a:srgbClr val="3E3D40"/>
                </a:solidFill>
                <a:latin typeface="Calibri" pitchFamily="34" charset="0"/>
                <a:ea typeface="Calibri" pitchFamily="34" charset="-122"/>
                <a:cs typeface="Calibri" pitchFamily="34" charset="-120"/>
              </a:rPr>
              <a:t>, no para tres uniformes distintos según la tarea.</a:t>
            </a:r>
            <a:endParaRPr lang="en-US" sz="1500" dirty="0"/>
          </a:p>
        </p:txBody>
      </p:sp>
      <p:sp>
        <p:nvSpPr>
          <p:cNvPr id="6"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Uniforme</a:t>
            </a:r>
            <a:endParaRPr lang="en-US" sz="2600" dirty="0"/>
          </a:p>
        </p:txBody>
      </p:sp>
      <p:sp>
        <p:nvSpPr>
          <p:cNvPr id="3" name="Text 1"/>
          <p:cNvSpPr txBox="1"/>
          <p:nvPr/>
        </p:nvSpPr>
        <p:spPr>
          <a:xfrm>
            <a:off x="548640" y="1463040"/>
            <a:ext cx="10149840" cy="3474720"/>
          </a:xfrm>
          <a:prstGeom prst="rect">
            <a:avLst/>
          </a:prstGeom>
          <a:noFill/>
          <a:ln/>
        </p:spPr>
        <p:txBody>
          <a:bodyPr wrap="square" rtlCol="0" anchor="t"/>
          <a:lstStyle/>
          <a:p>
            <a:pPr indent="0" marL="0">
              <a:lnSpc>
                <a:spcPct val="125000"/>
              </a:lnSpc>
              <a:buNone/>
            </a:pPr>
            <a:r>
              <a:rPr lang="en-US" sz="1450" dirty="0">
                <a:solidFill>
                  <a:srgbClr val="1D79ED"/>
                </a:solidFill>
                <a:latin typeface="Calibri" pitchFamily="34" charset="0"/>
                <a:ea typeface="Calibri" pitchFamily="34" charset="-122"/>
                <a:cs typeface="Calibri" pitchFamily="34" charset="-120"/>
              </a:rPr>
              <a:t>●  </a:t>
            </a:r>
            <a:pPr indent="0" marL="0">
              <a:lnSpc>
                <a:spcPct val="125000"/>
              </a:lnSpc>
              <a:buNone/>
            </a:pPr>
            <a:r>
              <a:rPr lang="en-US" sz="1450" b="1" dirty="0">
                <a:solidFill>
                  <a:srgbClr val="1D79ED"/>
                </a:solidFill>
                <a:latin typeface="Calibri" pitchFamily="34" charset="0"/>
                <a:ea typeface="Calibri" pitchFamily="34" charset="-122"/>
                <a:cs typeface="Calibri" pitchFamily="34" charset="-120"/>
              </a:rPr>
              <a:t>Limpio y en buen estado — </a:t>
            </a:r>
            <a:pPr indent="0" marL="0">
              <a:lnSpc>
                <a:spcPct val="125000"/>
              </a:lnSpc>
              <a:spcAft>
                <a:spcPts val="1000"/>
              </a:spcAft>
              <a:buNone/>
            </a:pPr>
            <a:r>
              <a:rPr lang="en-US" sz="1450" dirty="0">
                <a:solidFill>
                  <a:srgbClr val="3E3D40"/>
                </a:solidFill>
                <a:latin typeface="Calibri" pitchFamily="34" charset="0"/>
                <a:ea typeface="Calibri" pitchFamily="34" charset="-122"/>
                <a:cs typeface="Calibri" pitchFamily="34" charset="-120"/>
              </a:rPr>
              <a:t> en cada turno — sin manchas, roturas ni desgaste visible. No es estética: es lo primero que ve el cliente de “todo comunica, todo suma”.</a:t>
            </a:r>
            <a:endParaRPr lang="en-US" sz="1450" dirty="0"/>
          </a:p>
          <a:p>
            <a:pPr indent="0" marL="0">
              <a:lnSpc>
                <a:spcPct val="125000"/>
              </a:lnSpc>
              <a:buNone/>
            </a:pPr>
            <a:r>
              <a:rPr lang="en-US" sz="1450" dirty="0">
                <a:solidFill>
                  <a:srgbClr val="1D79ED"/>
                </a:solidFill>
                <a:latin typeface="Calibri" pitchFamily="34" charset="0"/>
                <a:ea typeface="Calibri" pitchFamily="34" charset="-122"/>
                <a:cs typeface="Calibri" pitchFamily="34" charset="-120"/>
              </a:rPr>
              <a:t>●  </a:t>
            </a:r>
            <a:pPr indent="0" marL="0">
              <a:lnSpc>
                <a:spcPct val="125000"/>
              </a:lnSpc>
              <a:buNone/>
            </a:pPr>
            <a:r>
              <a:rPr lang="en-US" sz="1450" b="1" dirty="0">
                <a:solidFill>
                  <a:srgbClr val="1D79ED"/>
                </a:solidFill>
                <a:latin typeface="Calibri" pitchFamily="34" charset="0"/>
                <a:ea typeface="Calibri" pitchFamily="34" charset="-122"/>
                <a:cs typeface="Calibri" pitchFamily="34" charset="-120"/>
              </a:rPr>
              <a:t>Pensado para moverse, no para estar quieto — </a:t>
            </a:r>
            <a:pPr indent="0" marL="0">
              <a:lnSpc>
                <a:spcPct val="125000"/>
              </a:lnSpc>
              <a:spcAft>
                <a:spcPts val="1000"/>
              </a:spcAft>
              <a:buNone/>
            </a:pPr>
            <a:r>
              <a:rPr lang="en-US" sz="1450" dirty="0">
                <a:solidFill>
                  <a:srgbClr val="3E3D40"/>
                </a:solidFill>
                <a:latin typeface="Calibri" pitchFamily="34" charset="0"/>
                <a:ea typeface="Calibri" pitchFamily="34" charset="-122"/>
                <a:cs typeface="Calibri" pitchFamily="34" charset="-120"/>
              </a:rPr>
              <a:t> polo o camiseta + delantal, más prácticos que una prenda rígida pensada para un único puesto.</a:t>
            </a:r>
            <a:endParaRPr lang="en-US" sz="1450" dirty="0"/>
          </a:p>
          <a:p>
            <a:pPr indent="0" marL="0">
              <a:lnSpc>
                <a:spcPct val="125000"/>
              </a:lnSpc>
              <a:buNone/>
            </a:pPr>
            <a:r>
              <a:rPr lang="en-US" sz="1450" dirty="0">
                <a:solidFill>
                  <a:srgbClr val="1D79ED"/>
                </a:solidFill>
                <a:latin typeface="Calibri" pitchFamily="34" charset="0"/>
                <a:ea typeface="Calibri" pitchFamily="34" charset="-122"/>
                <a:cs typeface="Calibri" pitchFamily="34" charset="-120"/>
              </a:rPr>
              <a:t>●  </a:t>
            </a:r>
            <a:pPr indent="0" marL="0">
              <a:lnSpc>
                <a:spcPct val="125000"/>
              </a:lnSpc>
              <a:buNone/>
            </a:pPr>
            <a:r>
              <a:rPr lang="en-US" sz="1450" b="1" dirty="0">
                <a:solidFill>
                  <a:srgbClr val="1D79ED"/>
                </a:solidFill>
                <a:latin typeface="Calibri" pitchFamily="34" charset="0"/>
                <a:ea typeface="Calibri" pitchFamily="34" charset="-122"/>
                <a:cs typeface="Calibri" pitchFamily="34" charset="-120"/>
              </a:rPr>
              <a:t>Calzado cerrado y antideslizante — </a:t>
            </a:r>
            <a:pPr indent="0" marL="0">
              <a:lnSpc>
                <a:spcPct val="125000"/>
              </a:lnSpc>
              <a:spcAft>
                <a:spcPts val="1000"/>
              </a:spcAft>
              <a:buNone/>
            </a:pPr>
            <a:r>
              <a:rPr lang="en-US" sz="1450" dirty="0">
                <a:solidFill>
                  <a:srgbClr val="3E3D40"/>
                </a:solidFill>
                <a:latin typeface="Calibri" pitchFamily="34" charset="0"/>
                <a:ea typeface="Calibri" pitchFamily="34" charset="-122"/>
                <a:cs typeface="Calibri" pitchFamily="34" charset="-120"/>
              </a:rPr>
              <a:t> por motivo real de seguridad: suelo con líquido en barra/cocina, superficies calientes en obrador.</a:t>
            </a:r>
            <a:endParaRPr lang="en-US" sz="1450" dirty="0"/>
          </a:p>
          <a:p>
            <a:pPr indent="0" marL="0">
              <a:lnSpc>
                <a:spcPct val="125000"/>
              </a:lnSpc>
              <a:buNone/>
            </a:pPr>
            <a:r>
              <a:rPr lang="en-US" sz="1450" dirty="0">
                <a:solidFill>
                  <a:srgbClr val="1D79ED"/>
                </a:solidFill>
                <a:latin typeface="Calibri" pitchFamily="34" charset="0"/>
                <a:ea typeface="Calibri" pitchFamily="34" charset="-122"/>
                <a:cs typeface="Calibri" pitchFamily="34" charset="-120"/>
              </a:rPr>
              <a:t>●  </a:t>
            </a:r>
            <a:pPr indent="0" marL="0">
              <a:lnSpc>
                <a:spcPct val="125000"/>
              </a:lnSpc>
              <a:buNone/>
            </a:pPr>
            <a:r>
              <a:rPr lang="en-US" sz="1450" b="1" dirty="0">
                <a:solidFill>
                  <a:srgbClr val="1D79ED"/>
                </a:solidFill>
                <a:latin typeface="Calibri" pitchFamily="34" charset="0"/>
                <a:ea typeface="Calibri" pitchFamily="34" charset="-122"/>
                <a:cs typeface="Calibri" pitchFamily="34" charset="-120"/>
              </a:rPr>
              <a:t>Sin mezclar con ropa personal — </a:t>
            </a:r>
            <a:pPr indent="0" marL="0">
              <a:lnSpc>
                <a:spcPct val="125000"/>
              </a:lnSpc>
              <a:spcAft>
                <a:spcPts val="1000"/>
              </a:spcAft>
              <a:buNone/>
            </a:pPr>
            <a:r>
              <a:rPr lang="en-US" sz="1450" dirty="0">
                <a:solidFill>
                  <a:srgbClr val="3E3D40"/>
                </a:solidFill>
                <a:latin typeface="Calibri" pitchFamily="34" charset="0"/>
                <a:ea typeface="Calibri" pitchFamily="34" charset="-122"/>
                <a:cs typeface="Calibri" pitchFamily="34" charset="-120"/>
              </a:rPr>
              <a:t> que cambie la imagen del conjunto (sudaderas propias, gorras no incluidas).</a:t>
            </a:r>
            <a:endParaRPr lang="en-US" sz="1450" dirty="0"/>
          </a:p>
        </p:txBody>
      </p:sp>
      <p:sp>
        <p:nvSpPr>
          <p:cNvPr id="4" name="Shape 2"/>
          <p:cNvSpPr/>
          <p:nvPr/>
        </p:nvSpPr>
        <p:spPr>
          <a:xfrm>
            <a:off x="548640" y="5212080"/>
            <a:ext cx="10149840" cy="822960"/>
          </a:xfrm>
          <a:prstGeom prst="roundRect">
            <a:avLst>
              <a:gd name="adj" fmla="val 8889"/>
            </a:avLst>
          </a:prstGeom>
          <a:solidFill>
            <a:srgbClr val="E7DCCC"/>
          </a:solidFill>
          <a:ln/>
        </p:spPr>
      </p:sp>
      <p:sp>
        <p:nvSpPr>
          <p:cNvPr id="5" name="Text 3"/>
          <p:cNvSpPr txBox="1"/>
          <p:nvPr/>
        </p:nvSpPr>
        <p:spPr>
          <a:xfrm>
            <a:off x="777240" y="5321808"/>
            <a:ext cx="9692640" cy="640080"/>
          </a:xfrm>
          <a:prstGeom prst="rect">
            <a:avLst/>
          </a:prstGeom>
          <a:noFill/>
          <a:ln/>
        </p:spPr>
        <p:txBody>
          <a:bodyPr wrap="square" rtlCol="0" anchor="ctr"/>
          <a:lstStyle/>
          <a:p>
            <a:pPr indent="0" marL="0">
              <a:buNone/>
            </a:pPr>
            <a:r>
              <a:rPr lang="en-US" sz="1250" b="1" dirty="0">
                <a:solidFill>
                  <a:srgbClr val="E84E27"/>
                </a:solidFill>
                <a:latin typeface="Calibri" pitchFamily="34" charset="0"/>
                <a:ea typeface="Calibri" pitchFamily="34" charset="-122"/>
                <a:cs typeface="Calibri" pitchFamily="34" charset="-120"/>
              </a:rPr>
              <a:t>Pregunta abierta: </a:t>
            </a:r>
            <a:pPr indent="0" marL="0">
              <a:buNone/>
            </a:pPr>
            <a:r>
              <a:rPr lang="en-US" sz="1250" dirty="0">
                <a:solidFill>
                  <a:srgbClr val="3E3D40"/>
                </a:solidFill>
                <a:latin typeface="Calibri" pitchFamily="34" charset="0"/>
                <a:ea typeface="Calibri" pitchFamily="34" charset="-122"/>
                <a:cs typeface="Calibri" pitchFamily="34" charset="-120"/>
              </a:rPr>
              <a:t>¿incluye el uniforme una prenda identificada con la marca (polo/delantal con el nombre), o el criterio es ropa neutra + delantal? Decisión de Propiedad.</a:t>
            </a:r>
            <a:endParaRPr lang="en-US" sz="1250" dirty="0"/>
          </a:p>
        </p:txBody>
      </p:sp>
      <p:sp>
        <p:nvSpPr>
          <p:cNvPr id="6"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Higiene — con motivo real de seguridad alimentaria</a:t>
            </a:r>
            <a:endParaRPr lang="en-US" sz="2600" dirty="0"/>
          </a:p>
        </p:txBody>
      </p:sp>
      <p:sp>
        <p:nvSpPr>
          <p:cNvPr id="3" name="Text 1"/>
          <p:cNvSpPr txBox="1"/>
          <p:nvPr/>
        </p:nvSpPr>
        <p:spPr>
          <a:xfrm>
            <a:off x="548640" y="1371600"/>
            <a:ext cx="10149840" cy="822960"/>
          </a:xfrm>
          <a:prstGeom prst="rect">
            <a:avLst/>
          </a:prstGeom>
          <a:noFill/>
          <a:ln/>
        </p:spPr>
        <p:txBody>
          <a:bodyPr wrap="square" rtlCol="0" anchor="ctr"/>
          <a:lstStyle/>
          <a:p>
            <a:pPr indent="0" marL="0">
              <a:lnSpc>
                <a:spcPct val="120000"/>
              </a:lnSpc>
              <a:buNone/>
            </a:pPr>
            <a:r>
              <a:rPr lang="en-US" sz="1450" b="1" dirty="0">
                <a:solidFill>
                  <a:srgbClr val="E84E27"/>
                </a:solidFill>
                <a:latin typeface="Calibri" pitchFamily="34" charset="0"/>
                <a:ea typeface="Calibri" pitchFamily="34" charset="-122"/>
                <a:cs typeface="Calibri" pitchFamily="34" charset="-120"/>
              </a:rPr>
              <a:t>Tenemos obrador propio y cocina, con producto que se manipula a mano y se sirve directamente al cliente. Esto no es “buena presencia” — es seguridad alimentaria.</a:t>
            </a:r>
            <a:endParaRPr lang="en-US" sz="1450" dirty="0"/>
          </a:p>
        </p:txBody>
      </p:sp>
      <p:sp>
        <p:nvSpPr>
          <p:cNvPr id="4" name="Text 2"/>
          <p:cNvSpPr txBox="1"/>
          <p:nvPr/>
        </p:nvSpPr>
        <p:spPr>
          <a:xfrm>
            <a:off x="548640" y="2331720"/>
            <a:ext cx="10149840" cy="3566160"/>
          </a:xfrm>
          <a:prstGeom prst="rect">
            <a:avLst/>
          </a:prstGeom>
          <a:noFill/>
          <a:ln/>
        </p:spPr>
        <p:txBody>
          <a:bodyPr wrap="square" rtlCol="0" anchor="t"/>
          <a:lstStyle/>
          <a:p>
            <a:pPr marL="342900" indent="-342900">
              <a:lnSpc>
                <a:spcPct val="125000"/>
              </a:lnSpc>
              <a:spcAft>
                <a:spcPts val="1000"/>
              </a:spcAft>
              <a:buSzPct val="100000"/>
              <a:buChar char="●"/>
            </a:pPr>
            <a:r>
              <a:rPr lang="en-US" sz="1450" dirty="0">
                <a:solidFill>
                  <a:srgbClr val="3E3D40"/>
                </a:solidFill>
                <a:latin typeface="Calibri" pitchFamily="34" charset="0"/>
                <a:ea typeface="Calibri" pitchFamily="34" charset="-122"/>
                <a:cs typeface="Calibri" pitchFamily="34" charset="-120"/>
              </a:rPr>
              <a:t>Manos limpias durante todo el servicio — lavado tras baño, residuos o cualquier pausa.</a:t>
            </a:r>
            <a:endParaRPr lang="en-US" sz="1450" dirty="0"/>
          </a:p>
          <a:p>
            <a:pPr marL="342900" indent="-342900">
              <a:lnSpc>
                <a:spcPct val="125000"/>
              </a:lnSpc>
              <a:spcAft>
                <a:spcPts val="1000"/>
              </a:spcAft>
              <a:buSzPct val="100000"/>
              <a:buChar char="●"/>
            </a:pPr>
            <a:r>
              <a:rPr lang="en-US" sz="1450" dirty="0">
                <a:solidFill>
                  <a:srgbClr val="3E3D40"/>
                </a:solidFill>
                <a:latin typeface="Calibri" pitchFamily="34" charset="0"/>
                <a:ea typeface="Calibri" pitchFamily="34" charset="-122"/>
                <a:cs typeface="Calibri" pitchFamily="34" charset="-120"/>
              </a:rPr>
              <a:t>Uñas cortas y limpias, sin esmalte que pueda desprenderse sobre el producto.</a:t>
            </a:r>
            <a:endParaRPr lang="en-US" sz="1450" dirty="0"/>
          </a:p>
          <a:p>
            <a:pPr marL="342900" indent="-342900">
              <a:lnSpc>
                <a:spcPct val="125000"/>
              </a:lnSpc>
              <a:spcAft>
                <a:spcPts val="1000"/>
              </a:spcAft>
              <a:buSzPct val="100000"/>
              <a:buChar char="●"/>
            </a:pPr>
            <a:r>
              <a:rPr lang="en-US" sz="1450" dirty="0">
                <a:solidFill>
                  <a:srgbClr val="3E3D40"/>
                </a:solidFill>
                <a:latin typeface="Calibri" pitchFamily="34" charset="0"/>
                <a:ea typeface="Calibri" pitchFamily="34" charset="-122"/>
                <a:cs typeface="Calibri" pitchFamily="34" charset="-120"/>
              </a:rPr>
              <a:t>Cabello recogido en zona de producción — igual para cualquier persona, hombre o mujer.</a:t>
            </a:r>
            <a:endParaRPr lang="en-US" sz="1450" dirty="0"/>
          </a:p>
          <a:p>
            <a:pPr marL="342900" indent="-342900">
              <a:lnSpc>
                <a:spcPct val="125000"/>
              </a:lnSpc>
              <a:spcAft>
                <a:spcPts val="1000"/>
              </a:spcAft>
              <a:buSzPct val="100000"/>
              <a:buChar char="●"/>
            </a:pPr>
            <a:r>
              <a:rPr lang="en-US" sz="1450" dirty="0">
                <a:solidFill>
                  <a:srgbClr val="3E3D40"/>
                </a:solidFill>
                <a:latin typeface="Calibri" pitchFamily="34" charset="0"/>
                <a:ea typeface="Calibri" pitchFamily="34" charset="-122"/>
                <a:cs typeface="Calibri" pitchFamily="34" charset="-120"/>
              </a:rPr>
              <a:t>Uso responsable del perfume — no compita con los aromas del café y la bollería recién hecha.</a:t>
            </a:r>
            <a:endParaRPr lang="en-US" sz="1450" dirty="0"/>
          </a:p>
          <a:p>
            <a:pPr marL="342900" indent="-342900">
              <a:lnSpc>
                <a:spcPct val="125000"/>
              </a:lnSpc>
              <a:spcAft>
                <a:spcPts val="1000"/>
              </a:spcAft>
              <a:buSzPct val="100000"/>
              <a:buChar char="●"/>
            </a:pPr>
            <a:r>
              <a:rPr lang="en-US" sz="1450" dirty="0">
                <a:solidFill>
                  <a:srgbClr val="3E3D40"/>
                </a:solidFill>
                <a:latin typeface="Calibri" pitchFamily="34" charset="0"/>
                <a:ea typeface="Calibri" pitchFamily="34" charset="-122"/>
                <a:cs typeface="Calibri" pitchFamily="34" charset="-120"/>
              </a:rPr>
              <a:t>Cualquier herida o corte, cubierto antes de manipular producto.</a:t>
            </a:r>
            <a:endParaRPr lang="en-US" sz="14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D"/>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Cuidado personal  ·  Accesorios</a:t>
            </a:r>
            <a:endParaRPr lang="en-US" sz="2600" dirty="0"/>
          </a:p>
        </p:txBody>
      </p:sp>
      <p:sp>
        <p:nvSpPr>
          <p:cNvPr id="3" name="Shape 1"/>
          <p:cNvSpPr/>
          <p:nvPr/>
        </p:nvSpPr>
        <p:spPr>
          <a:xfrm>
            <a:off x="548640" y="1417320"/>
            <a:ext cx="4937760" cy="4572000"/>
          </a:xfrm>
          <a:prstGeom prst="roundRect">
            <a:avLst>
              <a:gd name="adj" fmla="val 2000"/>
            </a:avLst>
          </a:prstGeom>
          <a:solidFill>
            <a:srgbClr val="FFFFFF"/>
          </a:solidFill>
          <a:ln w="19050">
            <a:solidFill>
              <a:srgbClr val="E7DCCC"/>
            </a:solidFill>
            <a:prstDash val="solid"/>
          </a:ln>
        </p:spPr>
      </p:sp>
      <p:sp>
        <p:nvSpPr>
          <p:cNvPr id="4" name="Text 2"/>
          <p:cNvSpPr txBox="1"/>
          <p:nvPr/>
        </p:nvSpPr>
        <p:spPr>
          <a:xfrm>
            <a:off x="822960" y="1645920"/>
            <a:ext cx="4389120" cy="365760"/>
          </a:xfrm>
          <a:prstGeom prst="rect">
            <a:avLst/>
          </a:prstGeom>
          <a:noFill/>
          <a:ln/>
        </p:spPr>
        <p:txBody>
          <a:bodyPr wrap="square" rtlCol="0" anchor="ctr"/>
          <a:lstStyle/>
          <a:p>
            <a:pPr indent="0" marL="0">
              <a:buNone/>
            </a:pPr>
            <a:r>
              <a:rPr lang="en-US" sz="1200" b="1" dirty="0">
                <a:solidFill>
                  <a:srgbClr val="1D79ED"/>
                </a:solidFill>
                <a:latin typeface="Calibri" pitchFamily="34" charset="0"/>
                <a:ea typeface="Calibri" pitchFamily="34" charset="-122"/>
                <a:cs typeface="Calibri" pitchFamily="34" charset="-120"/>
              </a:rPr>
              <a:t>CUIDADO PERSONAL</a:t>
            </a:r>
            <a:endParaRPr lang="en-US" sz="1200" dirty="0"/>
          </a:p>
        </p:txBody>
      </p:sp>
      <p:sp>
        <p:nvSpPr>
          <p:cNvPr id="5" name="Text 3"/>
          <p:cNvSpPr txBox="1"/>
          <p:nvPr/>
        </p:nvSpPr>
        <p:spPr>
          <a:xfrm>
            <a:off x="822960" y="2057400"/>
            <a:ext cx="4389120" cy="3749040"/>
          </a:xfrm>
          <a:prstGeom prst="rect">
            <a:avLst/>
          </a:prstGeom>
          <a:noFill/>
          <a:ln/>
        </p:spPr>
        <p:txBody>
          <a:bodyPr wrap="square" rtlCol="0" anchor="ctr"/>
          <a:lstStyle/>
          <a:p>
            <a:pPr indent="0" marL="0">
              <a:lnSpc>
                <a:spcPct val="125000"/>
              </a:lnSpc>
              <a:buNone/>
            </a:pPr>
            <a:r>
              <a:rPr lang="en-US" sz="1300" dirty="0">
                <a:solidFill>
                  <a:srgbClr val="3E3D40"/>
                </a:solidFill>
                <a:latin typeface="Calibri" pitchFamily="34" charset="0"/>
                <a:ea typeface="Calibri" pitchFamily="34" charset="-122"/>
                <a:cs typeface="Calibri" pitchFamily="34" charset="-120"/>
              </a:rPr>
              <a:t>No definimos un tipo de peinado, vello facial o maquillaje — no tiene base operativa ni de marca, y suele acabar escrito en términos distintos por género.
</a:t>
            </a:r>
            <a:pPr indent="0" marL="0">
              <a:lnSpc>
                <a:spcPct val="125000"/>
              </a:lnSpc>
              <a:buNone/>
            </a:pPr>
            <a:r>
              <a:rPr lang="en-US" sz="1300" b="1" dirty="0">
                <a:solidFill>
                  <a:srgbClr val="E84E27"/>
                </a:solidFill>
                <a:latin typeface="Calibri" pitchFamily="34" charset="0"/>
                <a:ea typeface="Calibri" pitchFamily="34" charset="-122"/>
                <a:cs typeface="Calibri" pitchFamily="34" charset="-120"/>
              </a:rPr>
              <a:t>Único criterio real: </a:t>
            </a:r>
            <a:pPr indent="0" marL="0">
              <a:lnSpc>
                <a:spcPct val="125000"/>
              </a:lnSpc>
              <a:buNone/>
            </a:pPr>
            <a:r>
              <a:rPr lang="en-US" sz="1300" dirty="0">
                <a:solidFill>
                  <a:srgbClr val="3E3D40"/>
                </a:solidFill>
                <a:latin typeface="Calibri" pitchFamily="34" charset="0"/>
                <a:ea typeface="Calibri" pitchFamily="34" charset="-122"/>
                <a:cs typeface="Calibri" pitchFamily="34" charset="-120"/>
              </a:rPr>
              <a:t>todo lo que pueda caer sobre el producto o interferir con manipularlo con seguridad va recogido en zona de producción — mismo criterio para todos. Fuera de ahí: aspecto cuidado y limpio, sin estilo concreto.</a:t>
            </a:r>
            <a:endParaRPr lang="en-US" sz="1300" dirty="0"/>
          </a:p>
        </p:txBody>
      </p:sp>
      <p:sp>
        <p:nvSpPr>
          <p:cNvPr id="6" name="Shape 4"/>
          <p:cNvSpPr/>
          <p:nvPr/>
        </p:nvSpPr>
        <p:spPr>
          <a:xfrm>
            <a:off x="6400800" y="1417320"/>
            <a:ext cx="4937760" cy="4572000"/>
          </a:xfrm>
          <a:prstGeom prst="roundRect">
            <a:avLst>
              <a:gd name="adj" fmla="val 2000"/>
            </a:avLst>
          </a:prstGeom>
          <a:solidFill>
            <a:srgbClr val="FFFFFF"/>
          </a:solidFill>
          <a:ln w="19050">
            <a:solidFill>
              <a:srgbClr val="E7DCCC"/>
            </a:solidFill>
            <a:prstDash val="solid"/>
          </a:ln>
        </p:spPr>
      </p:sp>
      <p:sp>
        <p:nvSpPr>
          <p:cNvPr id="7" name="Text 5"/>
          <p:cNvSpPr txBox="1"/>
          <p:nvPr/>
        </p:nvSpPr>
        <p:spPr>
          <a:xfrm>
            <a:off x="6675120" y="1645920"/>
            <a:ext cx="4389120" cy="365760"/>
          </a:xfrm>
          <a:prstGeom prst="rect">
            <a:avLst/>
          </a:prstGeom>
          <a:noFill/>
          <a:ln/>
        </p:spPr>
        <p:txBody>
          <a:bodyPr wrap="square" rtlCol="0" anchor="ctr"/>
          <a:lstStyle/>
          <a:p>
            <a:pPr indent="0" marL="0">
              <a:buNone/>
            </a:pPr>
            <a:r>
              <a:rPr lang="en-US" sz="1200" b="1" dirty="0">
                <a:solidFill>
                  <a:srgbClr val="1D79ED"/>
                </a:solidFill>
                <a:latin typeface="Calibri" pitchFamily="34" charset="0"/>
                <a:ea typeface="Calibri" pitchFamily="34" charset="-122"/>
                <a:cs typeface="Calibri" pitchFamily="34" charset="-120"/>
              </a:rPr>
              <a:t>ACCESORIOS</a:t>
            </a:r>
            <a:endParaRPr lang="en-US" sz="1200" dirty="0"/>
          </a:p>
        </p:txBody>
      </p:sp>
      <p:sp>
        <p:nvSpPr>
          <p:cNvPr id="8" name="Text 6"/>
          <p:cNvSpPr txBox="1"/>
          <p:nvPr/>
        </p:nvSpPr>
        <p:spPr>
          <a:xfrm>
            <a:off x="6675120" y="2057400"/>
            <a:ext cx="4389120" cy="3749040"/>
          </a:xfrm>
          <a:prstGeom prst="rect">
            <a:avLst/>
          </a:prstGeom>
          <a:noFill/>
          <a:ln/>
        </p:spPr>
        <p:txBody>
          <a:bodyPr wrap="square" rtlCol="0" anchor="t"/>
          <a:lstStyle/>
          <a:p>
            <a:pPr marL="342900" indent="-342900">
              <a:lnSpc>
                <a:spcPct val="125000"/>
              </a:lnSpc>
              <a:spcAft>
                <a:spcPts val="1000"/>
              </a:spcAft>
              <a:buSzPct val="100000"/>
              <a:buChar char="●"/>
            </a:pPr>
            <a:r>
              <a:rPr lang="en-US" sz="1300" dirty="0">
                <a:solidFill>
                  <a:srgbClr val="3E3D40"/>
                </a:solidFill>
                <a:latin typeface="Calibri" pitchFamily="34" charset="0"/>
                <a:ea typeface="Calibri" pitchFamily="34" charset="-122"/>
                <a:cs typeface="Calibri" pitchFamily="34" charset="-120"/>
              </a:rPr>
              <a:t>Nada que caiga en el producto o se enrede en una máquina (pulseras/colgantes largos, anillos voluminosos).</a:t>
            </a:r>
            <a:endParaRPr lang="en-US" sz="1300" dirty="0"/>
          </a:p>
          <a:p>
            <a:pPr marL="342900" indent="-342900">
              <a:lnSpc>
                <a:spcPct val="125000"/>
              </a:lnSpc>
              <a:spcAft>
                <a:spcPts val="1000"/>
              </a:spcAft>
              <a:buSzPct val="100000"/>
              <a:buChar char="●"/>
            </a:pPr>
            <a:r>
              <a:rPr lang="en-US" sz="1300" dirty="0">
                <a:solidFill>
                  <a:srgbClr val="3E3D40"/>
                </a:solidFill>
                <a:latin typeface="Calibri" pitchFamily="34" charset="0"/>
                <a:ea typeface="Calibri" pitchFamily="34" charset="-122"/>
                <a:cs typeface="Calibri" pitchFamily="34" charset="-120"/>
              </a:rPr>
              <a:t>Sin auriculares durante el servicio — rompe con estar disponible y pendiente de la mesa.</a:t>
            </a:r>
            <a:endParaRPr lang="en-US" sz="1300" dirty="0"/>
          </a:p>
          <a:p>
            <a:pPr marL="342900" indent="-342900">
              <a:lnSpc>
                <a:spcPct val="125000"/>
              </a:lnSpc>
              <a:spcAft>
                <a:spcPts val="1000"/>
              </a:spcAft>
              <a:buSzPct val="100000"/>
              <a:buChar char="●"/>
            </a:pPr>
            <a:r>
              <a:rPr lang="en-US" sz="1300" dirty="0">
                <a:solidFill>
                  <a:srgbClr val="3E3D40"/>
                </a:solidFill>
                <a:latin typeface="Calibri" pitchFamily="34" charset="0"/>
                <a:ea typeface="Calibri" pitchFamily="34" charset="-122"/>
                <a:cs typeface="Calibri" pitchFamily="34" charset="-120"/>
              </a:rPr>
              <a:t>El móvil, solo para tareas de trabajo (comandas, WhatsApp de equipo).</a:t>
            </a:r>
            <a:endParaRPr lang="en-US" sz="1300" dirty="0"/>
          </a:p>
        </p:txBody>
      </p:sp>
      <p:sp>
        <p:nvSpPr>
          <p:cNvPr id="9"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Lenguaje corporal  ·  Postura</a:t>
            </a:r>
            <a:endParaRPr lang="en-US" sz="2600" dirty="0"/>
          </a:p>
        </p:txBody>
      </p:sp>
      <p:sp>
        <p:nvSpPr>
          <p:cNvPr id="3" name="Shape 1"/>
          <p:cNvSpPr/>
          <p:nvPr/>
        </p:nvSpPr>
        <p:spPr>
          <a:xfrm>
            <a:off x="548640" y="1417320"/>
            <a:ext cx="4937760" cy="4572000"/>
          </a:xfrm>
          <a:prstGeom prst="roundRect">
            <a:avLst>
              <a:gd name="adj" fmla="val 2000"/>
            </a:avLst>
          </a:prstGeom>
          <a:solidFill>
            <a:srgbClr val="1D79ED"/>
          </a:solidFill>
          <a:ln/>
        </p:spPr>
      </p:sp>
      <p:sp>
        <p:nvSpPr>
          <p:cNvPr id="4" name="Text 2"/>
          <p:cNvSpPr txBox="1"/>
          <p:nvPr/>
        </p:nvSpPr>
        <p:spPr>
          <a:xfrm>
            <a:off x="822960" y="1645920"/>
            <a:ext cx="4389120" cy="365760"/>
          </a:xfrm>
          <a:prstGeom prst="rect">
            <a:avLst/>
          </a:prstGeom>
          <a:noFill/>
          <a:ln/>
        </p:spPr>
        <p:txBody>
          <a:bodyPr wrap="square" rtlCol="0" anchor="ctr"/>
          <a:lstStyle/>
          <a:p>
            <a:pPr indent="0" marL="0">
              <a:buNone/>
            </a:pPr>
            <a:r>
              <a:rPr lang="en-US" sz="1200" b="1" dirty="0">
                <a:solidFill>
                  <a:srgbClr val="E7DCCC"/>
                </a:solidFill>
                <a:latin typeface="Calibri" pitchFamily="34" charset="0"/>
                <a:ea typeface="Calibri" pitchFamily="34" charset="-122"/>
                <a:cs typeface="Calibri" pitchFamily="34" charset="-120"/>
              </a:rPr>
              <a:t>LENGUAJE CORPORAL</a:t>
            </a:r>
            <a:endParaRPr lang="en-US" sz="1200" dirty="0"/>
          </a:p>
        </p:txBody>
      </p:sp>
      <p:sp>
        <p:nvSpPr>
          <p:cNvPr id="5" name="Text 3"/>
          <p:cNvSpPr txBox="1"/>
          <p:nvPr/>
        </p:nvSpPr>
        <p:spPr>
          <a:xfrm>
            <a:off x="822960" y="2057400"/>
            <a:ext cx="4389120" cy="3749040"/>
          </a:xfrm>
          <a:prstGeom prst="rect">
            <a:avLst/>
          </a:prstGeom>
          <a:noFill/>
          <a:ln/>
        </p:spPr>
        <p:txBody>
          <a:bodyPr wrap="square" rtlCol="0" anchor="t"/>
          <a:lstStyle/>
          <a:p>
            <a:pPr indent="0" marL="0">
              <a:lnSpc>
                <a:spcPct val="130000"/>
              </a:lnSpc>
              <a:buNone/>
            </a:pPr>
            <a:r>
              <a:rPr lang="en-US" sz="1300" dirty="0">
                <a:solidFill>
                  <a:srgbClr val="E7DCCC"/>
                </a:solidFill>
                <a:latin typeface="Calibri" pitchFamily="34" charset="0"/>
                <a:ea typeface="Calibri" pitchFamily="34" charset="-122"/>
                <a:cs typeface="Calibri" pitchFamily="34" charset="-120"/>
              </a:rPr>
              <a:t>●  </a:t>
            </a:r>
            <a:pPr indent="0" marL="0">
              <a:lnSpc>
                <a:spcPct val="130000"/>
              </a:lnSpc>
              <a:buNone/>
            </a:pPr>
            <a:r>
              <a:rPr lang="en-US" sz="1300" b="1" dirty="0">
                <a:solidFill>
                  <a:srgbClr val="E7DCCC"/>
                </a:solidFill>
                <a:latin typeface="Calibri" pitchFamily="34" charset="0"/>
                <a:ea typeface="Calibri" pitchFamily="34" charset="-122"/>
                <a:cs typeface="Calibri" pitchFamily="34" charset="-120"/>
              </a:rPr>
              <a:t>Contacto visual natural </a:t>
            </a:r>
            <a:pPr indent="0" marL="0">
              <a:lnSpc>
                <a:spcPct val="130000"/>
              </a:lnSpc>
              <a:spcAft>
                <a:spcPts val="1000"/>
              </a:spcAft>
              <a:buNone/>
            </a:pPr>
            <a:r>
              <a:rPr lang="en-US" sz="1300" dirty="0">
                <a:solidFill>
                  <a:srgbClr val="FFFFFF"/>
                </a:solidFill>
                <a:latin typeface="Calibri" pitchFamily="34" charset="0"/>
                <a:ea typeface="Calibri" pitchFamily="34" charset="-122"/>
                <a:cs typeface="Calibri" pitchFamily="34" charset="-120"/>
              </a:rPr>
              <a:t> al recibir, tomar nota o despedirse.</a:t>
            </a:r>
            <a:endParaRPr lang="en-US" sz="1300" dirty="0"/>
          </a:p>
          <a:p>
            <a:pPr indent="0" marL="0">
              <a:lnSpc>
                <a:spcPct val="130000"/>
              </a:lnSpc>
              <a:buNone/>
            </a:pPr>
            <a:r>
              <a:rPr lang="en-US" sz="1300" dirty="0">
                <a:solidFill>
                  <a:srgbClr val="E7DCCC"/>
                </a:solidFill>
                <a:latin typeface="Calibri" pitchFamily="34" charset="0"/>
                <a:ea typeface="Calibri" pitchFamily="34" charset="-122"/>
                <a:cs typeface="Calibri" pitchFamily="34" charset="-120"/>
              </a:rPr>
              <a:t>●  </a:t>
            </a:r>
            <a:pPr indent="0" marL="0">
              <a:lnSpc>
                <a:spcPct val="130000"/>
              </a:lnSpc>
              <a:buNone/>
            </a:pPr>
            <a:r>
              <a:rPr lang="en-US" sz="1300" b="1" dirty="0">
                <a:solidFill>
                  <a:srgbClr val="E7DCCC"/>
                </a:solidFill>
                <a:latin typeface="Calibri" pitchFamily="34" charset="0"/>
                <a:ea typeface="Calibri" pitchFamily="34" charset="-122"/>
                <a:cs typeface="Calibri" pitchFamily="34" charset="-120"/>
              </a:rPr>
              <a:t>Sonreír de forma genuina </a:t>
            </a:r>
            <a:pPr indent="0" marL="0">
              <a:lnSpc>
                <a:spcPct val="130000"/>
              </a:lnSpc>
              <a:spcAft>
                <a:spcPts val="1000"/>
              </a:spcAft>
              <a:buNone/>
            </a:pPr>
            <a:r>
              <a:rPr lang="en-US" sz="1300" dirty="0">
                <a:solidFill>
                  <a:srgbClr val="FFFFFF"/>
                </a:solidFill>
                <a:latin typeface="Calibri" pitchFamily="34" charset="0"/>
                <a:ea typeface="Calibri" pitchFamily="34" charset="-122"/>
                <a:cs typeface="Calibri" pitchFamily="34" charset="-120"/>
              </a:rPr>
              <a:t>, no como gesto automático.</a:t>
            </a:r>
            <a:endParaRPr lang="en-US" sz="1300" dirty="0"/>
          </a:p>
          <a:p>
            <a:pPr indent="0" marL="0">
              <a:lnSpc>
                <a:spcPct val="130000"/>
              </a:lnSpc>
              <a:buNone/>
            </a:pPr>
            <a:r>
              <a:rPr lang="en-US" sz="1300" dirty="0">
                <a:solidFill>
                  <a:srgbClr val="E7DCCC"/>
                </a:solidFill>
                <a:latin typeface="Calibri" pitchFamily="34" charset="0"/>
                <a:ea typeface="Calibri" pitchFamily="34" charset="-122"/>
                <a:cs typeface="Calibri" pitchFamily="34" charset="-120"/>
              </a:rPr>
              <a:t>●  </a:t>
            </a:r>
            <a:pPr indent="0" marL="0">
              <a:lnSpc>
                <a:spcPct val="130000"/>
              </a:lnSpc>
              <a:buNone/>
            </a:pPr>
            <a:r>
              <a:rPr lang="en-US" sz="1300" b="1" dirty="0">
                <a:solidFill>
                  <a:srgbClr val="E7DCCC"/>
                </a:solidFill>
                <a:latin typeface="Calibri" pitchFamily="34" charset="0"/>
                <a:ea typeface="Calibri" pitchFamily="34" charset="-122"/>
                <a:cs typeface="Calibri" pitchFamily="34" charset="-120"/>
              </a:rPr>
              <a:t>Desplazarse con calma </a:t>
            </a:r>
            <a:pPr indent="0" marL="0">
              <a:lnSpc>
                <a:spcPct val="130000"/>
              </a:lnSpc>
              <a:spcAft>
                <a:spcPts val="1000"/>
              </a:spcAft>
              <a:buNone/>
            </a:pPr>
            <a:r>
              <a:rPr lang="en-US" sz="1300" dirty="0">
                <a:solidFill>
                  <a:srgbClr val="FFFFFF"/>
                </a:solidFill>
                <a:latin typeface="Calibri" pitchFamily="34" charset="0"/>
                <a:ea typeface="Calibri" pitchFamily="34" charset="-122"/>
                <a:cs typeface="Calibri" pitchFamily="34" charset="-120"/>
              </a:rPr>
              <a:t>, incluso en hora punta.</a:t>
            </a:r>
            <a:endParaRPr lang="en-US" sz="1300" dirty="0"/>
          </a:p>
          <a:p>
            <a:pPr indent="0" marL="0">
              <a:lnSpc>
                <a:spcPct val="130000"/>
              </a:lnSpc>
              <a:buNone/>
            </a:pPr>
            <a:r>
              <a:rPr lang="en-US" sz="1300" dirty="0">
                <a:solidFill>
                  <a:srgbClr val="E7DCCC"/>
                </a:solidFill>
                <a:latin typeface="Calibri" pitchFamily="34" charset="0"/>
                <a:ea typeface="Calibri" pitchFamily="34" charset="-122"/>
                <a:cs typeface="Calibri" pitchFamily="34" charset="-120"/>
              </a:rPr>
              <a:t>●  </a:t>
            </a:r>
            <a:pPr indent="0" marL="0">
              <a:lnSpc>
                <a:spcPct val="130000"/>
              </a:lnSpc>
              <a:buNone/>
            </a:pPr>
            <a:r>
              <a:rPr lang="en-US" sz="1300" b="1" dirty="0">
                <a:solidFill>
                  <a:srgbClr val="E7DCCC"/>
                </a:solidFill>
                <a:latin typeface="Calibri" pitchFamily="34" charset="0"/>
                <a:ea typeface="Calibri" pitchFamily="34" charset="-122"/>
                <a:cs typeface="Calibri" pitchFamily="34" charset="-120"/>
              </a:rPr>
              <a:t>Mostrar disponibilidad </a:t>
            </a:r>
            <a:pPr indent="0" marL="0">
              <a:lnSpc>
                <a:spcPct val="130000"/>
              </a:lnSpc>
              <a:spcAft>
                <a:spcPts val="1000"/>
              </a:spcAft>
              <a:buNone/>
            </a:pPr>
            <a:r>
              <a:rPr lang="en-US" sz="1300" dirty="0">
                <a:solidFill>
                  <a:srgbClr val="FFFFFF"/>
                </a:solidFill>
                <a:latin typeface="Calibri" pitchFamily="34" charset="0"/>
                <a:ea typeface="Calibri" pitchFamily="34" charset="-122"/>
                <a:cs typeface="Calibri" pitchFamily="34" charset="-120"/>
              </a:rPr>
              <a:t> aunque se esté ocupado — una mirada, un “ahora voy”.</a:t>
            </a:r>
            <a:endParaRPr lang="en-US" sz="1300" dirty="0"/>
          </a:p>
        </p:txBody>
      </p:sp>
      <p:sp>
        <p:nvSpPr>
          <p:cNvPr id="6" name="Shape 4"/>
          <p:cNvSpPr/>
          <p:nvPr/>
        </p:nvSpPr>
        <p:spPr>
          <a:xfrm>
            <a:off x="6400800" y="1417320"/>
            <a:ext cx="4937760" cy="4572000"/>
          </a:xfrm>
          <a:prstGeom prst="roundRect">
            <a:avLst>
              <a:gd name="adj" fmla="val 2000"/>
            </a:avLst>
          </a:prstGeom>
          <a:solidFill>
            <a:srgbClr val="FFFFFF"/>
          </a:solidFill>
          <a:ln w="19050">
            <a:solidFill>
              <a:srgbClr val="E7DCCC"/>
            </a:solidFill>
            <a:prstDash val="solid"/>
          </a:ln>
        </p:spPr>
      </p:sp>
      <p:sp>
        <p:nvSpPr>
          <p:cNvPr id="7" name="Text 5"/>
          <p:cNvSpPr txBox="1"/>
          <p:nvPr/>
        </p:nvSpPr>
        <p:spPr>
          <a:xfrm>
            <a:off x="6675120" y="1645920"/>
            <a:ext cx="4389120" cy="365760"/>
          </a:xfrm>
          <a:prstGeom prst="rect">
            <a:avLst/>
          </a:prstGeom>
          <a:noFill/>
          <a:ln/>
        </p:spPr>
        <p:txBody>
          <a:bodyPr wrap="square" rtlCol="0" anchor="ctr"/>
          <a:lstStyle/>
          <a:p>
            <a:pPr indent="0" marL="0">
              <a:buNone/>
            </a:pPr>
            <a:r>
              <a:rPr lang="en-US" sz="1200" b="1" dirty="0">
                <a:solidFill>
                  <a:srgbClr val="1D79ED"/>
                </a:solidFill>
                <a:latin typeface="Calibri" pitchFamily="34" charset="0"/>
                <a:ea typeface="Calibri" pitchFamily="34" charset="-122"/>
                <a:cs typeface="Calibri" pitchFamily="34" charset="-120"/>
              </a:rPr>
              <a:t>POSTURA</a:t>
            </a:r>
            <a:endParaRPr lang="en-US" sz="1200" dirty="0"/>
          </a:p>
        </p:txBody>
      </p:sp>
      <p:sp>
        <p:nvSpPr>
          <p:cNvPr id="8" name="Text 6"/>
          <p:cNvSpPr txBox="1"/>
          <p:nvPr/>
        </p:nvSpPr>
        <p:spPr>
          <a:xfrm>
            <a:off x="6675120" y="2057400"/>
            <a:ext cx="4389120" cy="3749040"/>
          </a:xfrm>
          <a:prstGeom prst="rect">
            <a:avLst/>
          </a:prstGeom>
          <a:noFill/>
          <a:ln/>
        </p:spPr>
        <p:txBody>
          <a:bodyPr wrap="square" rtlCol="0" anchor="t"/>
          <a:lstStyle/>
          <a:p>
            <a:pPr marL="342900" indent="-342900">
              <a:lnSpc>
                <a:spcPct val="130000"/>
              </a:lnSpc>
              <a:spcAft>
                <a:spcPts val="1000"/>
              </a:spcAft>
              <a:buSzPct val="100000"/>
              <a:buChar char="●"/>
            </a:pPr>
            <a:r>
              <a:rPr lang="en-US" sz="1300" dirty="0">
                <a:solidFill>
                  <a:srgbClr val="3E3D40"/>
                </a:solidFill>
                <a:latin typeface="Calibri" pitchFamily="34" charset="0"/>
                <a:ea typeface="Calibri" pitchFamily="34" charset="-122"/>
                <a:cs typeface="Calibri" pitchFamily="34" charset="-120"/>
              </a:rPr>
              <a:t>Erguida y relajada, no rígida ni desgarbada.</a:t>
            </a:r>
            <a:endParaRPr lang="en-US" sz="1300" dirty="0"/>
          </a:p>
          <a:p>
            <a:pPr marL="342900" indent="-342900">
              <a:lnSpc>
                <a:spcPct val="130000"/>
              </a:lnSpc>
              <a:spcAft>
                <a:spcPts val="1000"/>
              </a:spcAft>
              <a:buSzPct val="100000"/>
              <a:buChar char="●"/>
            </a:pPr>
            <a:r>
              <a:rPr lang="en-US" sz="1300" dirty="0">
                <a:solidFill>
                  <a:srgbClr val="3E3D40"/>
                </a:solidFill>
                <a:latin typeface="Calibri" pitchFamily="34" charset="0"/>
                <a:ea typeface="Calibri" pitchFamily="34" charset="-122"/>
                <a:cs typeface="Calibri" pitchFamily="34" charset="-120"/>
              </a:rPr>
              <a:t>No cruzar los brazos frente al cliente ni apoyarse en el mobiliario.</a:t>
            </a:r>
            <a:endParaRPr lang="en-US" sz="1300" dirty="0"/>
          </a:p>
          <a:p>
            <a:pPr marL="342900" indent="-342900">
              <a:lnSpc>
                <a:spcPct val="130000"/>
              </a:lnSpc>
              <a:spcAft>
                <a:spcPts val="1000"/>
              </a:spcAft>
              <a:buSzPct val="100000"/>
              <a:buChar char="●"/>
            </a:pPr>
            <a:r>
              <a:rPr lang="en-US" sz="1300" dirty="0">
                <a:solidFill>
                  <a:srgbClr val="3E3D40"/>
                </a:solidFill>
                <a:latin typeface="Calibri" pitchFamily="34" charset="0"/>
                <a:ea typeface="Calibri" pitchFamily="34" charset="-122"/>
                <a:cs typeface="Calibri" pitchFamily="34" charset="-120"/>
              </a:rPr>
              <a:t>No dar la espalda al cliente para hablar entre compañeros.</a:t>
            </a:r>
            <a:endParaRPr lang="en-US" sz="1300" dirty="0"/>
          </a:p>
          <a:p>
            <a:pPr marL="342900" indent="-342900">
              <a:lnSpc>
                <a:spcPct val="130000"/>
              </a:lnSpc>
              <a:spcAft>
                <a:spcPts val="1000"/>
              </a:spcAft>
              <a:buSzPct val="100000"/>
              <a:buChar char="●"/>
            </a:pPr>
            <a:r>
              <a:rPr lang="en-US" sz="1300" dirty="0">
                <a:solidFill>
                  <a:srgbClr val="3E3D40"/>
                </a:solidFill>
                <a:latin typeface="Calibri" pitchFamily="34" charset="0"/>
                <a:ea typeface="Calibri" pitchFamily="34" charset="-122"/>
                <a:cs typeface="Calibri" pitchFamily="34" charset="-120"/>
              </a:rPr>
              <a:t>Actitud activa durante todo el servicio.</a:t>
            </a:r>
            <a:endParaRPr lang="en-US" sz="1300" dirty="0"/>
          </a:p>
        </p:txBody>
      </p:sp>
      <p:sp>
        <p:nvSpPr>
          <p:cNvPr id="9"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1371600"/>
            <a:ext cx="1188720" cy="1188720"/>
          </a:xfrm>
          <a:prstGeom prst="ellipse">
            <a:avLst/>
          </a:prstGeom>
          <a:solidFill>
            <a:srgbClr val="E84E27"/>
          </a:solidFill>
          <a:ln/>
        </p:spPr>
      </p:sp>
      <p:sp>
        <p:nvSpPr>
          <p:cNvPr id="3" name="Text 1"/>
          <p:cNvSpPr/>
          <p:nvPr/>
        </p:nvSpPr>
        <p:spPr>
          <a:xfrm>
            <a:off x="548640" y="1371600"/>
            <a:ext cx="1188720" cy="1188720"/>
          </a:xfrm>
          <a:prstGeom prst="rect">
            <a:avLst/>
          </a:prstGeom>
          <a:noFill/>
          <a:ln/>
        </p:spPr>
        <p:txBody>
          <a:bodyPr wrap="square" rtlCol="0" anchor="ctr"/>
          <a:lstStyle/>
          <a:p>
            <a:pPr algn="ctr" indent="0" marL="0">
              <a:buNone/>
            </a:pPr>
            <a:r>
              <a:rPr lang="en-US" sz="4400" b="1" dirty="0">
                <a:solidFill>
                  <a:srgbClr val="FFFFFF"/>
                </a:solidFill>
                <a:latin typeface="GT Alpina" pitchFamily="34" charset="0"/>
                <a:ea typeface="GT Alpina" pitchFamily="34" charset="-122"/>
                <a:cs typeface="GT Alpina" pitchFamily="34" charset="-120"/>
              </a:rPr>
              <a:t>7</a:t>
            </a:r>
            <a:endParaRPr lang="en-US" sz="4400" dirty="0"/>
          </a:p>
        </p:txBody>
      </p:sp>
      <p:sp>
        <p:nvSpPr>
          <p:cNvPr id="4" name="Text 0"/>
          <p:cNvSpPr/>
          <p:nvPr>
            <p:ph idx="100" type="title" hasCustomPrompt="1"/>
          </p:nvPr>
        </p:nvSpPr>
        <p:spPr>
          <a:xfrm>
            <a:off x="548640" y="3017520"/>
            <a:ext cx="11064240" cy="1463040"/>
          </a:xfrm>
          <a:prstGeom prst="rect">
            <a:avLst/>
          </a:prstGeom>
          <a:noFill/>
          <a:ln/>
        </p:spPr>
        <p:txBody>
          <a:bodyPr wrap="square" rtlCol="0" anchor="t"/>
          <a:lstStyle/>
          <a:p>
            <a:pPr algn="l" indent="0" marL="0">
              <a:buNone/>
            </a:pPr>
            <a:r>
              <a:rPr lang="en-US" sz="3800" b="1" dirty="0">
                <a:solidFill>
                  <a:srgbClr val="FFFFFF"/>
                </a:solidFill>
                <a:latin typeface="GT Alpina" pitchFamily="34" charset="0"/>
                <a:ea typeface="GT Alpina" pitchFamily="34" charset="-122"/>
                <a:cs typeface="GT Alpina" pitchFamily="34" charset="-120"/>
              </a:rPr>
              <a:t>LAS PERSONAS QUE</a:t>
            </a:r>
            <a:endParaRPr lang="en-US" sz="3800" dirty="0"/>
          </a:p>
          <a:p>
            <a:pPr algn="l" indent="0" marL="0">
              <a:buNone/>
            </a:pPr>
            <a:r>
              <a:rPr lang="en-US" sz="3800" b="1" dirty="0">
                <a:solidFill>
                  <a:srgbClr val="FFFFFF"/>
                </a:solidFill>
                <a:latin typeface="GT Alpina" pitchFamily="34" charset="0"/>
                <a:ea typeface="GT Alpina" pitchFamily="34" charset="-122"/>
                <a:cs typeface="GT Alpina" pitchFamily="34" charset="-120"/>
              </a:rPr>
              <a:t>CONSTRUYEN ESTA CULTURA</a:t>
            </a:r>
            <a:endParaRPr lang="en-US" sz="3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7.a — Criterios de selección: camarero/a</a:t>
            </a:r>
            <a:endParaRPr lang="en-US" sz="2600" dirty="0"/>
          </a:p>
        </p:txBody>
      </p:sp>
      <p:sp>
        <p:nvSpPr>
          <p:cNvPr id="3" name="Text 1"/>
          <p:cNvSpPr txBox="1"/>
          <p:nvPr/>
        </p:nvSpPr>
        <p:spPr>
          <a:xfrm>
            <a:off x="548640" y="1371600"/>
            <a:ext cx="10149840" cy="731520"/>
          </a:xfrm>
          <a:prstGeom prst="rect">
            <a:avLst/>
          </a:prstGeom>
          <a:noFill/>
          <a:ln/>
        </p:spPr>
        <p:txBody>
          <a:bodyPr wrap="square" rtlCol="0" anchor="ctr"/>
          <a:lstStyle/>
          <a:p>
            <a:pPr indent="0" marL="0">
              <a:lnSpc>
                <a:spcPct val="120000"/>
              </a:lnSpc>
              <a:buNone/>
            </a:pPr>
            <a:r>
              <a:rPr lang="en-US" sz="1450" b="1" dirty="0">
                <a:solidFill>
                  <a:srgbClr val="1D79ED"/>
                </a:solidFill>
                <a:latin typeface="Calibri" pitchFamily="34" charset="0"/>
                <a:ea typeface="Calibri" pitchFamily="34" charset="-122"/>
                <a:cs typeface="Calibri" pitchFamily="34" charset="-120"/>
              </a:rPr>
              <a:t>Un único perfil real que contratar: </a:t>
            </a:r>
            <a:pPr indent="0" marL="0">
              <a:lnSpc>
                <a:spcPct val="120000"/>
              </a:lnSpc>
              <a:buNone/>
            </a:pPr>
            <a:r>
              <a:rPr lang="en-US" sz="1450" dirty="0">
                <a:solidFill>
                  <a:srgbClr val="3E3D40"/>
                </a:solidFill>
                <a:latin typeface="Calibri" pitchFamily="34" charset="0"/>
                <a:ea typeface="Calibri" pitchFamily="34" charset="-122"/>
                <a:cs typeface="Calibri" pitchFamily="34" charset="-120"/>
              </a:rPr>
              <a:t>camarero o camarera polivalente, capaz de rotar entre atención, barra y obrador en el mismo turno. El 95% de nuestras contrataciones.</a:t>
            </a:r>
            <a:endParaRPr lang="en-US" sz="1450" dirty="0"/>
          </a:p>
        </p:txBody>
      </p:sp>
      <p:sp>
        <p:nvSpPr>
          <p:cNvPr id="4" name="Shape 2"/>
          <p:cNvSpPr/>
          <p:nvPr/>
        </p:nvSpPr>
        <p:spPr>
          <a:xfrm>
            <a:off x="548640" y="2286000"/>
            <a:ext cx="457200" cy="457200"/>
          </a:xfrm>
          <a:prstGeom prst="ellipse">
            <a:avLst/>
          </a:prstGeom>
          <a:solidFill>
            <a:srgbClr val="1D79ED"/>
          </a:solidFill>
          <a:ln/>
        </p:spPr>
      </p:sp>
      <p:sp>
        <p:nvSpPr>
          <p:cNvPr id="5" name="Text 3"/>
          <p:cNvSpPr/>
          <p:nvPr/>
        </p:nvSpPr>
        <p:spPr>
          <a:xfrm>
            <a:off x="548640" y="2286000"/>
            <a:ext cx="457200" cy="457200"/>
          </a:xfrm>
          <a:prstGeom prst="rect">
            <a:avLst/>
          </a:prstGeom>
          <a:noFill/>
          <a:ln/>
        </p:spPr>
        <p:txBody>
          <a:bodyPr wrap="square" rtlCol="0" anchor="ctr"/>
          <a:lstStyle/>
          <a:p>
            <a:pPr algn="ctr" indent="0" marL="0">
              <a:buNone/>
            </a:pPr>
            <a:r>
              <a:rPr lang="en-US" sz="1600" b="1" dirty="0">
                <a:solidFill>
                  <a:srgbClr val="FFFFFF"/>
                </a:solidFill>
                <a:latin typeface="GT Alpina" pitchFamily="34" charset="0"/>
                <a:ea typeface="GT Alpina" pitchFamily="34" charset="-122"/>
                <a:cs typeface="GT Alpina" pitchFamily="34" charset="-120"/>
              </a:rPr>
              <a:t>1</a:t>
            </a:r>
            <a:endParaRPr lang="en-US" sz="1600" dirty="0"/>
          </a:p>
        </p:txBody>
      </p:sp>
      <p:sp>
        <p:nvSpPr>
          <p:cNvPr id="6" name="Text 4"/>
          <p:cNvSpPr txBox="1"/>
          <p:nvPr/>
        </p:nvSpPr>
        <p:spPr>
          <a:xfrm>
            <a:off x="1188720" y="2240280"/>
            <a:ext cx="10058400" cy="868680"/>
          </a:xfrm>
          <a:prstGeom prst="rect">
            <a:avLst/>
          </a:prstGeom>
          <a:noFill/>
          <a:ln/>
        </p:spPr>
        <p:txBody>
          <a:bodyPr wrap="square" rtlCol="0" anchor="t"/>
          <a:lstStyle/>
          <a:p>
            <a:pPr indent="0" marL="0">
              <a:lnSpc>
                <a:spcPct val="118000"/>
              </a:lnSpc>
              <a:buNone/>
            </a:pPr>
            <a:r>
              <a:rPr lang="en-US" sz="1300" b="1" dirty="0">
                <a:solidFill>
                  <a:srgbClr val="3E3D40"/>
                </a:solidFill>
                <a:latin typeface="Calibri" pitchFamily="34" charset="0"/>
                <a:ea typeface="Calibri" pitchFamily="34" charset="-122"/>
                <a:cs typeface="Calibri" pitchFamily="34" charset="-120"/>
              </a:rPr>
              <a:t>Actitud de servicio por encima de experiencia técnica. </a:t>
            </a:r>
            <a:pPr indent="0" marL="0">
              <a:lnSpc>
                <a:spcPct val="118000"/>
              </a:lnSpc>
              <a:buNone/>
            </a:pPr>
            <a:r>
              <a:rPr lang="en-US" sz="1300" dirty="0">
                <a:solidFill>
                  <a:srgbClr val="5A5A5C"/>
                </a:solidFill>
                <a:latin typeface="Calibri" pitchFamily="34" charset="0"/>
                <a:ea typeface="Calibri" pitchFamily="34" charset="-122"/>
                <a:cs typeface="Calibri" pitchFamily="34" charset="-120"/>
              </a:rPr>
              <a:t>Las habilidades se enseñan en el onboarding; la disposición a cuidar de quien tenemos delante, no tan rápido.</a:t>
            </a:r>
            <a:endParaRPr lang="en-US" sz="1300" dirty="0"/>
          </a:p>
        </p:txBody>
      </p:sp>
      <p:sp>
        <p:nvSpPr>
          <p:cNvPr id="7" name="Shape 5"/>
          <p:cNvSpPr/>
          <p:nvPr/>
        </p:nvSpPr>
        <p:spPr>
          <a:xfrm>
            <a:off x="548640" y="3291840"/>
            <a:ext cx="457200" cy="457200"/>
          </a:xfrm>
          <a:prstGeom prst="ellipse">
            <a:avLst/>
          </a:prstGeom>
          <a:solidFill>
            <a:srgbClr val="1D79ED"/>
          </a:solidFill>
          <a:ln/>
        </p:spPr>
      </p:sp>
      <p:sp>
        <p:nvSpPr>
          <p:cNvPr id="8" name="Text 6"/>
          <p:cNvSpPr/>
          <p:nvPr/>
        </p:nvSpPr>
        <p:spPr>
          <a:xfrm>
            <a:off x="548640" y="3291840"/>
            <a:ext cx="457200" cy="457200"/>
          </a:xfrm>
          <a:prstGeom prst="rect">
            <a:avLst/>
          </a:prstGeom>
          <a:noFill/>
          <a:ln/>
        </p:spPr>
        <p:txBody>
          <a:bodyPr wrap="square" rtlCol="0" anchor="ctr"/>
          <a:lstStyle/>
          <a:p>
            <a:pPr algn="ctr" indent="0" marL="0">
              <a:buNone/>
            </a:pPr>
            <a:r>
              <a:rPr lang="en-US" sz="1600" b="1" dirty="0">
                <a:solidFill>
                  <a:srgbClr val="FFFFFF"/>
                </a:solidFill>
                <a:latin typeface="GT Alpina" pitchFamily="34" charset="0"/>
                <a:ea typeface="GT Alpina" pitchFamily="34" charset="-122"/>
                <a:cs typeface="GT Alpina" pitchFamily="34" charset="-120"/>
              </a:rPr>
              <a:t>2</a:t>
            </a:r>
            <a:endParaRPr lang="en-US" sz="1600" dirty="0"/>
          </a:p>
        </p:txBody>
      </p:sp>
      <p:sp>
        <p:nvSpPr>
          <p:cNvPr id="9" name="Text 7"/>
          <p:cNvSpPr txBox="1"/>
          <p:nvPr/>
        </p:nvSpPr>
        <p:spPr>
          <a:xfrm>
            <a:off x="1188720" y="3246120"/>
            <a:ext cx="10058400" cy="868680"/>
          </a:xfrm>
          <a:prstGeom prst="rect">
            <a:avLst/>
          </a:prstGeom>
          <a:noFill/>
          <a:ln/>
        </p:spPr>
        <p:txBody>
          <a:bodyPr wrap="square" rtlCol="0" anchor="t"/>
          <a:lstStyle/>
          <a:p>
            <a:pPr indent="0" marL="0">
              <a:lnSpc>
                <a:spcPct val="118000"/>
              </a:lnSpc>
              <a:buNone/>
            </a:pPr>
            <a:r>
              <a:rPr lang="en-US" sz="1300" b="1" dirty="0">
                <a:solidFill>
                  <a:srgbClr val="3E3D40"/>
                </a:solidFill>
                <a:latin typeface="Calibri" pitchFamily="34" charset="0"/>
                <a:ea typeface="Calibri" pitchFamily="34" charset="-122"/>
                <a:cs typeface="Calibri" pitchFamily="34" charset="-120"/>
              </a:rPr>
              <a:t>Comodidad real con la rotación, no solo aceptación de la idea. </a:t>
            </a:r>
            <a:pPr indent="0" marL="0">
              <a:lnSpc>
                <a:spcPct val="118000"/>
              </a:lnSpc>
              <a:buNone/>
            </a:pPr>
            <a:r>
              <a:rPr lang="en-US" sz="1300" dirty="0">
                <a:solidFill>
                  <a:srgbClr val="5A5A5C"/>
                </a:solidFill>
                <a:latin typeface="Calibri" pitchFamily="34" charset="0"/>
                <a:ea typeface="Calibri" pitchFamily="34" charset="-122"/>
                <a:cs typeface="Calibri" pitchFamily="34" charset="-120"/>
              </a:rPr>
              <a:t>Que no le pese pasar de barra a mesa a obrador en el mismo turno — pregunta directa en entrevista.</a:t>
            </a:r>
            <a:endParaRPr lang="en-US" sz="1300" dirty="0"/>
          </a:p>
        </p:txBody>
      </p:sp>
      <p:sp>
        <p:nvSpPr>
          <p:cNvPr id="10" name="Shape 8"/>
          <p:cNvSpPr/>
          <p:nvPr/>
        </p:nvSpPr>
        <p:spPr>
          <a:xfrm>
            <a:off x="548640" y="4297680"/>
            <a:ext cx="457200" cy="457200"/>
          </a:xfrm>
          <a:prstGeom prst="ellipse">
            <a:avLst/>
          </a:prstGeom>
          <a:solidFill>
            <a:srgbClr val="1D79ED"/>
          </a:solidFill>
          <a:ln/>
        </p:spPr>
      </p:sp>
      <p:sp>
        <p:nvSpPr>
          <p:cNvPr id="11" name="Text 9"/>
          <p:cNvSpPr/>
          <p:nvPr/>
        </p:nvSpPr>
        <p:spPr>
          <a:xfrm>
            <a:off x="548640" y="4297680"/>
            <a:ext cx="457200" cy="457200"/>
          </a:xfrm>
          <a:prstGeom prst="rect">
            <a:avLst/>
          </a:prstGeom>
          <a:noFill/>
          <a:ln/>
        </p:spPr>
        <p:txBody>
          <a:bodyPr wrap="square" rtlCol="0" anchor="ctr"/>
          <a:lstStyle/>
          <a:p>
            <a:pPr algn="ctr" indent="0" marL="0">
              <a:buNone/>
            </a:pPr>
            <a:r>
              <a:rPr lang="en-US" sz="1600" b="1" dirty="0">
                <a:solidFill>
                  <a:srgbClr val="FFFFFF"/>
                </a:solidFill>
                <a:latin typeface="GT Alpina" pitchFamily="34" charset="0"/>
                <a:ea typeface="GT Alpina" pitchFamily="34" charset="-122"/>
                <a:cs typeface="GT Alpina" pitchFamily="34" charset="-120"/>
              </a:rPr>
              <a:t>3</a:t>
            </a:r>
            <a:endParaRPr lang="en-US" sz="1600" dirty="0"/>
          </a:p>
        </p:txBody>
      </p:sp>
      <p:sp>
        <p:nvSpPr>
          <p:cNvPr id="12" name="Text 10"/>
          <p:cNvSpPr txBox="1"/>
          <p:nvPr/>
        </p:nvSpPr>
        <p:spPr>
          <a:xfrm>
            <a:off x="1188720" y="4251960"/>
            <a:ext cx="10058400" cy="868680"/>
          </a:xfrm>
          <a:prstGeom prst="rect">
            <a:avLst/>
          </a:prstGeom>
          <a:noFill/>
          <a:ln/>
        </p:spPr>
        <p:txBody>
          <a:bodyPr wrap="square" rtlCol="0" anchor="t"/>
          <a:lstStyle/>
          <a:p>
            <a:pPr indent="0" marL="0">
              <a:lnSpc>
                <a:spcPct val="118000"/>
              </a:lnSpc>
              <a:buNone/>
            </a:pPr>
            <a:r>
              <a:rPr lang="en-US" sz="1300" b="1" dirty="0">
                <a:solidFill>
                  <a:srgbClr val="3E3D40"/>
                </a:solidFill>
                <a:latin typeface="Calibri" pitchFamily="34" charset="0"/>
                <a:ea typeface="Calibri" pitchFamily="34" charset="-122"/>
                <a:cs typeface="Calibri" pitchFamily="34" charset="-120"/>
              </a:rPr>
              <a:t>Curiosidad por el producto, no conocimiento previo. </a:t>
            </a:r>
            <a:pPr indent="0" marL="0">
              <a:lnSpc>
                <a:spcPct val="118000"/>
              </a:lnSpc>
              <a:buNone/>
            </a:pPr>
            <a:r>
              <a:rPr lang="en-US" sz="1300" dirty="0">
                <a:solidFill>
                  <a:srgbClr val="5A5A5C"/>
                </a:solidFill>
                <a:latin typeface="Calibri" pitchFamily="34" charset="0"/>
                <a:ea typeface="Calibri" pitchFamily="34" charset="-122"/>
                <a:cs typeface="Calibri" pitchFamily="34" charset="-120"/>
              </a:rPr>
              <a:t>El conocimiento se forma aquí dentro. Valoramos si le interesa de verdad el café de especialidad.</a:t>
            </a:r>
            <a:endParaRPr lang="en-US" sz="1300" dirty="0"/>
          </a:p>
        </p:txBody>
      </p:sp>
      <p:sp>
        <p:nvSpPr>
          <p:cNvPr id="13" name="Shape 11"/>
          <p:cNvSpPr/>
          <p:nvPr/>
        </p:nvSpPr>
        <p:spPr>
          <a:xfrm>
            <a:off x="548640" y="5303520"/>
            <a:ext cx="457200" cy="457200"/>
          </a:xfrm>
          <a:prstGeom prst="ellipse">
            <a:avLst/>
          </a:prstGeom>
          <a:solidFill>
            <a:srgbClr val="1D79ED"/>
          </a:solidFill>
          <a:ln/>
        </p:spPr>
      </p:sp>
      <p:sp>
        <p:nvSpPr>
          <p:cNvPr id="14" name="Text 12"/>
          <p:cNvSpPr/>
          <p:nvPr/>
        </p:nvSpPr>
        <p:spPr>
          <a:xfrm>
            <a:off x="548640" y="5303520"/>
            <a:ext cx="457200" cy="457200"/>
          </a:xfrm>
          <a:prstGeom prst="rect">
            <a:avLst/>
          </a:prstGeom>
          <a:noFill/>
          <a:ln/>
        </p:spPr>
        <p:txBody>
          <a:bodyPr wrap="square" rtlCol="0" anchor="ctr"/>
          <a:lstStyle/>
          <a:p>
            <a:pPr algn="ctr" indent="0" marL="0">
              <a:buNone/>
            </a:pPr>
            <a:r>
              <a:rPr lang="en-US" sz="1600" b="1" dirty="0">
                <a:solidFill>
                  <a:srgbClr val="FFFFFF"/>
                </a:solidFill>
                <a:latin typeface="GT Alpina" pitchFamily="34" charset="0"/>
                <a:ea typeface="GT Alpina" pitchFamily="34" charset="-122"/>
                <a:cs typeface="GT Alpina" pitchFamily="34" charset="-120"/>
              </a:rPr>
              <a:t>4</a:t>
            </a:r>
            <a:endParaRPr lang="en-US" sz="1600" dirty="0"/>
          </a:p>
        </p:txBody>
      </p:sp>
      <p:sp>
        <p:nvSpPr>
          <p:cNvPr id="15" name="Text 13"/>
          <p:cNvSpPr txBox="1"/>
          <p:nvPr/>
        </p:nvSpPr>
        <p:spPr>
          <a:xfrm>
            <a:off x="1188720" y="5257800"/>
            <a:ext cx="10058400" cy="868680"/>
          </a:xfrm>
          <a:prstGeom prst="rect">
            <a:avLst/>
          </a:prstGeom>
          <a:noFill/>
          <a:ln/>
        </p:spPr>
        <p:txBody>
          <a:bodyPr wrap="square" rtlCol="0" anchor="t"/>
          <a:lstStyle/>
          <a:p>
            <a:pPr indent="0" marL="0">
              <a:lnSpc>
                <a:spcPct val="118000"/>
              </a:lnSpc>
              <a:buNone/>
            </a:pPr>
            <a:r>
              <a:rPr lang="en-US" sz="1300" b="1" dirty="0">
                <a:solidFill>
                  <a:srgbClr val="3E3D40"/>
                </a:solidFill>
                <a:latin typeface="Calibri" pitchFamily="34" charset="0"/>
                <a:ea typeface="Calibri" pitchFamily="34" charset="-122"/>
                <a:cs typeface="Calibri" pitchFamily="34" charset="-120"/>
              </a:rPr>
              <a:t>Buen trato bajo presión, no solo en un día tranquilo. </a:t>
            </a:r>
            <a:pPr indent="0" marL="0">
              <a:lnSpc>
                <a:spcPct val="118000"/>
              </a:lnSpc>
              <a:buNone/>
            </a:pPr>
            <a:r>
              <a:rPr lang="en-US" sz="1300" dirty="0">
                <a:solidFill>
                  <a:srgbClr val="5A5A5C"/>
                </a:solidFill>
                <a:latin typeface="Calibri" pitchFamily="34" charset="0"/>
                <a:ea typeface="Calibri" pitchFamily="34" charset="-122"/>
                <a:cs typeface="Calibri" pitchFamily="34" charset="-120"/>
              </a:rPr>
              <a:t>Relevante por los picos reales (fin de semana mañana, 16-19h). Cuidado: no debe filtrar a quien tolera en silencio una plantilla ajustada.</a:t>
            </a:r>
            <a:endParaRPr lang="en-US" sz="1300" dirty="0"/>
          </a:p>
        </p:txBody>
      </p:sp>
      <p:sp>
        <p:nvSpPr>
          <p:cNvPr id="16"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7.a — Criterios de selección: encargado/a (además de lo anterior)</a:t>
            </a:r>
            <a:endParaRPr lang="en-US" sz="2600" dirty="0"/>
          </a:p>
        </p:txBody>
      </p:sp>
      <p:sp>
        <p:nvSpPr>
          <p:cNvPr id="3" name="Shape 1"/>
          <p:cNvSpPr/>
          <p:nvPr/>
        </p:nvSpPr>
        <p:spPr>
          <a:xfrm>
            <a:off x="548640" y="1645920"/>
            <a:ext cx="10149840" cy="1417320"/>
          </a:xfrm>
          <a:prstGeom prst="roundRect">
            <a:avLst>
              <a:gd name="adj" fmla="val 6452"/>
            </a:avLst>
          </a:prstGeom>
          <a:solidFill>
            <a:srgbClr val="E84E27"/>
          </a:solidFill>
          <a:ln/>
        </p:spPr>
      </p:sp>
      <p:sp>
        <p:nvSpPr>
          <p:cNvPr id="4" name="Text 2"/>
          <p:cNvSpPr txBox="1"/>
          <p:nvPr/>
        </p:nvSpPr>
        <p:spPr>
          <a:xfrm>
            <a:off x="822960" y="1783080"/>
            <a:ext cx="9601200" cy="1188720"/>
          </a:xfrm>
          <a:prstGeom prst="rect">
            <a:avLst/>
          </a:prstGeom>
          <a:noFill/>
          <a:ln/>
        </p:spPr>
        <p:txBody>
          <a:bodyPr wrap="square" rtlCol="0" anchor="t"/>
          <a:lstStyle/>
          <a:p>
            <a:pPr indent="0" marL="0">
              <a:lnSpc>
                <a:spcPct val="120000"/>
              </a:lnSpc>
              <a:buNone/>
            </a:pPr>
            <a:r>
              <a:rPr lang="en-US" sz="1300" b="1" dirty="0">
                <a:solidFill>
                  <a:srgbClr val="FFFFFF"/>
                </a:solidFill>
                <a:latin typeface="Calibri" pitchFamily="34" charset="0"/>
                <a:ea typeface="Calibri" pitchFamily="34" charset="-122"/>
                <a:cs typeface="Calibri" pitchFamily="34" charset="-120"/>
              </a:rPr>
              <a:t>Capacidad de repartir y priorizar en caliente.
</a:t>
            </a:r>
            <a:endParaRPr lang="en-US" sz="1300" dirty="0"/>
          </a:p>
          <a:p>
            <a:pPr indent="0" marL="0">
              <a:lnSpc>
                <a:spcPct val="120000"/>
              </a:lnSpc>
              <a:buNone/>
            </a:pPr>
            <a:r>
              <a:rPr lang="en-US" sz="1300" dirty="0">
                <a:solidFill>
                  <a:srgbClr val="FFFFFF"/>
                </a:solidFill>
                <a:latin typeface="Calibri" pitchFamily="34" charset="0"/>
                <a:ea typeface="Calibri" pitchFamily="34" charset="-122"/>
                <a:cs typeface="Calibri" pitchFamily="34" charset="-120"/>
              </a:rPr>
              <a:t>Decide, en el momento, quién hace de qué y quién prioriza. Coordinación en vivo, no gestión de oficina. Cuidado: vigilar que “quién tiene mejor mano” no derive en que siempre cargue la misma persona con la función de más presión.</a:t>
            </a:r>
            <a:endParaRPr lang="en-US" sz="1300" dirty="0"/>
          </a:p>
        </p:txBody>
      </p:sp>
      <p:sp>
        <p:nvSpPr>
          <p:cNvPr id="5" name="Shape 3"/>
          <p:cNvSpPr/>
          <p:nvPr/>
        </p:nvSpPr>
        <p:spPr>
          <a:xfrm>
            <a:off x="548640" y="3246120"/>
            <a:ext cx="10149840" cy="1417320"/>
          </a:xfrm>
          <a:prstGeom prst="roundRect">
            <a:avLst>
              <a:gd name="adj" fmla="val 6452"/>
            </a:avLst>
          </a:prstGeom>
          <a:solidFill>
            <a:srgbClr val="E7DCCC"/>
          </a:solidFill>
          <a:ln/>
        </p:spPr>
      </p:sp>
      <p:sp>
        <p:nvSpPr>
          <p:cNvPr id="6" name="Text 4"/>
          <p:cNvSpPr txBox="1"/>
          <p:nvPr/>
        </p:nvSpPr>
        <p:spPr>
          <a:xfrm>
            <a:off x="822960" y="3383280"/>
            <a:ext cx="9601200" cy="1188720"/>
          </a:xfrm>
          <a:prstGeom prst="rect">
            <a:avLst/>
          </a:prstGeom>
          <a:noFill/>
          <a:ln/>
        </p:spPr>
        <p:txBody>
          <a:bodyPr wrap="square" rtlCol="0" anchor="t"/>
          <a:lstStyle/>
          <a:p>
            <a:pPr indent="0" marL="0">
              <a:lnSpc>
                <a:spcPct val="120000"/>
              </a:lnSpc>
              <a:buNone/>
            </a:pPr>
            <a:r>
              <a:rPr lang="en-US" sz="1300" b="1" dirty="0">
                <a:solidFill>
                  <a:srgbClr val="3E3D40"/>
                </a:solidFill>
                <a:latin typeface="Calibri" pitchFamily="34" charset="0"/>
                <a:ea typeface="Calibri" pitchFamily="34" charset="-122"/>
                <a:cs typeface="Calibri" pitchFamily="34" charset="-120"/>
              </a:rPr>
              <a:t>Responsabilidad con la caja y la apertura/cierre.
</a:t>
            </a:r>
            <a:endParaRPr lang="en-US" sz="1300" dirty="0"/>
          </a:p>
          <a:p>
            <a:pPr indent="0" marL="0">
              <a:lnSpc>
                <a:spcPct val="120000"/>
              </a:lnSpc>
              <a:buNone/>
            </a:pPr>
            <a:r>
              <a:rPr lang="en-US" sz="1300" dirty="0">
                <a:solidFill>
                  <a:srgbClr val="5A5A5C"/>
                </a:solidFill>
                <a:latin typeface="Calibri" pitchFamily="34" charset="0"/>
                <a:ea typeface="Calibri" pitchFamily="34" charset="-122"/>
                <a:cs typeface="Calibri" pitchFamily="34" charset="-120"/>
              </a:rPr>
              <a:t>Tareas reales ya asignadas a este rol — rigor y constancia, no solo buena actitud.</a:t>
            </a:r>
            <a:endParaRPr lang="en-US" sz="1300" dirty="0"/>
          </a:p>
        </p:txBody>
      </p:sp>
      <p:sp>
        <p:nvSpPr>
          <p:cNvPr id="7" name="Shape 5"/>
          <p:cNvSpPr/>
          <p:nvPr/>
        </p:nvSpPr>
        <p:spPr>
          <a:xfrm>
            <a:off x="548640" y="4846320"/>
            <a:ext cx="10149840" cy="1417320"/>
          </a:xfrm>
          <a:prstGeom prst="roundRect">
            <a:avLst>
              <a:gd name="adj" fmla="val 6452"/>
            </a:avLst>
          </a:prstGeom>
          <a:solidFill>
            <a:srgbClr val="E7DCCC"/>
          </a:solidFill>
          <a:ln/>
        </p:spPr>
      </p:sp>
      <p:sp>
        <p:nvSpPr>
          <p:cNvPr id="8" name="Text 6"/>
          <p:cNvSpPr txBox="1"/>
          <p:nvPr/>
        </p:nvSpPr>
        <p:spPr>
          <a:xfrm>
            <a:off x="822960" y="4983480"/>
            <a:ext cx="9601200" cy="1188720"/>
          </a:xfrm>
          <a:prstGeom prst="rect">
            <a:avLst/>
          </a:prstGeom>
          <a:noFill/>
          <a:ln/>
        </p:spPr>
        <p:txBody>
          <a:bodyPr wrap="square" rtlCol="0" anchor="t"/>
          <a:lstStyle/>
          <a:p>
            <a:pPr indent="0" marL="0">
              <a:lnSpc>
                <a:spcPct val="120000"/>
              </a:lnSpc>
              <a:buNone/>
            </a:pPr>
            <a:r>
              <a:rPr lang="en-US" sz="1300" b="1" dirty="0">
                <a:solidFill>
                  <a:srgbClr val="3E3D40"/>
                </a:solidFill>
                <a:latin typeface="Calibri" pitchFamily="34" charset="0"/>
                <a:ea typeface="Calibri" pitchFamily="34" charset="-122"/>
                <a:cs typeface="Calibri" pitchFamily="34" charset="-120"/>
              </a:rPr>
              <a:t>Capacidad de resolver un conflicto sin escalarlo de más.
</a:t>
            </a:r>
            <a:endParaRPr lang="en-US" sz="1300" dirty="0"/>
          </a:p>
          <a:p>
            <a:pPr indent="0" marL="0">
              <a:lnSpc>
                <a:spcPct val="120000"/>
              </a:lnSpc>
              <a:buNone/>
            </a:pPr>
            <a:r>
              <a:rPr lang="en-US" sz="1300" dirty="0">
                <a:solidFill>
                  <a:srgbClr val="5A5A5C"/>
                </a:solidFill>
                <a:latin typeface="Calibri" pitchFamily="34" charset="0"/>
                <a:ea typeface="Calibri" pitchFamily="34" charset="-122"/>
                <a:cs typeface="Calibri" pitchFamily="34" charset="-120"/>
              </a:rPr>
              <a:t>Primer punto de cualquier incidencia antes de Dirección — criterio propio sobre cuándo escalar de verdad.</a:t>
            </a:r>
            <a:endParaRPr lang="en-US" sz="1300" dirty="0"/>
          </a:p>
        </p:txBody>
      </p:sp>
      <p:sp>
        <p:nvSpPr>
          <p:cNvPr id="9"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7.b — Compatibilidad con la marca (1/2)</a:t>
            </a:r>
            <a:endParaRPr lang="en-US" sz="2600" dirty="0"/>
          </a:p>
        </p:txBody>
      </p:sp>
      <p:sp>
        <p:nvSpPr>
          <p:cNvPr id="3" name="Text 1"/>
          <p:cNvSpPr txBox="1"/>
          <p:nvPr/>
        </p:nvSpPr>
        <p:spPr>
          <a:xfrm>
            <a:off x="548640" y="1371600"/>
            <a:ext cx="10149840" cy="822960"/>
          </a:xfrm>
          <a:prstGeom prst="rect">
            <a:avLst/>
          </a:prstGeom>
          <a:noFill/>
          <a:ln/>
        </p:spPr>
        <p:txBody>
          <a:bodyPr wrap="square" rtlCol="0" anchor="ctr"/>
          <a:lstStyle/>
          <a:p>
            <a:pPr indent="0" marL="0">
              <a:lnSpc>
                <a:spcPct val="120000"/>
              </a:lnSpc>
              <a:buNone/>
            </a:pPr>
            <a:r>
              <a:rPr lang="en-US" sz="1500" b="1" dirty="0">
                <a:solidFill>
                  <a:srgbClr val="1D79ED"/>
                </a:solidFill>
                <a:latin typeface="Calibri" pitchFamily="34" charset="0"/>
                <a:ea typeface="Calibri" pitchFamily="34" charset="-122"/>
                <a:cs typeface="Calibri" pitchFamily="34" charset="-120"/>
              </a:rPr>
              <a:t>Buscamos a alguien a quien le salga de forma natural la calidez, la cercanía y la amabilidad </a:t>
            </a:r>
            <a:pPr indent="0" marL="0">
              <a:lnSpc>
                <a:spcPct val="120000"/>
              </a:lnSpc>
              <a:buNone/>
            </a:pPr>
            <a:r>
              <a:rPr lang="en-US" sz="1500" dirty="0">
                <a:solidFill>
                  <a:srgbClr val="3E3D40"/>
                </a:solidFill>
                <a:latin typeface="Calibri" pitchFamily="34" charset="0"/>
                <a:ea typeface="Calibri" pitchFamily="34" charset="-122"/>
                <a:cs typeface="Calibri" pitchFamily="34" charset="-120"/>
              </a:rPr>
              <a:t>— lo primero de nuestros principios (2.a). Esto no se simula bien durante mucho tiempo.</a:t>
            </a:r>
            <a:endParaRPr lang="en-US" sz="1500" dirty="0"/>
          </a:p>
        </p:txBody>
      </p:sp>
      <p:sp>
        <p:nvSpPr>
          <p:cNvPr id="4" name="Shape 2"/>
          <p:cNvSpPr/>
          <p:nvPr/>
        </p:nvSpPr>
        <p:spPr>
          <a:xfrm>
            <a:off x="548640" y="2377440"/>
            <a:ext cx="10149840" cy="1463040"/>
          </a:xfrm>
          <a:prstGeom prst="roundRect">
            <a:avLst>
              <a:gd name="adj" fmla="val 6250"/>
            </a:avLst>
          </a:prstGeom>
          <a:solidFill>
            <a:srgbClr val="E7DCCC"/>
          </a:solidFill>
          <a:ln/>
        </p:spPr>
      </p:sp>
      <p:sp>
        <p:nvSpPr>
          <p:cNvPr id="5" name="Text 3"/>
          <p:cNvSpPr txBox="1"/>
          <p:nvPr/>
        </p:nvSpPr>
        <p:spPr>
          <a:xfrm>
            <a:off x="822960" y="2560320"/>
            <a:ext cx="9601200" cy="1188720"/>
          </a:xfrm>
          <a:prstGeom prst="rect">
            <a:avLst/>
          </a:prstGeom>
          <a:noFill/>
          <a:ln/>
        </p:spPr>
        <p:txBody>
          <a:bodyPr wrap="square" rtlCol="0" anchor="ctr"/>
          <a:lstStyle/>
          <a:p>
            <a:pPr indent="0" marL="0">
              <a:lnSpc>
                <a:spcPct val="122000"/>
              </a:lnSpc>
              <a:buNone/>
            </a:pPr>
            <a:r>
              <a:rPr lang="en-US" sz="1350" b="1" dirty="0">
                <a:solidFill>
                  <a:srgbClr val="E84E27"/>
                </a:solidFill>
                <a:latin typeface="Calibri" pitchFamily="34" charset="0"/>
                <a:ea typeface="Calibri" pitchFamily="34" charset="-122"/>
                <a:cs typeface="Calibri" pitchFamily="34" charset="-120"/>
              </a:rPr>
              <a:t>Por qué pesa más aquí que en un equipo grande: </a:t>
            </a:r>
            <a:pPr indent="0" marL="0">
              <a:lnSpc>
                <a:spcPct val="122000"/>
              </a:lnSpc>
              <a:buNone/>
            </a:pPr>
            <a:r>
              <a:rPr lang="en-US" sz="1350" dirty="0">
                <a:solidFill>
                  <a:srgbClr val="3E3D40"/>
                </a:solidFill>
                <a:latin typeface="Calibri" pitchFamily="34" charset="0"/>
                <a:ea typeface="Calibri" pitchFamily="34" charset="-122"/>
                <a:cs typeface="Calibri" pitchFamily="34" charset="-120"/>
              </a:rPr>
              <a:t>con 4-5 personas por ubicación y rotación total, una persona nueva comparte barra, mesa y obrador con las mismas 3-4 personas, todos los días. No hay “otro departamento” al que mover a alguien si el encaje no funciona — hay un único equipo.</a:t>
            </a:r>
            <a:endParaRPr lang="en-US" sz="1350" dirty="0"/>
          </a:p>
        </p:txBody>
      </p:sp>
      <p:sp>
        <p:nvSpPr>
          <p:cNvPr id="6" name="Text 4"/>
          <p:cNvSpPr txBox="1"/>
          <p:nvPr/>
        </p:nvSpPr>
        <p:spPr>
          <a:xfrm>
            <a:off x="548640" y="4114800"/>
            <a:ext cx="10058400" cy="365760"/>
          </a:xfrm>
          <a:prstGeom prst="rect">
            <a:avLst/>
          </a:prstGeom>
          <a:noFill/>
          <a:ln/>
        </p:spPr>
        <p:txBody>
          <a:bodyPr wrap="square" rtlCol="0" anchor="ctr"/>
          <a:lstStyle/>
          <a:p>
            <a:pPr indent="0" marL="0">
              <a:buNone/>
            </a:pPr>
            <a:r>
              <a:rPr lang="en-US" sz="1300" b="1" dirty="0">
                <a:solidFill>
                  <a:srgbClr val="3E3D40"/>
                </a:solidFill>
                <a:latin typeface="Calibri" pitchFamily="34" charset="0"/>
                <a:ea typeface="Calibri" pitchFamily="34" charset="-122"/>
                <a:cs typeface="Calibri" pitchFamily="34" charset="-120"/>
              </a:rPr>
              <a:t>Qué observar durante la incorporación, más allá del trato al cliente:</a:t>
            </a:r>
            <a:endParaRPr lang="en-US" sz="1300" dirty="0"/>
          </a:p>
        </p:txBody>
      </p:sp>
      <p:sp>
        <p:nvSpPr>
          <p:cNvPr id="7" name="Text 5"/>
          <p:cNvSpPr txBox="1"/>
          <p:nvPr/>
        </p:nvSpPr>
        <p:spPr>
          <a:xfrm>
            <a:off x="548640" y="4526280"/>
            <a:ext cx="10149840" cy="1920240"/>
          </a:xfrm>
          <a:prstGeom prst="rect">
            <a:avLst/>
          </a:prstGeom>
          <a:noFill/>
          <a:ln/>
        </p:spPr>
        <p:txBody>
          <a:bodyPr wrap="square" rtlCol="0" anchor="t"/>
          <a:lstStyle/>
          <a:p>
            <a:pPr marL="342900" indent="-342900">
              <a:lnSpc>
                <a:spcPct val="120000"/>
              </a:lnSpc>
              <a:spcAft>
                <a:spcPts val="1000"/>
              </a:spcAft>
              <a:buSzPct val="100000"/>
              <a:buChar char="●"/>
            </a:pPr>
            <a:r>
              <a:rPr lang="en-US" sz="1300" dirty="0">
                <a:solidFill>
                  <a:srgbClr val="3E3D40"/>
                </a:solidFill>
                <a:latin typeface="Calibri" pitchFamily="34" charset="0"/>
                <a:ea typeface="Calibri" pitchFamily="34" charset="-122"/>
                <a:cs typeface="Calibri" pitchFamily="34" charset="-120"/>
              </a:rPr>
              <a:t>Si pide ayuda y la ofrece con la misma naturalidad — la polivalencia solo funciona si circula en los dos sentidos.</a:t>
            </a:r>
            <a:endParaRPr lang="en-US" sz="1300" dirty="0"/>
          </a:p>
          <a:p>
            <a:pPr marL="342900" indent="-342900">
              <a:lnSpc>
                <a:spcPct val="120000"/>
              </a:lnSpc>
              <a:spcAft>
                <a:spcPts val="1000"/>
              </a:spcAft>
              <a:buSzPct val="100000"/>
              <a:buChar char="●"/>
            </a:pPr>
            <a:r>
              <a:rPr lang="en-US" sz="1300" dirty="0">
                <a:solidFill>
                  <a:srgbClr val="3E3D40"/>
                </a:solidFill>
                <a:latin typeface="Calibri" pitchFamily="34" charset="0"/>
                <a:ea typeface="Calibri" pitchFamily="34" charset="-122"/>
                <a:cs typeface="Calibri" pitchFamily="34" charset="-120"/>
              </a:rPr>
              <a:t>Si sostiene la calidez en los tramos difíciles tan bien como en los fáciles — también con el equipo, no solo con el cliente.</a:t>
            </a:r>
            <a:endParaRPr lang="en-US" sz="1300" dirty="0"/>
          </a:p>
          <a:p>
            <a:pPr marL="342900" indent="-342900">
              <a:lnSpc>
                <a:spcPct val="120000"/>
              </a:lnSpc>
              <a:spcAft>
                <a:spcPts val="1000"/>
              </a:spcAft>
              <a:buSzPct val="100000"/>
              <a:buChar char="●"/>
            </a:pPr>
            <a:r>
              <a:rPr lang="en-US" sz="1300" dirty="0">
                <a:solidFill>
                  <a:srgbClr val="3E3D40"/>
                </a:solidFill>
                <a:latin typeface="Calibri" pitchFamily="34" charset="0"/>
                <a:ea typeface="Calibri" pitchFamily="34" charset="-122"/>
                <a:cs typeface="Calibri" pitchFamily="34" charset="-120"/>
              </a:rPr>
              <a:t>Cómo reacciona cuando algo no sale como esperaba dentro del equipo — si aplica “no se discute, se resuelve” también hacia dentro.</a:t>
            </a:r>
            <a:endParaRPr lang="en-US" sz="1300" dirty="0"/>
          </a:p>
        </p:txBody>
      </p:sp>
      <p:sp>
        <p:nvSpPr>
          <p:cNvPr id="8"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7.b — Compatibilidad con la marca (2/2): si el encaje no funciona</a:t>
            </a:r>
            <a:endParaRPr lang="en-US" sz="2600" dirty="0"/>
          </a:p>
        </p:txBody>
      </p:sp>
      <p:sp>
        <p:nvSpPr>
          <p:cNvPr id="3" name="Shape 1"/>
          <p:cNvSpPr/>
          <p:nvPr/>
        </p:nvSpPr>
        <p:spPr>
          <a:xfrm>
            <a:off x="548640" y="1463040"/>
            <a:ext cx="10149840" cy="2743200"/>
          </a:xfrm>
          <a:prstGeom prst="roundRect">
            <a:avLst>
              <a:gd name="adj" fmla="val 3333"/>
            </a:avLst>
          </a:prstGeom>
          <a:solidFill>
            <a:srgbClr val="3E3D40"/>
          </a:solidFill>
          <a:ln/>
        </p:spPr>
      </p:sp>
      <p:sp>
        <p:nvSpPr>
          <p:cNvPr id="4" name="Text 2"/>
          <p:cNvSpPr txBox="1"/>
          <p:nvPr/>
        </p:nvSpPr>
        <p:spPr>
          <a:xfrm>
            <a:off x="822960" y="1645920"/>
            <a:ext cx="9601200" cy="2377440"/>
          </a:xfrm>
          <a:prstGeom prst="rect">
            <a:avLst/>
          </a:prstGeom>
          <a:noFill/>
          <a:ln/>
        </p:spPr>
        <p:txBody>
          <a:bodyPr wrap="square" rtlCol="0" anchor="ctr"/>
          <a:lstStyle/>
          <a:p>
            <a:pPr indent="0" marL="0">
              <a:lnSpc>
                <a:spcPct val="128000"/>
              </a:lnSpc>
              <a:buNone/>
            </a:pPr>
            <a:r>
              <a:rPr lang="en-US" sz="1500" dirty="0">
                <a:solidFill>
                  <a:srgbClr val="E7DCCC"/>
                </a:solidFill>
                <a:latin typeface="Calibri" pitchFamily="34" charset="0"/>
                <a:ea typeface="Calibri" pitchFamily="34" charset="-122"/>
                <a:cs typeface="Calibri" pitchFamily="34" charset="-120"/>
              </a:rPr>
              <a:t>No es este documento el que fija un procedimiento de salida — eso corresponde a otro nivel de gestión.
</a:t>
            </a:r>
            <a:pPr indent="0" marL="0">
              <a:lnSpc>
                <a:spcPct val="128000"/>
              </a:lnSpc>
              <a:buNone/>
            </a:pPr>
            <a:r>
              <a:rPr lang="en-US" sz="1500" b="1" dirty="0">
                <a:solidFill>
                  <a:srgbClr val="E84E27"/>
                </a:solidFill>
                <a:latin typeface="Calibri" pitchFamily="34" charset="0"/>
                <a:ea typeface="Calibri" pitchFamily="34" charset="-122"/>
                <a:cs typeface="Calibri" pitchFamily="34" charset="-120"/>
              </a:rPr>
              <a:t>Pero el criterio sí importa: </a:t>
            </a:r>
            <a:pPr indent="0" marL="0">
              <a:lnSpc>
                <a:spcPct val="128000"/>
              </a:lnSpc>
              <a:buNone/>
            </a:pPr>
            <a:r>
              <a:rPr lang="en-US" sz="1500" dirty="0">
                <a:solidFill>
                  <a:srgbClr val="FFFFFF"/>
                </a:solidFill>
                <a:latin typeface="Calibri" pitchFamily="34" charset="0"/>
                <a:ea typeface="Calibri" pitchFamily="34" charset="-122"/>
                <a:cs typeface="Calibri" pitchFamily="34" charset="-120"/>
              </a:rPr>
              <a:t>en un equipo de este tamaño, cuando el encaje no funciona, el coste no lo paga solo la persona nueva ni solo Propiedad — lo paga, en silencio y cada turno, el resto del equipo, compensando lo que esa persona no sostiene.</a:t>
            </a:r>
            <a:endParaRPr lang="en-US" sz="1500" dirty="0"/>
          </a:p>
        </p:txBody>
      </p:sp>
      <p:sp>
        <p:nvSpPr>
          <p:cNvPr id="5" name="Text 3"/>
          <p:cNvSpPr txBox="1"/>
          <p:nvPr/>
        </p:nvSpPr>
        <p:spPr>
          <a:xfrm>
            <a:off x="548640" y="4434840"/>
            <a:ext cx="10149840" cy="1920240"/>
          </a:xfrm>
          <a:prstGeom prst="rect">
            <a:avLst/>
          </a:prstGeom>
          <a:noFill/>
          <a:ln/>
        </p:spPr>
        <p:txBody>
          <a:bodyPr wrap="square" rtlCol="0" anchor="ctr"/>
          <a:lstStyle/>
          <a:p>
            <a:pPr indent="0" marL="0">
              <a:lnSpc>
                <a:spcPct val="128000"/>
              </a:lnSpc>
              <a:buNone/>
            </a:pPr>
            <a:r>
              <a:rPr lang="en-US" sz="1400" dirty="0">
                <a:solidFill>
                  <a:srgbClr val="3E3D40"/>
                </a:solidFill>
                <a:latin typeface="Calibri" pitchFamily="34" charset="0"/>
                <a:ea typeface="Calibri" pitchFamily="34" charset="-122"/>
                <a:cs typeface="Calibri" pitchFamily="34" charset="-120"/>
              </a:rPr>
              <a:t>La pregunta real no debería ser </a:t>
            </a:r>
            <a:pPr indent="0" marL="0">
              <a:lnSpc>
                <a:spcPct val="128000"/>
              </a:lnSpc>
              <a:buNone/>
            </a:pPr>
            <a:r>
              <a:rPr lang="en-US" sz="1400" i="1" dirty="0">
                <a:solidFill>
                  <a:srgbClr val="9A9A9C"/>
                </a:solidFill>
                <a:latin typeface="Calibri" pitchFamily="34" charset="0"/>
                <a:ea typeface="Calibri" pitchFamily="34" charset="-122"/>
                <a:cs typeface="Calibri" pitchFamily="34" charset="-120"/>
              </a:rPr>
              <a:t>“¿ha cometido algún error grave?”</a:t>
            </a:r>
            <a:pPr indent="0" marL="0">
              <a:lnSpc>
                <a:spcPct val="128000"/>
              </a:lnSpc>
              <a:buNone/>
            </a:pPr>
            <a:r>
              <a:rPr lang="en-US" sz="1400" dirty="0">
                <a:solidFill>
                  <a:srgbClr val="3E3D40"/>
                </a:solidFill>
                <a:latin typeface="Calibri" pitchFamily="34" charset="0"/>
                <a:ea typeface="Calibri" pitchFamily="34" charset="-122"/>
                <a:cs typeface="Calibri" pitchFamily="34" charset="-120"/>
              </a:rPr>
              <a:t> sino algo más temprano: </a:t>
            </a:r>
            <a:pPr indent="0" marL="0">
              <a:lnSpc>
                <a:spcPct val="128000"/>
              </a:lnSpc>
              <a:buNone/>
            </a:pPr>
            <a:r>
              <a:rPr lang="en-US" sz="1400" b="1" dirty="0">
                <a:solidFill>
                  <a:srgbClr val="E84E27"/>
                </a:solidFill>
                <a:latin typeface="Calibri" pitchFamily="34" charset="0"/>
                <a:ea typeface="Calibri" pitchFamily="34" charset="-122"/>
                <a:cs typeface="Calibri" pitchFamily="34" charset="-120"/>
              </a:rPr>
              <a:t>¿el resto del equipo está notando que tiene que cargar con más de lo que le corresponde para compensar?</a:t>
            </a:r>
            <a:pPr indent="0" marL="0">
              <a:lnSpc>
                <a:spcPct val="128000"/>
              </a:lnSpc>
              <a:buNone/>
            </a:pPr>
            <a:r>
              <a:rPr lang="en-US" sz="1400" dirty="0">
                <a:solidFill>
                  <a:srgbClr val="3E3D40"/>
                </a:solidFill>
                <a:latin typeface="Calibri" pitchFamily="34" charset="0"/>
                <a:ea typeface="Calibri" pitchFamily="34" charset="-122"/>
                <a:cs typeface="Calibri" pitchFamily="34" charset="-120"/>
              </a:rPr>
              <a:t> Esa señal, hoy sin canal formal de recogida, es más temprana y más fiable que esperar una queja de cliente o un error aislado.</a:t>
            </a:r>
            <a:endParaRPr lang="en-US" sz="1400" dirty="0"/>
          </a:p>
        </p:txBody>
      </p:sp>
      <p:sp>
        <p:nvSpPr>
          <p:cNvPr id="6" name="Text 2"/>
          <p:cNvSpPr/>
          <p:nvPr>
            <p:ph idx="103" type="body" hasCustomPrompt="1"/>
          </p:nvPr>
        </p:nvSpPr>
        <p:spPr>
          <a:xfrm>
            <a:off x="11064240" y="6446520"/>
            <a:ext cx="548640" cy="274320"/>
          </a:xfrm>
          <a:prstGeom prst="rect">
            <a:avLst/>
          </a:prstGeom>
          <a:noFill/>
          <a:ln/>
        </p:spPr>
        <p:txBody>
          <a:bodyPr wrap="square" rtlCol="0"/>
          <a:lstStyle/>
          <a:p>
            <a:pPr algn="r" indent="0" marL="0">
              <a:buNone/>
            </a:pPr>
            <a:endParaRPr lang="en-US" sz="9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9A9C"/>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t"/>
          <a:lstStyle/>
          <a:p>
            <a:pPr algn="l" indent="0" marL="0">
              <a:buNone/>
            </a:pPr>
            <a:r>
              <a:rPr lang="en-US" sz="2600" b="1" dirty="0">
                <a:solidFill>
                  <a:srgbClr val="3E3D40"/>
                </a:solidFill>
                <a:latin typeface="GT Alpina" pitchFamily="34" charset="0"/>
                <a:ea typeface="GT Alpina" pitchFamily="34" charset="-122"/>
                <a:cs typeface="GT Alpina" pitchFamily="34" charset="-120"/>
              </a:rPr>
              <a:t>Roadmap de implementación</a:t>
            </a:r>
            <a:endParaRPr lang="en-US" sz="2600" dirty="0"/>
          </a:p>
        </p:txBody>
      </p:sp>
      <p:sp>
        <p:nvSpPr>
          <p:cNvPr id="3" name="Shape 1"/>
          <p:cNvSpPr/>
          <p:nvPr/>
        </p:nvSpPr>
        <p:spPr>
          <a:xfrm>
            <a:off x="548640" y="1417320"/>
            <a:ext cx="411480" cy="411480"/>
          </a:xfrm>
          <a:prstGeom prst="ellipse">
            <a:avLst/>
          </a:prstGeom>
          <a:solidFill>
            <a:srgbClr val="E84E27"/>
          </a:solidFill>
          <a:ln/>
        </p:spPr>
      </p:sp>
      <p:sp>
        <p:nvSpPr>
          <p:cNvPr id="4" name="Text 2"/>
          <p:cNvSpPr/>
          <p:nvPr/>
        </p:nvSpPr>
        <p:spPr>
          <a:xfrm>
            <a:off x="548640" y="1417320"/>
            <a:ext cx="411480" cy="411480"/>
          </a:xfrm>
          <a:prstGeom prst="rect">
            <a:avLst/>
          </a:prstGeom>
          <a:noFill/>
          <a:ln/>
        </p:spPr>
        <p:txBody>
          <a:bodyPr wrap="square" rtlCol="0" anchor="ctr"/>
          <a:lstStyle/>
          <a:p>
            <a:pPr algn="ctr" indent="0" marL="0">
              <a:buNone/>
            </a:pPr>
            <a:r>
              <a:rPr lang="en-US" sz="1500" b="1" dirty="0">
                <a:solidFill>
                  <a:srgbClr val="FFFFFF"/>
                </a:solidFill>
                <a:latin typeface="GT Alpina" pitchFamily="34" charset="0"/>
                <a:ea typeface="GT Alpina" pitchFamily="34" charset="-122"/>
                <a:cs typeface="GT Alpina" pitchFamily="34" charset="-120"/>
              </a:rPr>
              <a:t>1</a:t>
            </a:r>
            <a:endParaRPr lang="en-US" sz="1500" dirty="0"/>
          </a:p>
        </p:txBody>
      </p:sp>
      <p:sp>
        <p:nvSpPr>
          <p:cNvPr id="5" name="Text 3"/>
          <p:cNvSpPr txBox="1"/>
          <p:nvPr/>
        </p:nvSpPr>
        <p:spPr>
          <a:xfrm>
            <a:off x="1143000" y="1389888"/>
            <a:ext cx="9966960" cy="502920"/>
          </a:xfrm>
          <a:prstGeom prst="rect">
            <a:avLst/>
          </a:prstGeom>
          <a:noFill/>
          <a:ln/>
        </p:spPr>
        <p:txBody>
          <a:bodyPr wrap="square" rtlCol="0" anchor="ctr"/>
          <a:lstStyle/>
          <a:p>
            <a:pPr indent="0" marL="0">
              <a:buNone/>
            </a:pPr>
            <a:r>
              <a:rPr lang="en-US" sz="1250" dirty="0">
                <a:solidFill>
                  <a:srgbClr val="3E3D40"/>
                </a:solidFill>
                <a:latin typeface="Calibri" pitchFamily="34" charset="0"/>
                <a:ea typeface="Calibri" pitchFamily="34" charset="-122"/>
                <a:cs typeface="Calibri" pitchFamily="34" charset="-120"/>
              </a:rPr>
              <a:t>Confirmar con Andrea y el cliente si ya existe alguna política de uniforme o presentación.</a:t>
            </a:r>
            <a:endParaRPr lang="en-US" sz="1250" dirty="0"/>
          </a:p>
        </p:txBody>
      </p:sp>
      <p:sp>
        <p:nvSpPr>
          <p:cNvPr id="6" name="Shape 4"/>
          <p:cNvSpPr/>
          <p:nvPr/>
        </p:nvSpPr>
        <p:spPr>
          <a:xfrm>
            <a:off x="548640" y="2011680"/>
            <a:ext cx="411480" cy="411480"/>
          </a:xfrm>
          <a:prstGeom prst="ellipse">
            <a:avLst/>
          </a:prstGeom>
          <a:solidFill>
            <a:srgbClr val="E84E27"/>
          </a:solidFill>
          <a:ln/>
        </p:spPr>
      </p:sp>
      <p:sp>
        <p:nvSpPr>
          <p:cNvPr id="7" name="Text 5"/>
          <p:cNvSpPr/>
          <p:nvPr/>
        </p:nvSpPr>
        <p:spPr>
          <a:xfrm>
            <a:off x="548640" y="2011680"/>
            <a:ext cx="411480" cy="411480"/>
          </a:xfrm>
          <a:prstGeom prst="rect">
            <a:avLst/>
          </a:prstGeom>
          <a:noFill/>
          <a:ln/>
        </p:spPr>
        <p:txBody>
          <a:bodyPr wrap="square" rtlCol="0" anchor="ctr"/>
          <a:lstStyle/>
          <a:p>
            <a:pPr algn="ctr" indent="0" marL="0">
              <a:buNone/>
            </a:pPr>
            <a:r>
              <a:rPr lang="en-US" sz="1500" b="1" dirty="0">
                <a:solidFill>
                  <a:srgbClr val="FFFFFF"/>
                </a:solidFill>
                <a:latin typeface="GT Alpina" pitchFamily="34" charset="0"/>
                <a:ea typeface="GT Alpina" pitchFamily="34" charset="-122"/>
                <a:cs typeface="GT Alpina" pitchFamily="34" charset="-120"/>
              </a:rPr>
              <a:t>2</a:t>
            </a:r>
            <a:endParaRPr lang="en-US" sz="1500" dirty="0"/>
          </a:p>
        </p:txBody>
      </p:sp>
      <p:sp>
        <p:nvSpPr>
          <p:cNvPr id="8" name="Text 6"/>
          <p:cNvSpPr txBox="1"/>
          <p:nvPr/>
        </p:nvSpPr>
        <p:spPr>
          <a:xfrm>
            <a:off x="1143000" y="1984248"/>
            <a:ext cx="9966960" cy="502920"/>
          </a:xfrm>
          <a:prstGeom prst="rect">
            <a:avLst/>
          </a:prstGeom>
          <a:noFill/>
          <a:ln/>
        </p:spPr>
        <p:txBody>
          <a:bodyPr wrap="square" rtlCol="0" anchor="ctr"/>
          <a:lstStyle/>
          <a:p>
            <a:pPr indent="0" marL="0">
              <a:buNone/>
            </a:pPr>
            <a:r>
              <a:rPr lang="en-US" sz="1250" dirty="0">
                <a:solidFill>
                  <a:srgbClr val="3E3D40"/>
                </a:solidFill>
                <a:latin typeface="Calibri" pitchFamily="34" charset="0"/>
                <a:ea typeface="Calibri" pitchFamily="34" charset="-122"/>
                <a:cs typeface="Calibri" pitchFamily="34" charset="-120"/>
              </a:rPr>
              <a:t>Decidir con Propiedad si el uniforme incluye prenda de marca o ropa neutra + delantal.</a:t>
            </a:r>
            <a:endParaRPr lang="en-US" sz="1250" dirty="0"/>
          </a:p>
        </p:txBody>
      </p:sp>
      <p:sp>
        <p:nvSpPr>
          <p:cNvPr id="9" name="Shape 7"/>
          <p:cNvSpPr/>
          <p:nvPr/>
        </p:nvSpPr>
        <p:spPr>
          <a:xfrm>
            <a:off x="548640" y="2606040"/>
            <a:ext cx="411480" cy="411480"/>
          </a:xfrm>
          <a:prstGeom prst="ellipse">
            <a:avLst/>
          </a:prstGeom>
          <a:solidFill>
            <a:srgbClr val="1D79ED"/>
          </a:solidFill>
          <a:ln/>
        </p:spPr>
      </p:sp>
      <p:sp>
        <p:nvSpPr>
          <p:cNvPr id="10" name="Text 8"/>
          <p:cNvSpPr/>
          <p:nvPr/>
        </p:nvSpPr>
        <p:spPr>
          <a:xfrm>
            <a:off x="548640" y="2606040"/>
            <a:ext cx="411480" cy="411480"/>
          </a:xfrm>
          <a:prstGeom prst="rect">
            <a:avLst/>
          </a:prstGeom>
          <a:noFill/>
          <a:ln/>
        </p:spPr>
        <p:txBody>
          <a:bodyPr wrap="square" rtlCol="0" anchor="ctr"/>
          <a:lstStyle/>
          <a:p>
            <a:pPr algn="ctr" indent="0" marL="0">
              <a:buNone/>
            </a:pPr>
            <a:r>
              <a:rPr lang="en-US" sz="1500" b="1" dirty="0">
                <a:solidFill>
                  <a:srgbClr val="FFFFFF"/>
                </a:solidFill>
                <a:latin typeface="GT Alpina" pitchFamily="34" charset="0"/>
                <a:ea typeface="GT Alpina" pitchFamily="34" charset="-122"/>
                <a:cs typeface="GT Alpina" pitchFamily="34" charset="-120"/>
              </a:rPr>
              <a:t>3</a:t>
            </a:r>
            <a:endParaRPr lang="en-US" sz="1500" dirty="0"/>
          </a:p>
        </p:txBody>
      </p:sp>
      <p:sp>
        <p:nvSpPr>
          <p:cNvPr id="11" name="Text 9"/>
          <p:cNvSpPr txBox="1"/>
          <p:nvPr/>
        </p:nvSpPr>
        <p:spPr>
          <a:xfrm>
            <a:off x="1143000" y="2578608"/>
            <a:ext cx="9966960" cy="502920"/>
          </a:xfrm>
          <a:prstGeom prst="rect">
            <a:avLst/>
          </a:prstGeom>
          <a:noFill/>
          <a:ln/>
        </p:spPr>
        <p:txBody>
          <a:bodyPr wrap="square" rtlCol="0" anchor="ctr"/>
          <a:lstStyle/>
          <a:p>
            <a:pPr indent="0" marL="0">
              <a:buNone/>
            </a:pPr>
            <a:r>
              <a:rPr lang="en-US" sz="1250" dirty="0">
                <a:solidFill>
                  <a:srgbClr val="3E3D40"/>
                </a:solidFill>
                <a:latin typeface="Calibri" pitchFamily="34" charset="0"/>
                <a:ea typeface="Calibri" pitchFamily="34" charset="-122"/>
                <a:cs typeface="Calibri" pitchFamily="34" charset="-120"/>
              </a:rPr>
              <a:t>Incorporar los estándares de higiene al onboarding ya previsto (2.d).</a:t>
            </a:r>
            <a:endParaRPr lang="en-US" sz="1250" dirty="0"/>
          </a:p>
        </p:txBody>
      </p:sp>
      <p:sp>
        <p:nvSpPr>
          <p:cNvPr id="12" name="Shape 10"/>
          <p:cNvSpPr/>
          <p:nvPr/>
        </p:nvSpPr>
        <p:spPr>
          <a:xfrm>
            <a:off x="548640" y="3200400"/>
            <a:ext cx="411480" cy="411480"/>
          </a:xfrm>
          <a:prstGeom prst="ellipse">
            <a:avLst/>
          </a:prstGeom>
          <a:solidFill>
            <a:srgbClr val="1D79ED"/>
          </a:solidFill>
          <a:ln/>
        </p:spPr>
      </p:sp>
      <p:sp>
        <p:nvSpPr>
          <p:cNvPr id="13" name="Text 11"/>
          <p:cNvSpPr/>
          <p:nvPr/>
        </p:nvSpPr>
        <p:spPr>
          <a:xfrm>
            <a:off x="548640" y="3200400"/>
            <a:ext cx="411480" cy="411480"/>
          </a:xfrm>
          <a:prstGeom prst="rect">
            <a:avLst/>
          </a:prstGeom>
          <a:noFill/>
          <a:ln/>
        </p:spPr>
        <p:txBody>
          <a:bodyPr wrap="square" rtlCol="0" anchor="ctr"/>
          <a:lstStyle/>
          <a:p>
            <a:pPr algn="ctr" indent="0" marL="0">
              <a:buNone/>
            </a:pPr>
            <a:r>
              <a:rPr lang="en-US" sz="1500" b="1" dirty="0">
                <a:solidFill>
                  <a:srgbClr val="FFFFFF"/>
                </a:solidFill>
                <a:latin typeface="GT Alpina" pitchFamily="34" charset="0"/>
                <a:ea typeface="GT Alpina" pitchFamily="34" charset="-122"/>
                <a:cs typeface="GT Alpina" pitchFamily="34" charset="-120"/>
              </a:rPr>
              <a:t>4</a:t>
            </a:r>
            <a:endParaRPr lang="en-US" sz="1500" dirty="0"/>
          </a:p>
        </p:txBody>
      </p:sp>
      <p:sp>
        <p:nvSpPr>
          <p:cNvPr id="14" name="Text 12"/>
          <p:cNvSpPr txBox="1"/>
          <p:nvPr/>
        </p:nvSpPr>
        <p:spPr>
          <a:xfrm>
            <a:off x="1143000" y="3172968"/>
            <a:ext cx="9966960" cy="502920"/>
          </a:xfrm>
          <a:prstGeom prst="rect">
            <a:avLst/>
          </a:prstGeom>
          <a:noFill/>
          <a:ln/>
        </p:spPr>
        <p:txBody>
          <a:bodyPr wrap="square" rtlCol="0" anchor="ctr"/>
          <a:lstStyle/>
          <a:p>
            <a:pPr indent="0" marL="0">
              <a:buNone/>
            </a:pPr>
            <a:r>
              <a:rPr lang="en-US" sz="1250" dirty="0">
                <a:solidFill>
                  <a:srgbClr val="3E3D40"/>
                </a:solidFill>
                <a:latin typeface="Calibri" pitchFamily="34" charset="0"/>
                <a:ea typeface="Calibri" pitchFamily="34" charset="-122"/>
                <a:cs typeface="Calibri" pitchFamily="34" charset="-120"/>
              </a:rPr>
              <a:t>Traducir los criterios de selección en una guía corta de entrevista.</a:t>
            </a:r>
            <a:endParaRPr lang="en-US" sz="1250" dirty="0"/>
          </a:p>
        </p:txBody>
      </p:sp>
      <p:sp>
        <p:nvSpPr>
          <p:cNvPr id="15" name="Shape 13"/>
          <p:cNvSpPr/>
          <p:nvPr/>
        </p:nvSpPr>
        <p:spPr>
          <a:xfrm>
            <a:off x="548640" y="3794760"/>
            <a:ext cx="411480" cy="411480"/>
          </a:xfrm>
          <a:prstGeom prst="ellipse">
            <a:avLst/>
          </a:prstGeom>
          <a:solidFill>
            <a:srgbClr val="1D79ED"/>
          </a:solidFill>
          <a:ln/>
        </p:spPr>
      </p:sp>
      <p:sp>
        <p:nvSpPr>
          <p:cNvPr id="16" name="Text 14"/>
          <p:cNvSpPr/>
          <p:nvPr/>
        </p:nvSpPr>
        <p:spPr>
          <a:xfrm>
            <a:off x="548640" y="3794760"/>
            <a:ext cx="411480" cy="411480"/>
          </a:xfrm>
          <a:prstGeom prst="rect">
            <a:avLst/>
          </a:prstGeom>
          <a:noFill/>
          <a:ln/>
        </p:spPr>
        <p:txBody>
          <a:bodyPr wrap="square" rtlCol="0" anchor="ctr"/>
          <a:lstStyle/>
          <a:p>
            <a:pPr algn="ctr" indent="0" marL="0">
              <a:buNone/>
            </a:pPr>
            <a:r>
              <a:rPr lang="en-US" sz="1500" b="1" dirty="0">
                <a:solidFill>
                  <a:srgbClr val="FFFFFF"/>
                </a:solidFill>
                <a:latin typeface="GT Alpina" pitchFamily="34" charset="0"/>
                <a:ea typeface="GT Alpina" pitchFamily="34" charset="-122"/>
                <a:cs typeface="GT Alpina" pitchFamily="34" charset="-120"/>
              </a:rPr>
              <a:t>5</a:t>
            </a:r>
            <a:endParaRPr lang="en-US" sz="1500" dirty="0"/>
          </a:p>
        </p:txBody>
      </p:sp>
      <p:sp>
        <p:nvSpPr>
          <p:cNvPr id="17" name="Text 15"/>
          <p:cNvSpPr txBox="1"/>
          <p:nvPr/>
        </p:nvSpPr>
        <p:spPr>
          <a:xfrm>
            <a:off x="1143000" y="3767328"/>
            <a:ext cx="9966960" cy="502920"/>
          </a:xfrm>
          <a:prstGeom prst="rect">
            <a:avLst/>
          </a:prstGeom>
          <a:noFill/>
          <a:ln/>
        </p:spPr>
        <p:txBody>
          <a:bodyPr wrap="square" rtlCol="0" anchor="ctr"/>
          <a:lstStyle/>
          <a:p>
            <a:pPr indent="0" marL="0">
              <a:buNone/>
            </a:pPr>
            <a:r>
              <a:rPr lang="en-US" sz="1250" dirty="0">
                <a:solidFill>
                  <a:srgbClr val="3E3D40"/>
                </a:solidFill>
                <a:latin typeface="Calibri" pitchFamily="34" charset="0"/>
                <a:ea typeface="Calibri" pitchFamily="34" charset="-122"/>
                <a:cs typeface="Calibri" pitchFamily="34" charset="-120"/>
              </a:rPr>
              <a:t>Revisar estos estándares con el propio equipo actual antes de darlos por definitivos.</a:t>
            </a:r>
            <a:endParaRPr lang="en-US" sz="1250" dirty="0"/>
          </a:p>
        </p:txBody>
      </p:sp>
      <p:sp>
        <p:nvSpPr>
          <p:cNvPr id="18" name="Shape 16"/>
          <p:cNvSpPr/>
          <p:nvPr/>
        </p:nvSpPr>
        <p:spPr>
          <a:xfrm>
            <a:off x="548640" y="4389120"/>
            <a:ext cx="411480" cy="411480"/>
          </a:xfrm>
          <a:prstGeom prst="ellipse">
            <a:avLst/>
          </a:prstGeom>
          <a:solidFill>
            <a:srgbClr val="1D79ED"/>
          </a:solidFill>
          <a:ln/>
        </p:spPr>
      </p:sp>
      <p:sp>
        <p:nvSpPr>
          <p:cNvPr id="19" name="Text 17"/>
          <p:cNvSpPr/>
          <p:nvPr/>
        </p:nvSpPr>
        <p:spPr>
          <a:xfrm>
            <a:off x="548640" y="4389120"/>
            <a:ext cx="411480" cy="411480"/>
          </a:xfrm>
          <a:prstGeom prst="rect">
            <a:avLst/>
          </a:prstGeom>
          <a:noFill/>
          <a:ln/>
        </p:spPr>
        <p:txBody>
          <a:bodyPr wrap="square" rtlCol="0" anchor="ctr"/>
          <a:lstStyle/>
          <a:p>
            <a:pPr algn="ctr" indent="0" marL="0">
              <a:buNone/>
            </a:pPr>
            <a:r>
              <a:rPr lang="en-US" sz="1500" b="1" dirty="0">
                <a:solidFill>
                  <a:srgbClr val="FFFFFF"/>
                </a:solidFill>
                <a:latin typeface="GT Alpina" pitchFamily="34" charset="0"/>
                <a:ea typeface="GT Alpina" pitchFamily="34" charset="-122"/>
                <a:cs typeface="GT Alpina" pitchFamily="34" charset="-120"/>
              </a:rPr>
              <a:t>6</a:t>
            </a:r>
            <a:endParaRPr lang="en-US" sz="1500" dirty="0"/>
          </a:p>
        </p:txBody>
      </p:sp>
      <p:sp>
        <p:nvSpPr>
          <p:cNvPr id="20" name="Text 18"/>
          <p:cNvSpPr txBox="1"/>
          <p:nvPr/>
        </p:nvSpPr>
        <p:spPr>
          <a:xfrm>
            <a:off x="1143000" y="4361688"/>
            <a:ext cx="9966960" cy="502920"/>
          </a:xfrm>
          <a:prstGeom prst="rect">
            <a:avLst/>
          </a:prstGeom>
          <a:noFill/>
          <a:ln/>
        </p:spPr>
        <p:txBody>
          <a:bodyPr wrap="square" rtlCol="0" anchor="ctr"/>
          <a:lstStyle/>
          <a:p>
            <a:pPr indent="0" marL="0">
              <a:buNone/>
            </a:pPr>
            <a:r>
              <a:rPr lang="en-US" sz="1250" dirty="0">
                <a:solidFill>
                  <a:srgbClr val="3E3D40"/>
                </a:solidFill>
                <a:latin typeface="Calibri" pitchFamily="34" charset="0"/>
                <a:ea typeface="Calibri" pitchFamily="34" charset="-122"/>
                <a:cs typeface="Calibri" pitchFamily="34" charset="-120"/>
              </a:rPr>
              <a:t>Confirmar si existe un canal, aunque informal, para decir “esto no se sostiene” — y si el escalado se formaliza en la sección 8.</a:t>
            </a:r>
            <a:endParaRPr lang="en-US" sz="1250" dirty="0"/>
          </a:p>
        </p:txBody>
      </p:sp>
      <p:sp>
        <p:nvSpPr>
          <p:cNvPr id="21" name="Shape 19"/>
          <p:cNvSpPr/>
          <p:nvPr/>
        </p:nvSpPr>
        <p:spPr>
          <a:xfrm>
            <a:off x="548640" y="4983480"/>
            <a:ext cx="411480" cy="411480"/>
          </a:xfrm>
          <a:prstGeom prst="ellipse">
            <a:avLst/>
          </a:prstGeom>
          <a:solidFill>
            <a:srgbClr val="1D79ED"/>
          </a:solidFill>
          <a:ln/>
        </p:spPr>
      </p:sp>
      <p:sp>
        <p:nvSpPr>
          <p:cNvPr id="22" name="Text 20"/>
          <p:cNvSpPr/>
          <p:nvPr/>
        </p:nvSpPr>
        <p:spPr>
          <a:xfrm>
            <a:off x="548640" y="4983480"/>
            <a:ext cx="411480" cy="411480"/>
          </a:xfrm>
          <a:prstGeom prst="rect">
            <a:avLst/>
          </a:prstGeom>
          <a:noFill/>
          <a:ln/>
        </p:spPr>
        <p:txBody>
          <a:bodyPr wrap="square" rtlCol="0" anchor="ctr"/>
          <a:lstStyle/>
          <a:p>
            <a:pPr algn="ctr" indent="0" marL="0">
              <a:buNone/>
            </a:pPr>
            <a:r>
              <a:rPr lang="en-US" sz="1500" b="1" dirty="0">
                <a:solidFill>
                  <a:srgbClr val="FFFFFF"/>
                </a:solidFill>
                <a:latin typeface="GT Alpina" pitchFamily="34" charset="0"/>
                <a:ea typeface="GT Alpina" pitchFamily="34" charset="-122"/>
                <a:cs typeface="GT Alpina" pitchFamily="34" charset="-120"/>
              </a:rPr>
              <a:t>7</a:t>
            </a:r>
            <a:endParaRPr lang="en-US" sz="1500" dirty="0"/>
          </a:p>
        </p:txBody>
      </p:sp>
      <p:sp>
        <p:nvSpPr>
          <p:cNvPr id="23" name="Text 21"/>
          <p:cNvSpPr txBox="1"/>
          <p:nvPr/>
        </p:nvSpPr>
        <p:spPr>
          <a:xfrm>
            <a:off x="1143000" y="4956048"/>
            <a:ext cx="9966960" cy="502920"/>
          </a:xfrm>
          <a:prstGeom prst="rect">
            <a:avLst/>
          </a:prstGeom>
          <a:noFill/>
          <a:ln/>
        </p:spPr>
        <p:txBody>
          <a:bodyPr wrap="square" rtlCol="0" anchor="ctr"/>
          <a:lstStyle/>
          <a:p>
            <a:pPr indent="0" marL="0">
              <a:buNone/>
            </a:pPr>
            <a:r>
              <a:rPr lang="en-US" sz="1250" dirty="0">
                <a:solidFill>
                  <a:srgbClr val="3E3D40"/>
                </a:solidFill>
                <a:latin typeface="Calibri" pitchFamily="34" charset="0"/>
                <a:ea typeface="Calibri" pitchFamily="34" charset="-122"/>
                <a:cs typeface="Calibri" pitchFamily="34" charset="-120"/>
              </a:rPr>
              <a:t>Confirmar si existe ya una política de pausas o descansos dentro del turno.</a:t>
            </a:r>
            <a:endParaRPr lang="en-US" sz="1250" dirty="0"/>
          </a:p>
        </p:txBody>
      </p:sp>
      <p:sp>
        <p:nvSpPr>
          <p:cNvPr id="24" name="Shape 22"/>
          <p:cNvSpPr/>
          <p:nvPr/>
        </p:nvSpPr>
        <p:spPr>
          <a:xfrm>
            <a:off x="548640" y="5577840"/>
            <a:ext cx="411480" cy="411480"/>
          </a:xfrm>
          <a:prstGeom prst="ellipse">
            <a:avLst/>
          </a:prstGeom>
          <a:solidFill>
            <a:srgbClr val="1D79ED"/>
          </a:solidFill>
          <a:ln/>
        </p:spPr>
      </p:sp>
      <p:sp>
        <p:nvSpPr>
          <p:cNvPr id="25" name="Text 23"/>
          <p:cNvSpPr/>
          <p:nvPr/>
        </p:nvSpPr>
        <p:spPr>
          <a:xfrm>
            <a:off x="548640" y="5577840"/>
            <a:ext cx="411480" cy="411480"/>
          </a:xfrm>
          <a:prstGeom prst="rect">
            <a:avLst/>
          </a:prstGeom>
          <a:noFill/>
          <a:ln/>
        </p:spPr>
        <p:txBody>
          <a:bodyPr wrap="square" rtlCol="0" anchor="ctr"/>
          <a:lstStyle/>
          <a:p>
            <a:pPr algn="ctr" indent="0" marL="0">
              <a:buNone/>
            </a:pPr>
            <a:r>
              <a:rPr lang="en-US" sz="1500" b="1" dirty="0">
                <a:solidFill>
                  <a:srgbClr val="FFFFFF"/>
                </a:solidFill>
                <a:latin typeface="GT Alpina" pitchFamily="34" charset="0"/>
                <a:ea typeface="GT Alpina" pitchFamily="34" charset="-122"/>
                <a:cs typeface="GT Alpina" pitchFamily="34" charset="-120"/>
              </a:rPr>
              <a:t>8</a:t>
            </a:r>
            <a:endParaRPr lang="en-US" sz="1500" dirty="0"/>
          </a:p>
        </p:txBody>
      </p:sp>
      <p:sp>
        <p:nvSpPr>
          <p:cNvPr id="26" name="Text 24"/>
          <p:cNvSpPr txBox="1"/>
          <p:nvPr/>
        </p:nvSpPr>
        <p:spPr>
          <a:xfrm>
            <a:off x="1143000" y="5550408"/>
            <a:ext cx="9966960" cy="502920"/>
          </a:xfrm>
          <a:prstGeom prst="rect">
            <a:avLst/>
          </a:prstGeom>
          <a:noFill/>
          <a:ln/>
        </p:spPr>
        <p:txBody>
          <a:bodyPr wrap="square" rtlCol="0" anchor="ctr"/>
          <a:lstStyle/>
          <a:p>
            <a:pPr indent="0" marL="0">
              <a:buNone/>
            </a:pPr>
            <a:r>
              <a:rPr lang="en-US" sz="1250" dirty="0">
                <a:solidFill>
                  <a:srgbClr val="3E3D40"/>
                </a:solidFill>
                <a:latin typeface="Calibri" pitchFamily="34" charset="0"/>
                <a:ea typeface="Calibri" pitchFamily="34" charset="-122"/>
                <a:cs typeface="Calibri" pitchFamily="34" charset="-120"/>
              </a:rPr>
              <a:t>Preguntar si las tensiones de staffing de 3.6 se replican igual en Parquesur.</a:t>
            </a:r>
            <a:endParaRPr lang="en-US" sz="12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D"/>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2377440"/>
            <a:ext cx="10515600" cy="1645920"/>
          </a:xfrm>
          <a:prstGeom prst="rect">
            <a:avLst/>
          </a:prstGeom>
          <a:noFill/>
          <a:ln/>
        </p:spPr>
        <p:txBody>
          <a:bodyPr wrap="square" rtlCol="0" anchor="ctr"/>
          <a:lstStyle/>
          <a:p>
            <a:pPr indent="0" marL="0">
              <a:lnSpc>
                <a:spcPct val="120000"/>
              </a:lnSpc>
              <a:buNone/>
            </a:pPr>
            <a:r>
              <a:rPr lang="en-US" sz="2800" b="1" dirty="0">
                <a:solidFill>
                  <a:srgbClr val="FFFFFF"/>
                </a:solidFill>
                <a:latin typeface="GT Alpina" pitchFamily="34" charset="0"/>
                <a:ea typeface="GT Alpina" pitchFamily="34" charset="-122"/>
                <a:cs typeface="GT Alpina" pitchFamily="34" charset="-120"/>
              </a:rPr>
              <a:t>Este documento se construye sobre lo que</a:t>
            </a:r>
            <a:endParaRPr lang="en-US" sz="2800" dirty="0"/>
          </a:p>
          <a:p>
            <a:pPr indent="0" marL="0">
              <a:lnSpc>
                <a:spcPct val="120000"/>
              </a:lnSpc>
              <a:buNone/>
            </a:pPr>
            <a:r>
              <a:rPr lang="en-US" sz="2800" b="1" dirty="0">
                <a:solidFill>
                  <a:srgbClr val="FFFFFF"/>
                </a:solidFill>
                <a:latin typeface="GT Alpina" pitchFamily="34" charset="0"/>
                <a:ea typeface="GT Alpina" pitchFamily="34" charset="-122"/>
                <a:cs typeface="GT Alpina" pitchFamily="34" charset="-120"/>
              </a:rPr>
              <a:t>Lady Madrid ya es y ya ha decidido.</a:t>
            </a:r>
            <a:endParaRPr lang="en-US" sz="2800" dirty="0"/>
          </a:p>
        </p:txBody>
      </p:sp>
      <p:sp>
        <p:nvSpPr>
          <p:cNvPr id="3" name="Text 1"/>
          <p:cNvSpPr txBox="1"/>
          <p:nvPr/>
        </p:nvSpPr>
        <p:spPr>
          <a:xfrm>
            <a:off x="548640" y="4114800"/>
            <a:ext cx="8686800" cy="1188720"/>
          </a:xfrm>
          <a:prstGeom prst="rect">
            <a:avLst/>
          </a:prstGeom>
          <a:noFill/>
          <a:ln/>
        </p:spPr>
        <p:txBody>
          <a:bodyPr wrap="square" rtlCol="0" anchor="ctr"/>
          <a:lstStyle/>
          <a:p>
            <a:pPr indent="0" marL="0">
              <a:lnSpc>
                <a:spcPct val="125000"/>
              </a:lnSpc>
              <a:buNone/>
            </a:pPr>
            <a:r>
              <a:rPr lang="en-US" sz="1400" dirty="0">
                <a:solidFill>
                  <a:srgbClr val="E7DCCC"/>
                </a:solidFill>
                <a:latin typeface="Calibri" pitchFamily="34" charset="0"/>
                <a:ea typeface="Calibri" pitchFamily="34" charset="-122"/>
                <a:cs typeface="Calibri" pitchFamily="34" charset="-120"/>
              </a:rPr>
              <a:t>No inventa una marca nueva ni una estructura de equipo distinta de la real. Queda abierto a revisión — especialmente en todo lo señalado como pendiente de validar con Andrea, Sergio o el cliente.</a:t>
            </a:r>
            <a:endParaRPr lang="en-US" sz="1400" dirty="0"/>
          </a:p>
        </p:txBody>
      </p:sp>
      <p:sp>
        <p:nvSpPr>
          <p:cNvPr id="4" name="Text 2"/>
          <p:cNvSpPr txBox="1"/>
          <p:nvPr/>
        </p:nvSpPr>
        <p:spPr>
          <a:xfrm>
            <a:off x="548640" y="6035040"/>
            <a:ext cx="7315200" cy="365760"/>
          </a:xfrm>
          <a:prstGeom prst="rect">
            <a:avLst/>
          </a:prstGeom>
          <a:noFill/>
          <a:ln/>
        </p:spPr>
        <p:txBody>
          <a:bodyPr wrap="square" rtlCol="0" anchor="ctr"/>
          <a:lstStyle/>
          <a:p>
            <a:pPr indent="0" marL="0">
              <a:buNone/>
            </a:pPr>
            <a:r>
              <a:rPr lang="en-US" sz="1200" i="1" dirty="0">
                <a:solidFill>
                  <a:srgbClr val="E84E27"/>
                </a:solidFill>
                <a:latin typeface="Calibri" pitchFamily="34" charset="0"/>
                <a:ea typeface="Calibri" pitchFamily="34" charset="-122"/>
                <a:cs typeface="Calibri" pitchFamily="34" charset="-120"/>
              </a:rPr>
              <a:t>LADY MADRID · Specialty Coffee Roasters</a:t>
            </a:r>
            <a:endParaRPr lang="en-US" sz="1200" dirty="0"/>
          </a:p>
        </p:txBody>
      </p:sp>
    </p:spTree>
  </p:cSld>
  <p:clrMapOvr>
    <a:masterClrMapping/>
  </p:clrMapOvr>
</p:sld>
</file>

<file path=ppt/theme/theme1.xml><?xml version="1.0" encoding="utf-8"?>
<a:theme xmlns:a="http://schemas.openxmlformats.org/drawingml/2006/main" name="Lady Madrid">
  <a:themeElements>
    <a:clrScheme name="Lady Madrid">
      <a:dk1>
        <a:srgbClr val="3E3D40"/>
      </a:dk1>
      <a:lt1>
        <a:srgbClr val="FFFFFF"/>
      </a:lt1>
      <a:dk2>
        <a:srgbClr val="1D79ED"/>
      </a:dk2>
      <a:lt2>
        <a:srgbClr val="E7DCCC"/>
      </a:lt2>
      <a:accent1>
        <a:srgbClr val="1D79ED"/>
      </a:accent1>
      <a:accent2>
        <a:srgbClr val="E84E27"/>
      </a:accent2>
      <a:accent3>
        <a:srgbClr val="ED9ED0"/>
      </a:accent3>
      <a:accent4>
        <a:srgbClr val="3E3D40"/>
      </a:accent4>
      <a:accent5>
        <a:srgbClr val="E7DCCC"/>
      </a:accent5>
      <a:accent6>
        <a:srgbClr val="14529B"/>
      </a:accent6>
      <a:hlink>
        <a:srgbClr val="1D79ED"/>
      </a:hlink>
      <a:folHlink>
        <a:srgbClr val="E84E27"/>
      </a:folHlink>
    </a:clrScheme>
    <a:fontScheme name="Lady Madrid">
      <a:majorFont>
        <a:latin typeface="GT Alpin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The Bar N' Bar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Hospitalidad y Cultura de Servicio — Lady Madrid</dc:title>
  <dc:subject>PptxGenJS Presentation</dc:subject>
  <dc:creator>PptxGenJS</dc:creator>
  <cp:lastModifiedBy>PptxGenJS</cp:lastModifiedBy>
  <cp:revision>1</cp:revision>
  <dcterms:created xsi:type="dcterms:W3CDTF">2026-10-16T11:33:27Z</dcterms:created>
  <dcterms:modified xsi:type="dcterms:W3CDTF">2026-10-16T11:33:27Z</dcterms:modified>
</cp:coreProperties>
</file>