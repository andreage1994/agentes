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8" r:id="rId19"/>
    <p:sldId id="274" r:id="rId25"/>
    <p:sldId id="294" r:id="rId54"/>
    <p:sldId id="293" r:id="rId53"/>
    <p:sldId id="292" r:id="rId52"/>
    <p:sldId id="291" r:id="rId51"/>
    <p:sldId id="290" r:id="rId50"/>
    <p:sldId id="289" r:id="rId49"/>
    <p:sldId id="288" r:id="rId48"/>
    <p:sldId id="287" r:id="rId47"/>
    <p:sldId id="286" r:id="rId46"/>
    <p:sldId id="285" r:id="rId45"/>
    <p:sldId id="284" r:id="rId44"/>
    <p:sldId id="283" r:id="rId43"/>
    <p:sldId id="282" r:id="rId42"/>
    <p:sldId id="281" r:id="rId41"/>
  </p:sldIdLst>
  <p:sldSz cy="10287000" cx="18288000"/>
  <p:notesSz cx="6858000" cy="9144000"/>
  <p:embeddedFontLst>
    <p:embeddedFont>
      <p:font typeface="Helvetica Neue"/>
      <p:regular r:id="rId26"/>
      <p:bold r:id="rId27"/>
      <p:italic r:id="rId28"/>
      <p:boldItalic r:id="rId29"/>
    </p:embeddedFont>
    <p:embeddedFont>
      <p:font typeface="Epilogue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g9tSmy6p0PX1VXbjENWA0YGZ+8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CF2276-01A0-4305-AA87-1BB3419B6041}">
  <a:tblStyle styleId="{13CF2276-01A0-4305-AA87-1BB3419B6041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 b="off" i="off"/>
    </a:neCell>
    <a:nwCell>
      <a:tcTxStyle b="off" i="off"/>
    </a:nwCell>
  </a:tblStyle>
  <a:tblStyle styleId="{EEFC6B96-5C7F-40CB-9062-C41EB17D480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HelveticaNeue-regular.fntdata"/><Relationship Id="rId25" Type="http://schemas.openxmlformats.org/officeDocument/2006/relationships/slide" Target="slides/slide19.xml"/><Relationship Id="rId28" Type="http://schemas.openxmlformats.org/officeDocument/2006/relationships/font" Target="fonts/HelveticaNeue-italic.fntdata"/><Relationship Id="rId27" Type="http://schemas.openxmlformats.org/officeDocument/2006/relationships/font" Target="fonts/HelveticaNeue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HelveticaNeue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Epilogue-bold.fntdata"/><Relationship Id="rId30" Type="http://schemas.openxmlformats.org/officeDocument/2006/relationships/font" Target="fonts/Epilogue-regular.fntdata"/><Relationship Id="rId11" Type="http://schemas.openxmlformats.org/officeDocument/2006/relationships/slide" Target="slides/slide5.xml"/><Relationship Id="rId33" Type="http://schemas.openxmlformats.org/officeDocument/2006/relationships/font" Target="fonts/Epilogue-boldItalic.fntdata"/><Relationship Id="rId10" Type="http://schemas.openxmlformats.org/officeDocument/2006/relationships/slide" Target="slides/slide4.xml"/><Relationship Id="rId32" Type="http://schemas.openxmlformats.org/officeDocument/2006/relationships/font" Target="fonts/Epilogue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9" Type="http://schemas.openxmlformats.org/officeDocument/2006/relationships/slide" Target="slides/slide13.xml"/>  
  
  
  
  
  
  <Relationship Id="rId41" Type="http://schemas.openxmlformats.org/officeDocument/2006/relationships/slide" Target="slides/slide26.xml"/>
  <Relationship Id="rId42" Type="http://schemas.openxmlformats.org/officeDocument/2006/relationships/slide" Target="slides/slide27.xml"/>
  <Relationship Id="rId43" Type="http://schemas.openxmlformats.org/officeDocument/2006/relationships/slide" Target="slides/slide28.xml"/>
  <Relationship Id="rId44" Type="http://schemas.openxmlformats.org/officeDocument/2006/relationships/slide" Target="slides/slide29.xml"/>
  <Relationship Id="rId45" Type="http://schemas.openxmlformats.org/officeDocument/2006/relationships/slide" Target="slides/slide30.xml"/>
  <Relationship Id="rId46" Type="http://schemas.openxmlformats.org/officeDocument/2006/relationships/slide" Target="slides/slide31.xml"/>
  <Relationship Id="rId47" Type="http://schemas.openxmlformats.org/officeDocument/2006/relationships/slide" Target="slides/slide32.xml"/>
  <Relationship Id="rId48" Type="http://schemas.openxmlformats.org/officeDocument/2006/relationships/slide" Target="slides/slide33.xml"/>
  <Relationship Id="rId49" Type="http://schemas.openxmlformats.org/officeDocument/2006/relationships/slide" Target="slides/slide34.xml"/>
  <Relationship Id="rId50" Type="http://schemas.openxmlformats.org/officeDocument/2006/relationships/slide" Target="slides/slide35.xml"/>
  <Relationship Id="rId51" Type="http://schemas.openxmlformats.org/officeDocument/2006/relationships/slide" Target="slides/slide36.xml"/>
  <Relationship Id="rId52" Type="http://schemas.openxmlformats.org/officeDocument/2006/relationships/slide" Target="slides/slide37.xml"/>
  <Relationship Id="rId53" Type="http://schemas.openxmlformats.org/officeDocument/2006/relationships/slide" Target="slides/slide38.xml"/>
  <Relationship Id="rId54" Type="http://schemas.openxmlformats.org/officeDocument/2006/relationships/slide" Target="slides/slide39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99" name="Google Shape;99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0" name="Google Shape;100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03" name="Google Shape;103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12" name="Google Shape;112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3" name="Google Shape;113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16" name="Google Shape;116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24" name="Google Shape;124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5" name="Google Shape;125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28" name="Google Shape;128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39" name="Google Shape;139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0" name="Google Shape;140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43" name="Google Shape;143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51" name="Google Shape;151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2" name="Google Shape;152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55" name="Google Shape;155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62" name="Google Shape;162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3" name="Google Shape;163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66" name="Google Shape;166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742fa75ff_0_5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47" name="Google Shape;247;g3f742fa75ff_0_5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8" name="Google Shape;248;g3f742fa75ff_0_58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f742fa75ff_0_58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g3f742fa75ff_0_58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51" name="Google Shape;251;g3f742fa75ff_0_58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742fa75ff_0_13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32" name="Google Shape;332;g3f742fa75ff_0_13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3" name="Google Shape;333;g3f742fa75ff_0_137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f742fa75ff_0_137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g3f742fa75ff_0_137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36" name="Google Shape;336;g3f742fa75ff_0_137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1.jp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1.jpg"/><Relationship Id="rId5" Type="http://schemas.openxmlformats.org/officeDocument/2006/relationships/image" Target="../media/image5.jp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6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Relationship Id="rId4" Type="http://schemas.openxmlformats.org/officeDocument/2006/relationships/image" Target="../media/image1.jpg"/><Relationship Id="rId5" Type="http://schemas.openxmlformats.org/officeDocument/2006/relationships/image" Target="../media/image10.png"/><Relationship Id="rId6" Type="http://schemas.openxmlformats.org/officeDocument/2006/relationships/image" Target="../media/dishphoto100.jp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Relationship Id="rId4" Type="http://schemas.openxmlformats.org/officeDocument/2006/relationships/image" Target="../media/image1.jpg"/><Relationship Id="rId5" Type="http://schemas.openxmlformats.org/officeDocument/2006/relationships/image" Target="../media/image10.png"/><Relationship Id="rId6" Type="http://schemas.openxmlformats.org/officeDocument/2006/relationships/image" Target="../media/dishphoto101.jp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jpg"/><Relationship Id="rId4" Type="http://schemas.openxmlformats.org/officeDocument/2006/relationships/image" Target="../media/image1.jpg"/><Relationship Id="rId5" Type="http://schemas.openxmlformats.org/officeDocument/2006/relationships/image" Target="../media/image10.png"/><Relationship Id="rId6" Type="http://schemas.openxmlformats.org/officeDocument/2006/relationships/image" Target="../media/dishphoto102.jp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jpg"/><Relationship Id="rId4" Type="http://schemas.openxmlformats.org/officeDocument/2006/relationships/image" Target="../media/image1.jpg"/><Relationship Id="rId5" Type="http://schemas.openxmlformats.org/officeDocument/2006/relationships/image" Target="../media/image10.png"/><Relationship Id="rId6" Type="http://schemas.openxmlformats.org/officeDocument/2006/relationships/image" Target="../media/dishphoto116.jp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jpg"/><Relationship Id="rId4" Type="http://schemas.openxmlformats.org/officeDocument/2006/relationships/image" Target="../media/image1.jpg"/><Relationship Id="rId5" Type="http://schemas.openxmlformats.org/officeDocument/2006/relationships/image" Target="../media/image10.png"/><Relationship Id="rId6" Type="http://schemas.openxmlformats.org/officeDocument/2006/relationships/image" Target="../media/dishphoto115.jp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jpg"/><Relationship Id="rId4" Type="http://schemas.openxmlformats.org/officeDocument/2006/relationships/image" Target="../media/image1.jpg"/><Relationship Id="rId5" Type="http://schemas.openxmlformats.org/officeDocument/2006/relationships/image" Target="../media/image10.png"/><Relationship Id="rId6" Type="http://schemas.openxmlformats.org/officeDocument/2006/relationships/image" Target="../media/dishphoto114.jp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jpg"/><Relationship Id="rId4" Type="http://schemas.openxmlformats.org/officeDocument/2006/relationships/image" Target="../media/image1.jpg"/><Relationship Id="rId5" Type="http://schemas.openxmlformats.org/officeDocument/2006/relationships/image" Target="../media/image10.png"/><Relationship Id="rId6" Type="http://schemas.openxmlformats.org/officeDocument/2006/relationships/image" Target="../media/dishphoto113.jp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jpg"/><Relationship Id="rId4" Type="http://schemas.openxmlformats.org/officeDocument/2006/relationships/image" Target="../media/image1.jpg"/><Relationship Id="rId5" Type="http://schemas.openxmlformats.org/officeDocument/2006/relationships/image" Target="../media/image10.png"/><Relationship Id="rId6" Type="http://schemas.openxmlformats.org/officeDocument/2006/relationships/image" Target="../media/dishphoto112.jpg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jpg"/><Relationship Id="rId4" Type="http://schemas.openxmlformats.org/officeDocument/2006/relationships/image" Target="../media/image1.jpg"/><Relationship Id="rId5" Type="http://schemas.openxmlformats.org/officeDocument/2006/relationships/image" Target="../media/image10.png"/><Relationship Id="rId6" Type="http://schemas.openxmlformats.org/officeDocument/2006/relationships/image" Target="../media/dishphoto111.jp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jpg"/><Relationship Id="rId4" Type="http://schemas.openxmlformats.org/officeDocument/2006/relationships/image" Target="../media/image1.jpg"/><Relationship Id="rId5" Type="http://schemas.openxmlformats.org/officeDocument/2006/relationships/image" Target="../media/image10.png"/><Relationship Id="rId6" Type="http://schemas.openxmlformats.org/officeDocument/2006/relationships/image" Target="../media/dishphoto110.jp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jpg"/><Relationship Id="rId4" Type="http://schemas.openxmlformats.org/officeDocument/2006/relationships/image" Target="../media/image1.jpg"/><Relationship Id="rId5" Type="http://schemas.openxmlformats.org/officeDocument/2006/relationships/image" Target="../media/image10.png"/><Relationship Id="rId6" Type="http://schemas.openxmlformats.org/officeDocument/2006/relationships/image" Target="../media/dishphoto109.jpg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jpg"/><Relationship Id="rId4" Type="http://schemas.openxmlformats.org/officeDocument/2006/relationships/image" Target="../media/image1.jpg"/><Relationship Id="rId5" Type="http://schemas.openxmlformats.org/officeDocument/2006/relationships/image" Target="../media/image10.png"/><Relationship Id="rId6" Type="http://schemas.openxmlformats.org/officeDocument/2006/relationships/image" Target="../media/dishphoto108.jpg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jpg"/><Relationship Id="rId4" Type="http://schemas.openxmlformats.org/officeDocument/2006/relationships/image" Target="../media/image1.jpg"/><Relationship Id="rId5" Type="http://schemas.openxmlformats.org/officeDocument/2006/relationships/image" Target="../media/image10.png"/><Relationship Id="rId6" Type="http://schemas.openxmlformats.org/officeDocument/2006/relationships/image" Target="../media/dishphoto107.jp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jpg"/><Relationship Id="rId4" Type="http://schemas.openxmlformats.org/officeDocument/2006/relationships/image" Target="../media/image1.jpg"/><Relationship Id="rId5" Type="http://schemas.openxmlformats.org/officeDocument/2006/relationships/image" Target="../media/image10.png"/><Relationship Id="rId6" Type="http://schemas.openxmlformats.org/officeDocument/2006/relationships/image" Target="../media/dishphoto106.jpg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jpg"/><Relationship Id="rId4" Type="http://schemas.openxmlformats.org/officeDocument/2006/relationships/image" Target="../media/image1.jpg"/><Relationship Id="rId5" Type="http://schemas.openxmlformats.org/officeDocument/2006/relationships/image" Target="../media/image10.png"/><Relationship Id="rId6" Type="http://schemas.openxmlformats.org/officeDocument/2006/relationships/image" Target="../media/dishphoto105.jpg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jpg"/><Relationship Id="rId4" Type="http://schemas.openxmlformats.org/officeDocument/2006/relationships/image" Target="../media/image1.jpg"/><Relationship Id="rId5" Type="http://schemas.openxmlformats.org/officeDocument/2006/relationships/image" Target="../media/image10.png"/><Relationship Id="rId6" Type="http://schemas.openxmlformats.org/officeDocument/2006/relationships/image" Target="../media/dishphoto104.jpg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jpg"/><Relationship Id="rId4" Type="http://schemas.openxmlformats.org/officeDocument/2006/relationships/image" Target="../media/image1.jpg"/><Relationship Id="rId5" Type="http://schemas.openxmlformats.org/officeDocument/2006/relationships/image" Target="../media/image10.png"/><Relationship Id="rId6" Type="http://schemas.openxmlformats.org/officeDocument/2006/relationships/image" Target="../media/dishphoto10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1028700" y="604603"/>
            <a:ext cx="16230600" cy="8986550"/>
          </a:xfrm>
          <a:custGeom>
            <a:rect b="b" l="l" r="r" t="t"/>
            <a:pathLst>
              <a:path extrusionOk="0" h="8986550" w="16230600">
                <a:moveTo>
                  <a:pt x="0" y="0"/>
                </a:moveTo>
                <a:lnTo>
                  <a:pt x="16230600" y="0"/>
                </a:lnTo>
                <a:lnTo>
                  <a:pt x="16230600" y="8986550"/>
                </a:lnTo>
                <a:lnTo>
                  <a:pt x="0" y="8986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203" l="0" r="0" t="-10203"/>
            </a:stretch>
          </a:blipFill>
          <a:ln>
            <a:noFill/>
          </a:ln>
        </p:spPr>
      </p:sp>
      <p:grpSp>
        <p:nvGrpSpPr>
          <p:cNvPr id="93" name="Google Shape;93;p1"/>
          <p:cNvGrpSpPr/>
          <p:nvPr/>
        </p:nvGrpSpPr>
        <p:grpSpPr>
          <a:xfrm>
            <a:off x="3123826" y="1739514"/>
            <a:ext cx="11258351" cy="1955302"/>
            <a:chOff x="0" y="-9525"/>
            <a:chExt cx="13282422" cy="2306834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13282422" cy="2297309"/>
            </a:xfrm>
            <a:custGeom>
              <a:rect b="b" l="l" r="r" t="t"/>
              <a:pathLst>
                <a:path extrusionOk="0" h="2297309" w="13282422">
                  <a:moveTo>
                    <a:pt x="0" y="0"/>
                  </a:moveTo>
                  <a:lnTo>
                    <a:pt x="13282422" y="0"/>
                  </a:lnTo>
                  <a:lnTo>
                    <a:pt x="13282422" y="2297309"/>
                  </a:lnTo>
                  <a:lnTo>
                    <a:pt x="0" y="22973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8223" l="0" r="2463" t="-41542"/>
              </a:stretch>
            </a:blipFill>
            <a:ln>
              <a:noFill/>
            </a:ln>
          </p:spPr>
        </p:sp>
        <p:sp>
          <p:nvSpPr>
            <p:cNvPr id="95" name="Google Shape;95;p1"/>
            <p:cNvSpPr txBox="1"/>
            <p:nvPr/>
          </p:nvSpPr>
          <p:spPr>
            <a:xfrm>
              <a:off x="0" y="-9525"/>
              <a:ext cx="13282416" cy="230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99"/>
                <a:buFont typeface="Arial"/>
                <a:buNone/>
              </a:pPr>
              <a:r>
                <a:rPr b="1" lang="en-US" sz="5499">
                  <a:solidFill>
                    <a:srgbClr val="F2F2F2"/>
                  </a:solidFill>
                  <a:latin typeface="Epilogue"/>
                  <a:ea typeface="Epilogue"/>
                  <a:cs typeface="Epilogue"/>
                  <a:sym typeface="Epilogue"/>
                </a:rPr>
                <a:t>F&amp;B Bible </a:t>
              </a:r>
              <a:endParaRPr b="1" sz="5499">
                <a:solidFill>
                  <a:srgbClr val="F2F2F2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99"/>
                <a:buFont typeface="Arial"/>
                <a:buNone/>
              </a:pPr>
              <a:r>
                <a:rPr lang="en-US" sz="5499">
                  <a:solidFill>
                    <a:srgbClr val="F2F2F2"/>
                  </a:solidFill>
                  <a:latin typeface="Epilogue"/>
                  <a:ea typeface="Epilogue"/>
                  <a:cs typeface="Epilogue"/>
                  <a:sym typeface="Epilogue"/>
                </a:rPr>
                <a:t>Documento gastronómico operativo</a:t>
              </a:r>
              <a:endParaRPr sz="5499">
                <a:solidFill>
                  <a:srgbClr val="F2F2F2"/>
                </a:solidFill>
                <a:latin typeface="Epilogue"/>
                <a:ea typeface="Epilogue"/>
                <a:cs typeface="Epilogue"/>
                <a:sym typeface="Epilogue"/>
              </a:endParaRPr>
            </a:p>
          </p:txBody>
        </p:sp>
      </p:grpSp>
      <p:pic>
        <p:nvPicPr>
          <p:cNvPr id="96" name="Google Shape;96;p1" title="thebarnbarMesa de trabajo 1 copia 2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10350" y="5691525"/>
            <a:ext cx="3901548" cy="3899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49" l="0" r="0" t="-9238"/>
            </a:stretch>
          </a:blipFill>
          <a:ln>
            <a:noFill/>
          </a:ln>
        </p:spPr>
      </p:sp>
      <p:sp>
        <p:nvSpPr>
          <p:cNvPr id="106" name="Google Shape;106;p2"/>
          <p:cNvSpPr/>
          <p:nvPr/>
        </p:nvSpPr>
        <p:spPr>
          <a:xfrm>
            <a:off x="743879" y="319419"/>
            <a:ext cx="17544121" cy="9495383"/>
          </a:xfrm>
          <a:custGeom>
            <a:rect b="b" l="l" r="r" t="t"/>
            <a:pathLst>
              <a:path extrusionOk="0" h="11547657" w="21336000">
                <a:moveTo>
                  <a:pt x="0" y="0"/>
                </a:moveTo>
                <a:lnTo>
                  <a:pt x="21336000" y="0"/>
                </a:lnTo>
                <a:lnTo>
                  <a:pt x="21336000" y="11547657"/>
                </a:lnTo>
                <a:lnTo>
                  <a:pt x="0" y="1154765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7" name="Google Shape;107;p2"/>
          <p:cNvSpPr txBox="1"/>
          <p:nvPr/>
        </p:nvSpPr>
        <p:spPr>
          <a:xfrm>
            <a:off x="1804559" y="2452824"/>
            <a:ext cx="8796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804543" y="2816625"/>
            <a:ext cx="7339500" cy="26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86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1" i="0" lang="en-US" sz="2199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</a:t>
            </a:r>
            <a:r>
              <a:rPr b="1" lang="en-US" sz="2199">
                <a:latin typeface="Helvetica Neue"/>
                <a:ea typeface="Helvetica Neue"/>
                <a:cs typeface="Helvetica Neue"/>
                <a:sym typeface="Helvetica Neue"/>
              </a:rPr>
              <a:t>Filosofía gastronómica.</a:t>
            </a:r>
            <a:endParaRPr b="1" sz="2199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1" lang="en-US" sz="2199">
                <a:latin typeface="Helvetica Neue"/>
                <a:ea typeface="Helvetica Neue"/>
                <a:cs typeface="Helvetica Neue"/>
                <a:sym typeface="Helvetica Neue"/>
              </a:rPr>
              <a:t>2. Concepto culinario.</a:t>
            </a:r>
            <a:endParaRPr b="1" sz="2199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1" lang="en-US" sz="2199">
                <a:latin typeface="Helvetica Neue"/>
                <a:ea typeface="Helvetica Neue"/>
                <a:cs typeface="Helvetica Neue"/>
                <a:sym typeface="Helvetica Neue"/>
              </a:rPr>
              <a:t>3. Filosofía de producto.</a:t>
            </a:r>
            <a:endParaRPr b="1" sz="2199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1" lang="en-US" sz="2199">
                <a:latin typeface="Helvetica Neue"/>
                <a:ea typeface="Helvetica Neue"/>
                <a:cs typeface="Helvetica Neue"/>
                <a:sym typeface="Helvetica Neue"/>
              </a:rPr>
              <a:t>4. Como explicamos la carta</a:t>
            </a:r>
            <a:endParaRPr b="1" sz="2199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1" lang="en-US" sz="2199">
                <a:latin typeface="Helvetica Neue"/>
                <a:ea typeface="Helvetica Neue"/>
                <a:cs typeface="Helvetica Neue"/>
                <a:sym typeface="Helvetica Neue"/>
              </a:rPr>
              <a:t>5. Descripción de platos </a:t>
            </a:r>
            <a:endParaRPr b="1" sz="2199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16490620" y="-1"/>
            <a:ext cx="1797367" cy="1797368"/>
          </a:xfrm>
          <a:custGeom>
            <a:rect b="b" l="l" r="r" t="t"/>
            <a:pathLst>
              <a:path extrusionOk="0" h="2396490" w="2396490">
                <a:moveTo>
                  <a:pt x="0" y="0"/>
                </a:moveTo>
                <a:lnTo>
                  <a:pt x="2396490" y="0"/>
                </a:lnTo>
                <a:lnTo>
                  <a:pt x="2396490" y="2396490"/>
                </a:lnTo>
                <a:lnTo>
                  <a:pt x="0" y="2396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 flipH="1">
            <a:off x="6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24384000" y="0"/>
                </a:moveTo>
                <a:lnTo>
                  <a:pt x="0" y="0"/>
                </a:lnTo>
                <a:lnTo>
                  <a:pt x="0" y="13716000"/>
                </a:lnTo>
                <a:lnTo>
                  <a:pt x="24384000" y="13716000"/>
                </a:lnTo>
                <a:lnTo>
                  <a:pt x="24384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49" l="0" r="0" t="-9238"/>
            </a:stretch>
          </a:blipFill>
          <a:ln>
            <a:noFill/>
          </a:ln>
        </p:spPr>
      </p:sp>
      <p:sp>
        <p:nvSpPr>
          <p:cNvPr id="119" name="Google Shape;119;p3"/>
          <p:cNvSpPr/>
          <p:nvPr/>
        </p:nvSpPr>
        <p:spPr>
          <a:xfrm>
            <a:off x="539096" y="0"/>
            <a:ext cx="17209771" cy="10287000"/>
          </a:xfrm>
          <a:custGeom>
            <a:rect b="b" l="l" r="r" t="t"/>
            <a:pathLst>
              <a:path extrusionOk="0" h="13716000" w="22946361">
                <a:moveTo>
                  <a:pt x="0" y="0"/>
                </a:moveTo>
                <a:lnTo>
                  <a:pt x="22946361" y="0"/>
                </a:lnTo>
                <a:lnTo>
                  <a:pt x="2294636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0" name="Google Shape;120;p3"/>
          <p:cNvSpPr txBox="1"/>
          <p:nvPr/>
        </p:nvSpPr>
        <p:spPr>
          <a:xfrm>
            <a:off x="1095738" y="764610"/>
            <a:ext cx="13385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953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200"/>
              <a:buFont typeface="Epilogue"/>
              <a:buAutoNum type="arabicPeriod"/>
            </a:pPr>
            <a:r>
              <a:rPr lang="en-US" sz="4200">
                <a:latin typeface="Epilogue"/>
                <a:ea typeface="Epilogue"/>
                <a:cs typeface="Epilogue"/>
                <a:sym typeface="Epilogue"/>
              </a:rPr>
              <a:t>Filosofía gastronómica</a:t>
            </a:r>
            <a:endParaRPr b="0" i="0" sz="1400" u="none" cap="none" strike="noStrike">
              <a:solidFill>
                <a:srgbClr val="000000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15951495" y="-1"/>
            <a:ext cx="1797367" cy="1797368"/>
          </a:xfrm>
          <a:custGeom>
            <a:rect b="b" l="l" r="r" t="t"/>
            <a:pathLst>
              <a:path extrusionOk="0" h="2396490" w="2396490">
                <a:moveTo>
                  <a:pt x="0" y="0"/>
                </a:moveTo>
                <a:lnTo>
                  <a:pt x="2396490" y="0"/>
                </a:lnTo>
                <a:lnTo>
                  <a:pt x="2396490" y="2396490"/>
                </a:lnTo>
                <a:lnTo>
                  <a:pt x="0" y="2396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1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 flipH="1">
            <a:off x="0" y="-25403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24384000" y="0"/>
                </a:moveTo>
                <a:lnTo>
                  <a:pt x="0" y="0"/>
                </a:lnTo>
                <a:lnTo>
                  <a:pt x="0" y="13716000"/>
                </a:lnTo>
                <a:lnTo>
                  <a:pt x="24384000" y="13716000"/>
                </a:lnTo>
                <a:lnTo>
                  <a:pt x="24384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364" l="0" r="0" t="-83367"/>
            </a:stretch>
          </a:blipFill>
          <a:ln>
            <a:noFill/>
          </a:ln>
        </p:spPr>
      </p:sp>
      <p:sp>
        <p:nvSpPr>
          <p:cNvPr id="131" name="Google Shape;131;p4"/>
          <p:cNvSpPr/>
          <p:nvPr/>
        </p:nvSpPr>
        <p:spPr>
          <a:xfrm>
            <a:off x="539100" y="-25400"/>
            <a:ext cx="17209771" cy="10321290"/>
          </a:xfrm>
          <a:custGeom>
            <a:rect b="b" l="l" r="r" t="t"/>
            <a:pathLst>
              <a:path extrusionOk="0" h="13716000" w="22946361">
                <a:moveTo>
                  <a:pt x="0" y="0"/>
                </a:moveTo>
                <a:lnTo>
                  <a:pt x="22946361" y="0"/>
                </a:lnTo>
                <a:lnTo>
                  <a:pt x="2294636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32" name="Google Shape;132;p4"/>
          <p:cNvGrpSpPr/>
          <p:nvPr/>
        </p:nvGrpSpPr>
        <p:grpSpPr>
          <a:xfrm>
            <a:off x="6046773" y="2253425"/>
            <a:ext cx="11286067" cy="3726760"/>
            <a:chOff x="-6788889" y="-4045812"/>
            <a:chExt cx="15048089" cy="4969012"/>
          </a:xfrm>
        </p:grpSpPr>
        <p:sp>
          <p:nvSpPr>
            <p:cNvPr id="133" name="Google Shape;133;p4"/>
            <p:cNvSpPr/>
            <p:nvPr/>
          </p:nvSpPr>
          <p:spPr>
            <a:xfrm>
              <a:off x="0" y="0"/>
              <a:ext cx="8259200" cy="923200"/>
            </a:xfrm>
            <a:custGeom>
              <a:rect b="b" l="l" r="r" t="t"/>
              <a:pathLst>
                <a:path extrusionOk="0" h="923200" w="8259200">
                  <a:moveTo>
                    <a:pt x="0" y="0"/>
                  </a:moveTo>
                  <a:lnTo>
                    <a:pt x="8259200" y="0"/>
                  </a:lnTo>
                  <a:lnTo>
                    <a:pt x="8259200" y="923200"/>
                  </a:lnTo>
                  <a:lnTo>
                    <a:pt x="0" y="9232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24313" l="0" r="0" t="-124313"/>
              </a:stretch>
            </a:blipFill>
            <a:ln>
              <a:noFill/>
            </a:ln>
          </p:spPr>
        </p:sp>
        <p:sp>
          <p:nvSpPr>
            <p:cNvPr id="134" name="Google Shape;134;p4"/>
            <p:cNvSpPr txBox="1"/>
            <p:nvPr/>
          </p:nvSpPr>
          <p:spPr>
            <a:xfrm>
              <a:off x="-6788889" y="-4045812"/>
              <a:ext cx="14956800" cy="9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>
                  <a:latin typeface="Epilogue"/>
                  <a:ea typeface="Epilogue"/>
                  <a:cs typeface="Epilogue"/>
                  <a:sym typeface="Epilogue"/>
                </a:rPr>
                <a:t>3. Concepto culinario</a:t>
              </a:r>
              <a:endParaRPr b="0" i="0" sz="1400" u="none" cap="none" strike="noStrike">
                <a:solidFill>
                  <a:srgbClr val="000000"/>
                </a:solidFill>
                <a:latin typeface="Epilogue"/>
                <a:ea typeface="Epilogue"/>
                <a:cs typeface="Epilogue"/>
                <a:sym typeface="Epilogue"/>
              </a:endParaRPr>
            </a:p>
          </p:txBody>
        </p:sp>
      </p:grpSp>
      <p:sp>
        <p:nvSpPr>
          <p:cNvPr id="135" name="Google Shape;135;p4"/>
          <p:cNvSpPr/>
          <p:nvPr/>
        </p:nvSpPr>
        <p:spPr>
          <a:xfrm>
            <a:off x="1223620" y="2253415"/>
            <a:ext cx="4311015" cy="5779770"/>
          </a:xfrm>
          <a:custGeom>
            <a:rect b="b" l="l" r="r" t="t"/>
            <a:pathLst>
              <a:path extrusionOk="0" h="7706360" w="5748020">
                <a:moveTo>
                  <a:pt x="0" y="0"/>
                </a:moveTo>
                <a:lnTo>
                  <a:pt x="5748020" y="0"/>
                </a:lnTo>
                <a:lnTo>
                  <a:pt x="5748020" y="7706360"/>
                </a:lnTo>
                <a:lnTo>
                  <a:pt x="0" y="77063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6300" l="0" r="0" t="-16299"/>
            </a:stretch>
          </a:blipFill>
          <a:ln>
            <a:noFill/>
          </a:ln>
        </p:spPr>
      </p:sp>
      <p:sp>
        <p:nvSpPr>
          <p:cNvPr id="136" name="Google Shape;136;p4"/>
          <p:cNvSpPr/>
          <p:nvPr/>
        </p:nvSpPr>
        <p:spPr>
          <a:xfrm>
            <a:off x="15951520" y="-25401"/>
            <a:ext cx="1797367" cy="1797368"/>
          </a:xfrm>
          <a:custGeom>
            <a:rect b="b" l="l" r="r" t="t"/>
            <a:pathLst>
              <a:path extrusionOk="0" h="2396490" w="2396490">
                <a:moveTo>
                  <a:pt x="0" y="0"/>
                </a:moveTo>
                <a:lnTo>
                  <a:pt x="2396490" y="0"/>
                </a:lnTo>
                <a:lnTo>
                  <a:pt x="2396490" y="2396490"/>
                </a:lnTo>
                <a:lnTo>
                  <a:pt x="0" y="2396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1" l="-19" r="-28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 rot="10800000">
            <a:off x="-4" y="-25403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49" l="0" r="0" t="-9238"/>
            </a:stretch>
          </a:blipFill>
          <a:ln>
            <a:noFill/>
          </a:ln>
        </p:spPr>
      </p:sp>
      <p:sp>
        <p:nvSpPr>
          <p:cNvPr id="146" name="Google Shape;146;p5"/>
          <p:cNvSpPr/>
          <p:nvPr/>
        </p:nvSpPr>
        <p:spPr>
          <a:xfrm>
            <a:off x="539096" y="0"/>
            <a:ext cx="17209771" cy="10287000"/>
          </a:xfrm>
          <a:custGeom>
            <a:rect b="b" l="l" r="r" t="t"/>
            <a:pathLst>
              <a:path extrusionOk="0" h="13716000" w="22946361">
                <a:moveTo>
                  <a:pt x="0" y="0"/>
                </a:moveTo>
                <a:lnTo>
                  <a:pt x="22946361" y="0"/>
                </a:lnTo>
                <a:lnTo>
                  <a:pt x="2294636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7" name="Google Shape;147;p5"/>
          <p:cNvSpPr txBox="1"/>
          <p:nvPr/>
        </p:nvSpPr>
        <p:spPr>
          <a:xfrm>
            <a:off x="786536" y="833541"/>
            <a:ext cx="8131500" cy="11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3. </a:t>
            </a:r>
            <a:r>
              <a:rPr lang="en-US" sz="36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Filosofía del producto</a:t>
            </a:r>
            <a:endParaRPr b="0" i="0" sz="1400" u="none" cap="none" strike="noStrike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1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15951495" y="-25401"/>
            <a:ext cx="1797367" cy="1797368"/>
          </a:xfrm>
          <a:custGeom>
            <a:rect b="b" l="l" r="r" t="t"/>
            <a:pathLst>
              <a:path extrusionOk="0" h="2396490" w="2396490">
                <a:moveTo>
                  <a:pt x="0" y="0"/>
                </a:moveTo>
                <a:lnTo>
                  <a:pt x="2396490" y="0"/>
                </a:lnTo>
                <a:lnTo>
                  <a:pt x="2396490" y="2396490"/>
                </a:lnTo>
                <a:lnTo>
                  <a:pt x="0" y="2396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1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 flipH="1" rot="10800000">
            <a:off x="10" y="-25403"/>
            <a:ext cx="9144000" cy="10287000"/>
          </a:xfrm>
          <a:custGeom>
            <a:rect b="b" l="l" r="r" t="t"/>
            <a:pathLst>
              <a:path extrusionOk="0" h="13716000" w="12192000">
                <a:moveTo>
                  <a:pt x="12192000" y="0"/>
                </a:moveTo>
                <a:lnTo>
                  <a:pt x="0" y="0"/>
                </a:lnTo>
                <a:lnTo>
                  <a:pt x="0" y="13716000"/>
                </a:lnTo>
                <a:lnTo>
                  <a:pt x="12192000" y="13716000"/>
                </a:lnTo>
                <a:lnTo>
                  <a:pt x="12192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688" l="0" r="-2" t="-16679"/>
            </a:stretch>
          </a:blipFill>
          <a:ln>
            <a:noFill/>
          </a:ln>
        </p:spPr>
      </p:sp>
      <p:sp>
        <p:nvSpPr>
          <p:cNvPr id="158" name="Google Shape;158;p7"/>
          <p:cNvSpPr/>
          <p:nvPr/>
        </p:nvSpPr>
        <p:spPr>
          <a:xfrm>
            <a:off x="16490645" y="-1"/>
            <a:ext cx="1797367" cy="1797368"/>
          </a:xfrm>
          <a:custGeom>
            <a:rect b="b" l="l" r="r" t="t"/>
            <a:pathLst>
              <a:path extrusionOk="0" h="2396490" w="2396490">
                <a:moveTo>
                  <a:pt x="0" y="0"/>
                </a:moveTo>
                <a:lnTo>
                  <a:pt x="2396490" y="0"/>
                </a:lnTo>
                <a:lnTo>
                  <a:pt x="2396490" y="2396490"/>
                </a:lnTo>
                <a:lnTo>
                  <a:pt x="0" y="2396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1" t="0"/>
            </a:stretch>
          </a:blipFill>
          <a:ln>
            <a:noFill/>
          </a:ln>
        </p:spPr>
      </p:sp>
      <p:sp>
        <p:nvSpPr>
          <p:cNvPr id="159" name="Google Shape;159;p7"/>
          <p:cNvSpPr txBox="1"/>
          <p:nvPr/>
        </p:nvSpPr>
        <p:spPr>
          <a:xfrm>
            <a:off x="9459800" y="1177319"/>
            <a:ext cx="68679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4. Como explicamos la carta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364" l="0" r="0" t="-83367"/>
            </a:stretch>
          </a:blipFill>
          <a:ln>
            <a:noFill/>
          </a:ln>
        </p:spPr>
      </p:sp>
      <p:sp>
        <p:nvSpPr>
          <p:cNvPr id="169" name="Google Shape;169;p6"/>
          <p:cNvSpPr/>
          <p:nvPr/>
        </p:nvSpPr>
        <p:spPr>
          <a:xfrm>
            <a:off x="1143000" y="11500"/>
            <a:ext cx="16002000" cy="10298684"/>
          </a:xfrm>
          <a:custGeom>
            <a:rect b="b" l="l" r="r" t="t"/>
            <a:pathLst>
              <a:path extrusionOk="0" h="9855200" w="21336000">
                <a:moveTo>
                  <a:pt x="0" y="0"/>
                </a:moveTo>
                <a:lnTo>
                  <a:pt x="21336000" y="0"/>
                </a:lnTo>
                <a:lnTo>
                  <a:pt x="21336000" y="9855200"/>
                </a:lnTo>
                <a:lnTo>
                  <a:pt x="0" y="9855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70" name="Google Shape;170;p6"/>
          <p:cNvGrpSpPr/>
          <p:nvPr/>
        </p:nvGrpSpPr>
        <p:grpSpPr>
          <a:xfrm>
            <a:off x="727792" y="357359"/>
            <a:ext cx="17368751" cy="4022182"/>
            <a:chOff x="0" y="-3252460"/>
            <a:chExt cx="23158333" cy="5362912"/>
          </a:xfrm>
        </p:grpSpPr>
        <p:sp>
          <p:nvSpPr>
            <p:cNvPr id="171" name="Google Shape;171;p6"/>
            <p:cNvSpPr/>
            <p:nvPr/>
          </p:nvSpPr>
          <p:spPr>
            <a:xfrm>
              <a:off x="0" y="0"/>
              <a:ext cx="22042011" cy="2110452"/>
            </a:xfrm>
            <a:custGeom>
              <a:rect b="b" l="l" r="r" t="t"/>
              <a:pathLst>
                <a:path extrusionOk="0" h="2110452" w="22042011">
                  <a:moveTo>
                    <a:pt x="0" y="0"/>
                  </a:moveTo>
                  <a:lnTo>
                    <a:pt x="22042011" y="0"/>
                  </a:lnTo>
                  <a:lnTo>
                    <a:pt x="22042011" y="2110452"/>
                  </a:lnTo>
                  <a:lnTo>
                    <a:pt x="0" y="21104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15002" l="0" r="73283" t="-23740"/>
              </a:stretch>
            </a:blipFill>
            <a:ln>
              <a:noFill/>
            </a:ln>
          </p:spPr>
        </p:sp>
        <p:sp>
          <p:nvSpPr>
            <p:cNvPr id="172" name="Google Shape;172;p6"/>
            <p:cNvSpPr txBox="1"/>
            <p:nvPr/>
          </p:nvSpPr>
          <p:spPr>
            <a:xfrm>
              <a:off x="1116433" y="-3252460"/>
              <a:ext cx="22041900" cy="21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dk1"/>
                  </a:solidFill>
                  <a:latin typeface="Epilogue"/>
                  <a:ea typeface="Epilogue"/>
                  <a:cs typeface="Epilogue"/>
                  <a:sym typeface="Epilogue"/>
                </a:rPr>
                <a:t>5. Descripción de platos</a:t>
              </a:r>
              <a:endParaRPr b="0" i="0" sz="14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marR="0" rtl="0" algn="l">
                <a:lnSpc>
                  <a:spcPct val="11997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3" name="Google Shape;173;p6"/>
          <p:cNvGrpSpPr/>
          <p:nvPr/>
        </p:nvGrpSpPr>
        <p:grpSpPr>
          <a:xfrm>
            <a:off x="3370755" y="7179692"/>
            <a:ext cx="11546490" cy="2362835"/>
            <a:chOff x="0" y="-47625"/>
            <a:chExt cx="15395320" cy="3150448"/>
          </a:xfrm>
        </p:grpSpPr>
        <p:sp>
          <p:nvSpPr>
            <p:cNvPr id="174" name="Google Shape;174;p6"/>
            <p:cNvSpPr/>
            <p:nvPr/>
          </p:nvSpPr>
          <p:spPr>
            <a:xfrm>
              <a:off x="0" y="0"/>
              <a:ext cx="15395318" cy="3102823"/>
            </a:xfrm>
            <a:custGeom>
              <a:rect b="b" l="l" r="r" t="t"/>
              <a:pathLst>
                <a:path extrusionOk="0" h="3102823" w="15395318">
                  <a:moveTo>
                    <a:pt x="0" y="0"/>
                  </a:moveTo>
                  <a:lnTo>
                    <a:pt x="15395318" y="0"/>
                  </a:lnTo>
                  <a:lnTo>
                    <a:pt x="15395318" y="3102823"/>
                  </a:lnTo>
                  <a:lnTo>
                    <a:pt x="0" y="310282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27590" l="0" r="61666" t="-1712"/>
              </a:stretch>
            </a:blipFill>
            <a:ln>
              <a:noFill/>
            </a:ln>
          </p:spPr>
        </p:sp>
        <p:sp>
          <p:nvSpPr>
            <p:cNvPr id="175" name="Google Shape;175;p6"/>
            <p:cNvSpPr txBox="1"/>
            <p:nvPr/>
          </p:nvSpPr>
          <p:spPr>
            <a:xfrm>
              <a:off x="0" y="-47625"/>
              <a:ext cx="15395320" cy="3150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3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6" name="Google Shape;176;p6" title="thebarnbarMesa de trabajo 1 copia 85@4x-100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44398" y="11500"/>
            <a:ext cx="1843600" cy="18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1600027" y="1037950"/>
            <a:ext cx="70101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Epilogue"/>
                <a:ea typeface="Epilogue"/>
                <a:cs typeface="Epilogue"/>
                <a:sym typeface="Epilogue"/>
              </a:rPr>
              <a:t>TOSTADA DE JAMÓN IBÉRICO</a:t>
            </a:r>
            <a:endParaRPr b="0" i="0" sz="1400" u="none" cap="none" strike="noStrike">
              <a:solidFill>
                <a:srgbClr val="000000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9300773" y="1887976"/>
            <a:ext cx="81222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199">
                <a:latin typeface="Epilogue"/>
                <a:ea typeface="Epilogue"/>
                <a:cs typeface="Epilogue"/>
                <a:sym typeface="Epilogue"/>
              </a:rPr>
              <a:t>DESCRIPCIÓN</a:t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38017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>Pan de masa madre con aguacate laminado, jamón ibérico y un toque de germinados y semillas. Se sirve con AOVE y escamas de sal, con la opción de añadir huevo pochado.</a:t>
            </a:r>
            <a:endParaRPr b="0" i="0" sz="2199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9" name="Foto plat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025" y="2537975"/>
            <a:ext cx="7010100" cy="7297500"/>
          </a:xfrm>
          <a:prstGeom prst="rect">
            <a:avLst/>
          </a:prstGeom>
        </p:spPr>
      </p:pic>
      <p:graphicFrame>
        <p:nvGraphicFramePr>
          <p:cNvPr id="180" name="Google Shape;180;p6"/>
          <p:cNvGraphicFramePr/>
          <p:nvPr/>
        </p:nvGraphicFramePr>
        <p:xfrm>
          <a:off x="9300775" y="89641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{13CF2276-01A0-4305-AA87-1BB3419B6041}</a:tableStyleId>
              </a:tblPr>
              <a:tblGrid>
                <a:gridCol w="8122275"/>
              </a:tblGrid>
              <a:tr h="32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ALÉRGENOS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3A038"/>
                    </a:solidFill>
                  </a:tcPr>
                </a:tc>
              </a:tr>
              <a:tr h="50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>Pendiente de confirmar con cocina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" name="Google Shape;181;p6"/>
          <p:cNvGraphicFramePr/>
          <p:nvPr/>
        </p:nvGraphicFramePr>
        <p:xfrm>
          <a:off x="9300775" y="5618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{EEFC6B96-5C7F-40CB-9062-C41EB17D4809}</a:tableStyleId>
              </a:tblPr>
              <a:tblGrid>
                <a:gridCol w="4281975"/>
                <a:gridCol w="1920150"/>
                <a:gridCol w="1920150"/>
              </a:tblGrid>
              <a:tr h="3583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INGREDIENTES</a:t>
                      </a:r>
                      <a:endParaRPr b="1" sz="180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0:0"/>
                      </a:ext>
                    </a:extLst>
                  </a:tcPr>
                </a:tc>
                <a:tc hMerge="1"/>
                <a:tc hMerge="1"/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Pan de masa madre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1,000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Aguacate laminado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0,065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Jamón ibérico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0,025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Mix de semillas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0,003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Germinados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0,002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AOVE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0,005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Escamas de sal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0,001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Tomate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0,010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Huevo pochado (opcional)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1,000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ud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742fa75ff_0_5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361" l="0" r="0" t="-83369"/>
            </a:stretch>
          </a:blipFill>
          <a:ln>
            <a:noFill/>
          </a:ln>
        </p:spPr>
      </p:sp>
      <p:sp>
        <p:nvSpPr>
          <p:cNvPr id="254" name="Google Shape;254;g3f742fa75ff_0_58"/>
          <p:cNvSpPr/>
          <p:nvPr/>
        </p:nvSpPr>
        <p:spPr>
          <a:xfrm>
            <a:off x="1143000" y="11500"/>
            <a:ext cx="16002000" cy="10298684"/>
          </a:xfrm>
          <a:custGeom>
            <a:rect b="b" l="l" r="r" t="t"/>
            <a:pathLst>
              <a:path extrusionOk="0" h="9855200" w="21336000">
                <a:moveTo>
                  <a:pt x="0" y="0"/>
                </a:moveTo>
                <a:lnTo>
                  <a:pt x="21336000" y="0"/>
                </a:lnTo>
                <a:lnTo>
                  <a:pt x="21336000" y="9855200"/>
                </a:lnTo>
                <a:lnTo>
                  <a:pt x="0" y="9855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255" name="Google Shape;255;g3f742fa75ff_0_58"/>
          <p:cNvGrpSpPr/>
          <p:nvPr/>
        </p:nvGrpSpPr>
        <p:grpSpPr>
          <a:xfrm>
            <a:off x="727792" y="357358"/>
            <a:ext cx="17368750" cy="4022184"/>
            <a:chOff x="0" y="-3252460"/>
            <a:chExt cx="23158333" cy="5362912"/>
          </a:xfrm>
        </p:grpSpPr>
        <p:sp>
          <p:nvSpPr>
            <p:cNvPr id="256" name="Google Shape;256;g3f742fa75ff_0_58"/>
            <p:cNvSpPr/>
            <p:nvPr/>
          </p:nvSpPr>
          <p:spPr>
            <a:xfrm>
              <a:off x="0" y="0"/>
              <a:ext cx="22042011" cy="2110452"/>
            </a:xfrm>
            <a:custGeom>
              <a:rect b="b" l="l" r="r" t="t"/>
              <a:pathLst>
                <a:path extrusionOk="0" h="2110452" w="22042011">
                  <a:moveTo>
                    <a:pt x="0" y="0"/>
                  </a:moveTo>
                  <a:lnTo>
                    <a:pt x="22042011" y="0"/>
                  </a:lnTo>
                  <a:lnTo>
                    <a:pt x="22042011" y="2110452"/>
                  </a:lnTo>
                  <a:lnTo>
                    <a:pt x="0" y="21104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15000" l="0" r="73280" t="-23740"/>
              </a:stretch>
            </a:blipFill>
            <a:ln>
              <a:noFill/>
            </a:ln>
          </p:spPr>
        </p:sp>
        <p:sp>
          <p:nvSpPr>
            <p:cNvPr id="257" name="Google Shape;257;g3f742fa75ff_0_58"/>
            <p:cNvSpPr txBox="1"/>
            <p:nvPr/>
          </p:nvSpPr>
          <p:spPr>
            <a:xfrm>
              <a:off x="1116433" y="-3252460"/>
              <a:ext cx="22041900" cy="21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dk1"/>
                  </a:solidFill>
                  <a:latin typeface="Epilogue"/>
                  <a:ea typeface="Epilogue"/>
                  <a:cs typeface="Epilogue"/>
                  <a:sym typeface="Epilogue"/>
                </a:rPr>
                <a:t>5. Descripción de platos</a:t>
              </a:r>
              <a:endParaRPr b="0" i="0" sz="14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marR="0" rtl="0" algn="l">
                <a:lnSpc>
                  <a:spcPct val="11997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58" name="Google Shape;258;g3f742fa75ff_0_58"/>
          <p:cNvGrpSpPr/>
          <p:nvPr/>
        </p:nvGrpSpPr>
        <p:grpSpPr>
          <a:xfrm>
            <a:off x="3370755" y="7179692"/>
            <a:ext cx="11546550" cy="2362836"/>
            <a:chOff x="0" y="-47625"/>
            <a:chExt cx="15395400" cy="3150448"/>
          </a:xfrm>
        </p:grpSpPr>
        <p:sp>
          <p:nvSpPr>
            <p:cNvPr id="259" name="Google Shape;259;g3f742fa75ff_0_58"/>
            <p:cNvSpPr/>
            <p:nvPr/>
          </p:nvSpPr>
          <p:spPr>
            <a:xfrm>
              <a:off x="0" y="0"/>
              <a:ext cx="15395318" cy="3102823"/>
            </a:xfrm>
            <a:custGeom>
              <a:rect b="b" l="l" r="r" t="t"/>
              <a:pathLst>
                <a:path extrusionOk="0" h="3102823" w="15395318">
                  <a:moveTo>
                    <a:pt x="0" y="0"/>
                  </a:moveTo>
                  <a:lnTo>
                    <a:pt x="15395318" y="0"/>
                  </a:lnTo>
                  <a:lnTo>
                    <a:pt x="15395318" y="3102823"/>
                  </a:lnTo>
                  <a:lnTo>
                    <a:pt x="0" y="310282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27590" l="0" r="61670" t="-1710"/>
              </a:stretch>
            </a:blipFill>
            <a:ln>
              <a:noFill/>
            </a:ln>
          </p:spPr>
        </p:sp>
        <p:sp>
          <p:nvSpPr>
            <p:cNvPr id="260" name="Google Shape;260;g3f742fa75ff_0_58"/>
            <p:cNvSpPr txBox="1"/>
            <p:nvPr/>
          </p:nvSpPr>
          <p:spPr>
            <a:xfrm>
              <a:off x="0" y="-47625"/>
              <a:ext cx="15395400" cy="315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3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61" name="Google Shape;261;g3f742fa75ff_0_58" title="thebarnbarMesa de trabajo 1 copia 85@4x-100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44398" y="11500"/>
            <a:ext cx="1843600" cy="18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f742fa75ff_0_58"/>
          <p:cNvSpPr txBox="1"/>
          <p:nvPr/>
        </p:nvSpPr>
        <p:spPr>
          <a:xfrm>
            <a:off x="1600027" y="1037950"/>
            <a:ext cx="70101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Epilogue"/>
                <a:ea typeface="Epilogue"/>
                <a:cs typeface="Epilogue"/>
                <a:sym typeface="Epilogue"/>
              </a:rPr>
              <a:t>TOSTADA DE AGUACATE</a:t>
            </a:r>
            <a:endParaRPr b="0" i="0" sz="1400" u="none" cap="none" strike="noStrike">
              <a:solidFill>
                <a:srgbClr val="000000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263" name="Google Shape;263;g3f742fa75ff_0_58"/>
          <p:cNvSpPr txBox="1"/>
          <p:nvPr/>
        </p:nvSpPr>
        <p:spPr>
          <a:xfrm>
            <a:off x="9300773" y="1887976"/>
            <a:ext cx="81222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199">
                <a:latin typeface="Epilogue"/>
                <a:ea typeface="Epilogue"/>
                <a:cs typeface="Epilogue"/>
                <a:sym typeface="Epilogue"/>
              </a:rPr>
              <a:t>DESCRIPCIÓN</a:t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38017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>Aguacate laminado sobre masa madre, con huevo pochado, rabanitos frescos y un toque picante de chili flakes.</a:t>
            </a:r>
            <a:endParaRPr b="0" i="0" sz="2199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9" name="Foto plat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025" y="2537975"/>
            <a:ext cx="7010100" cy="7297500"/>
          </a:xfrm>
          <a:prstGeom prst="rect">
            <a:avLst/>
          </a:prstGeom>
        </p:spPr>
      </p:pic>
      <p:graphicFrame>
        <p:nvGraphicFramePr>
          <p:cNvPr id="265" name="Google Shape;265;g3f742fa75ff_0_58"/>
          <p:cNvGraphicFramePr/>
          <p:nvPr/>
        </p:nvGraphicFramePr>
        <p:xfrm>
          <a:off x="9300775" y="86488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{13CF2276-01A0-4305-AA87-1BB3419B6041}</a:tableStyleId>
              </a:tblPr>
              <a:tblGrid>
                <a:gridCol w="8122275"/>
              </a:tblGrid>
              <a:tr h="32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ALÉRGENOS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3A038"/>
                    </a:solidFill>
                  </a:tcPr>
                </a:tc>
              </a:tr>
              <a:tr h="50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>Pendiente de confirmar con cocina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6" name="Google Shape;266;g3f742fa75ff_0_58"/>
          <p:cNvGraphicFramePr/>
          <p:nvPr/>
        </p:nvGraphicFramePr>
        <p:xfrm>
          <a:off x="9300775" y="5618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{EEFC6B96-5C7F-40CB-9062-C41EB17D4809}</a:tableStyleId>
              </a:tblPr>
              <a:tblGrid>
                <a:gridCol w="4281975"/>
                <a:gridCol w="1920150"/>
                <a:gridCol w="1920150"/>
              </a:tblGrid>
              <a:tr h="3583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INGREDIENTES</a:t>
                      </a:r>
                      <a:endParaRPr b="1" sz="180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266:0:0"/>
                      </a:ext>
                    </a:extLst>
                  </a:tcPr>
                </a:tc>
                <a:tc hMerge="1"/>
                <a:tc hMerge="1"/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Pan de masa madre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0,090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Aguacate laminado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0,070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Rábanos laminados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0,001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Huevo pochado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1,000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ud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Mix de semillas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0,003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Chili flakes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0,005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AOVE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0,005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ml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Escamas de sal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0,001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742fa75ff_0_13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361" l="0" r="0" t="-83369"/>
            </a:stretch>
          </a:blipFill>
          <a:ln>
            <a:noFill/>
          </a:ln>
        </p:spPr>
      </p:sp>
      <p:sp>
        <p:nvSpPr>
          <p:cNvPr id="339" name="Google Shape;339;g3f742fa75ff_0_137"/>
          <p:cNvSpPr/>
          <p:nvPr/>
        </p:nvSpPr>
        <p:spPr>
          <a:xfrm>
            <a:off x="1143000" y="11500"/>
            <a:ext cx="16002000" cy="10298684"/>
          </a:xfrm>
          <a:custGeom>
            <a:rect b="b" l="l" r="r" t="t"/>
            <a:pathLst>
              <a:path extrusionOk="0" h="9855200" w="21336000">
                <a:moveTo>
                  <a:pt x="0" y="0"/>
                </a:moveTo>
                <a:lnTo>
                  <a:pt x="21336000" y="0"/>
                </a:lnTo>
                <a:lnTo>
                  <a:pt x="21336000" y="9855200"/>
                </a:lnTo>
                <a:lnTo>
                  <a:pt x="0" y="9855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340" name="Google Shape;340;g3f742fa75ff_0_137"/>
          <p:cNvGrpSpPr/>
          <p:nvPr/>
        </p:nvGrpSpPr>
        <p:grpSpPr>
          <a:xfrm>
            <a:off x="727792" y="357358"/>
            <a:ext cx="17368750" cy="4022184"/>
            <a:chOff x="0" y="-3252460"/>
            <a:chExt cx="23158333" cy="5362912"/>
          </a:xfrm>
        </p:grpSpPr>
        <p:sp>
          <p:nvSpPr>
            <p:cNvPr id="341" name="Google Shape;341;g3f742fa75ff_0_137"/>
            <p:cNvSpPr/>
            <p:nvPr/>
          </p:nvSpPr>
          <p:spPr>
            <a:xfrm>
              <a:off x="0" y="0"/>
              <a:ext cx="22042011" cy="2110452"/>
            </a:xfrm>
            <a:custGeom>
              <a:rect b="b" l="l" r="r" t="t"/>
              <a:pathLst>
                <a:path extrusionOk="0" h="2110452" w="22042011">
                  <a:moveTo>
                    <a:pt x="0" y="0"/>
                  </a:moveTo>
                  <a:lnTo>
                    <a:pt x="22042011" y="0"/>
                  </a:lnTo>
                  <a:lnTo>
                    <a:pt x="22042011" y="2110452"/>
                  </a:lnTo>
                  <a:lnTo>
                    <a:pt x="0" y="21104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15000" l="0" r="73280" t="-23740"/>
              </a:stretch>
            </a:blipFill>
            <a:ln>
              <a:noFill/>
            </a:ln>
          </p:spPr>
        </p:sp>
        <p:sp>
          <p:nvSpPr>
            <p:cNvPr id="342" name="Google Shape;342;g3f742fa75ff_0_137"/>
            <p:cNvSpPr txBox="1"/>
            <p:nvPr/>
          </p:nvSpPr>
          <p:spPr>
            <a:xfrm>
              <a:off x="1116433" y="-3252460"/>
              <a:ext cx="22041900" cy="21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dk1"/>
                  </a:solidFill>
                  <a:latin typeface="Epilogue"/>
                  <a:ea typeface="Epilogue"/>
                  <a:cs typeface="Epilogue"/>
                  <a:sym typeface="Epilogue"/>
                </a:rPr>
                <a:t>5. Descripción de platos</a:t>
              </a:r>
              <a:endParaRPr b="0" i="0" sz="14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marR="0" rtl="0" algn="l">
                <a:lnSpc>
                  <a:spcPct val="11997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43" name="Google Shape;343;g3f742fa75ff_0_137"/>
          <p:cNvGrpSpPr/>
          <p:nvPr/>
        </p:nvGrpSpPr>
        <p:grpSpPr>
          <a:xfrm>
            <a:off x="3370755" y="7179692"/>
            <a:ext cx="11546550" cy="2362836"/>
            <a:chOff x="0" y="-47625"/>
            <a:chExt cx="15395400" cy="3150448"/>
          </a:xfrm>
        </p:grpSpPr>
        <p:sp>
          <p:nvSpPr>
            <p:cNvPr id="344" name="Google Shape;344;g3f742fa75ff_0_137"/>
            <p:cNvSpPr/>
            <p:nvPr/>
          </p:nvSpPr>
          <p:spPr>
            <a:xfrm>
              <a:off x="0" y="0"/>
              <a:ext cx="15395318" cy="3102823"/>
            </a:xfrm>
            <a:custGeom>
              <a:rect b="b" l="l" r="r" t="t"/>
              <a:pathLst>
                <a:path extrusionOk="0" h="3102823" w="15395318">
                  <a:moveTo>
                    <a:pt x="0" y="0"/>
                  </a:moveTo>
                  <a:lnTo>
                    <a:pt x="15395318" y="0"/>
                  </a:lnTo>
                  <a:lnTo>
                    <a:pt x="15395318" y="3102823"/>
                  </a:lnTo>
                  <a:lnTo>
                    <a:pt x="0" y="310282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27590" l="0" r="61670" t="-1710"/>
              </a:stretch>
            </a:blipFill>
            <a:ln>
              <a:noFill/>
            </a:ln>
          </p:spPr>
        </p:sp>
        <p:sp>
          <p:nvSpPr>
            <p:cNvPr id="345" name="Google Shape;345;g3f742fa75ff_0_137"/>
            <p:cNvSpPr txBox="1"/>
            <p:nvPr/>
          </p:nvSpPr>
          <p:spPr>
            <a:xfrm>
              <a:off x="0" y="-47625"/>
              <a:ext cx="15395400" cy="315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3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46" name="Google Shape;346;g3f742fa75ff_0_137" title="thebarnbarMesa de trabajo 1 copia 85@4x-100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44398" y="11500"/>
            <a:ext cx="1843600" cy="18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3f742fa75ff_0_137"/>
          <p:cNvSpPr txBox="1"/>
          <p:nvPr/>
        </p:nvSpPr>
        <p:spPr>
          <a:xfrm>
            <a:off x="1600027" y="1037950"/>
            <a:ext cx="70101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Epilogue"/>
                <a:ea typeface="Epilogue"/>
                <a:cs typeface="Epilogue"/>
                <a:sym typeface="Epilogue"/>
              </a:rPr>
              <a:t>TOMATE AOVE Y SAL</a:t>
            </a:r>
            <a:endParaRPr b="0" i="0" sz="1400" u="none" cap="none" strike="noStrike">
              <a:solidFill>
                <a:srgbClr val="000000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348" name="Google Shape;348;g3f742fa75ff_0_137"/>
          <p:cNvSpPr txBox="1"/>
          <p:nvPr/>
        </p:nvSpPr>
        <p:spPr>
          <a:xfrm>
            <a:off x="9300773" y="1887976"/>
            <a:ext cx="81222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199">
                <a:latin typeface="Epilogue"/>
                <a:ea typeface="Epilogue"/>
                <a:cs typeface="Epilogue"/>
                <a:sym typeface="Epilogue"/>
              </a:rPr>
              <a:t>DESCRIPCIÓN</a:t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38017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>La tostada más sencilla de la carta: tomate rallado, un buen chorro de AOVE y escamas de sal sobre masa madre.</a:t>
            </a:r>
            <a:endParaRPr b="0" i="0" sz="2199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9" name="Foto plat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025" y="2537975"/>
            <a:ext cx="7010100" cy="7297500"/>
          </a:xfrm>
          <a:prstGeom prst="rect">
            <a:avLst/>
          </a:prstGeom>
        </p:spPr>
      </p:pic>
      <p:graphicFrame>
        <p:nvGraphicFramePr>
          <p:cNvPr id="350" name="Google Shape;350;g3f742fa75ff_0_137"/>
          <p:cNvGraphicFramePr/>
          <p:nvPr/>
        </p:nvGraphicFramePr>
        <p:xfrm>
          <a:off x="9300775" y="81509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{13CF2276-01A0-4305-AA87-1BB3419B6041}</a:tableStyleId>
              </a:tblPr>
              <a:tblGrid>
                <a:gridCol w="8122275"/>
              </a:tblGrid>
              <a:tr h="32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ALÉRGENOS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3A038"/>
                    </a:solidFill>
                  </a:tcPr>
                </a:tc>
              </a:tr>
              <a:tr h="50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>Pendiente de confirmar con cocina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1" name="Google Shape;351;g3f742fa75ff_0_137"/>
          <p:cNvGraphicFramePr/>
          <p:nvPr/>
        </p:nvGraphicFramePr>
        <p:xfrm>
          <a:off x="9300775" y="5618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{EEFC6B96-5C7F-40CB-9062-C41EB17D4809}</a:tableStyleId>
              </a:tblPr>
              <a:tblGrid>
                <a:gridCol w="4281975"/>
                <a:gridCol w="1920150"/>
                <a:gridCol w="1920150"/>
              </a:tblGrid>
              <a:tr h="3583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INGREDIENTES</a:t>
                      </a:r>
                      <a:endParaRPr b="1" sz="180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351:0:0"/>
                      </a:ext>
                    </a:extLst>
                  </a:tcPr>
                </a:tc>
                <a:tc hMerge="1"/>
                <a:tc hMerge="1"/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Pan de masa madre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1,000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Tomate rallado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0,060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AOVE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0,006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Escamas de sal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0,003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364" l="0" r="0" t="-83367"/>
            </a:stretch>
          </a:blipFill>
          <a:ln>
            <a:noFill/>
          </a:ln>
        </p:spPr>
      </p:sp>
      <p:sp>
        <p:nvSpPr>
          <p:cNvPr id="169" name="Google Shape;169;p6"/>
          <p:cNvSpPr/>
          <p:nvPr/>
        </p:nvSpPr>
        <p:spPr>
          <a:xfrm>
            <a:off x="1143000" y="11500"/>
            <a:ext cx="16002000" cy="10298684"/>
          </a:xfrm>
          <a:custGeom>
            <a:rect b="b" l="l" r="r" t="t"/>
            <a:pathLst>
              <a:path extrusionOk="0" h="9855200" w="21336000">
                <a:moveTo>
                  <a:pt x="0" y="0"/>
                </a:moveTo>
                <a:lnTo>
                  <a:pt x="21336000" y="0"/>
                </a:lnTo>
                <a:lnTo>
                  <a:pt x="21336000" y="9855200"/>
                </a:lnTo>
                <a:lnTo>
                  <a:pt x="0" y="9855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70" name="Google Shape;170;p6"/>
          <p:cNvGrpSpPr/>
          <p:nvPr/>
        </p:nvGrpSpPr>
        <p:grpSpPr>
          <a:xfrm>
            <a:off x="727792" y="357359"/>
            <a:ext cx="17368751" cy="4022182"/>
            <a:chOff x="0" y="-3252460"/>
            <a:chExt cx="23158333" cy="5362912"/>
          </a:xfrm>
        </p:grpSpPr>
        <p:sp>
          <p:nvSpPr>
            <p:cNvPr id="171" name="Google Shape;171;p6"/>
            <p:cNvSpPr/>
            <p:nvPr/>
          </p:nvSpPr>
          <p:spPr>
            <a:xfrm>
              <a:off x="0" y="0"/>
              <a:ext cx="22042011" cy="2110452"/>
            </a:xfrm>
            <a:custGeom>
              <a:rect b="b" l="l" r="r" t="t"/>
              <a:pathLst>
                <a:path extrusionOk="0" h="2110452" w="22042011">
                  <a:moveTo>
                    <a:pt x="0" y="0"/>
                  </a:moveTo>
                  <a:lnTo>
                    <a:pt x="22042011" y="0"/>
                  </a:lnTo>
                  <a:lnTo>
                    <a:pt x="22042011" y="2110452"/>
                  </a:lnTo>
                  <a:lnTo>
                    <a:pt x="0" y="21104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15002" l="0" r="73283" t="-23740"/>
              </a:stretch>
            </a:blipFill>
            <a:ln>
              <a:noFill/>
            </a:ln>
          </p:spPr>
        </p:sp>
        <p:sp>
          <p:nvSpPr>
            <p:cNvPr id="172" name="Google Shape;172;p6"/>
            <p:cNvSpPr txBox="1"/>
            <p:nvPr/>
          </p:nvSpPr>
          <p:spPr>
            <a:xfrm>
              <a:off x="1116433" y="-3252460"/>
              <a:ext cx="22041900" cy="21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dk1"/>
                  </a:solidFill>
                  <a:latin typeface="Epilogue"/>
                  <a:ea typeface="Epilogue"/>
                  <a:cs typeface="Epilogue"/>
                  <a:sym typeface="Epilogue"/>
                </a:rPr>
                <a:t>5. Descripción de platos</a:t>
              </a:r>
              <a:endParaRPr b="0" i="0" sz="14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marR="0" rtl="0" algn="l">
                <a:lnSpc>
                  <a:spcPct val="11997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3" name="Google Shape;173;p6"/>
          <p:cNvGrpSpPr/>
          <p:nvPr/>
        </p:nvGrpSpPr>
        <p:grpSpPr>
          <a:xfrm>
            <a:off x="3370755" y="7179692"/>
            <a:ext cx="11546490" cy="2362835"/>
            <a:chOff x="0" y="-47625"/>
            <a:chExt cx="15395320" cy="3150448"/>
          </a:xfrm>
        </p:grpSpPr>
        <p:sp>
          <p:nvSpPr>
            <p:cNvPr id="174" name="Google Shape;174;p6"/>
            <p:cNvSpPr/>
            <p:nvPr/>
          </p:nvSpPr>
          <p:spPr>
            <a:xfrm>
              <a:off x="0" y="0"/>
              <a:ext cx="15395318" cy="3102823"/>
            </a:xfrm>
            <a:custGeom>
              <a:rect b="b" l="l" r="r" t="t"/>
              <a:pathLst>
                <a:path extrusionOk="0" h="3102823" w="15395318">
                  <a:moveTo>
                    <a:pt x="0" y="0"/>
                  </a:moveTo>
                  <a:lnTo>
                    <a:pt x="15395318" y="0"/>
                  </a:lnTo>
                  <a:lnTo>
                    <a:pt x="15395318" y="3102823"/>
                  </a:lnTo>
                  <a:lnTo>
                    <a:pt x="0" y="310282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27590" l="0" r="61666" t="-1712"/>
              </a:stretch>
            </a:blipFill>
            <a:ln>
              <a:noFill/>
            </a:ln>
          </p:spPr>
        </p:sp>
        <p:sp>
          <p:nvSpPr>
            <p:cNvPr id="175" name="Google Shape;175;p6"/>
            <p:cNvSpPr txBox="1"/>
            <p:nvPr/>
          </p:nvSpPr>
          <p:spPr>
            <a:xfrm>
              <a:off x="0" y="-47625"/>
              <a:ext cx="15395320" cy="3150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3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6" name="Google Shape;176;p6" title="thebarnbarMesa de trabajo 1 copia 85@4x-100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44398" y="11500"/>
            <a:ext cx="1843600" cy="18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1600027" y="1037950"/>
            <a:ext cx="70101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Epilogue"/>
                <a:ea typeface="Epilogue"/>
                <a:cs typeface="Epilogue"/>
                <a:sym typeface="Epilogue"/>
              </a:rPr>
              <a:t>ENSALADA DE MELOCOTÓN</a:t>
            </a:r>
            <a:endParaRPr b="0" i="0" sz="1400" u="none" cap="none" strike="noStrike">
              <a:solidFill>
                <a:srgbClr val="000000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9300773" y="1887976"/>
            <a:ext cx="81222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199">
                <a:latin typeface="Epilogue"/>
                <a:ea typeface="Epilogue"/>
                <a:cs typeface="Epilogue"/>
                <a:sym typeface="Epilogue"/>
              </a:rPr>
              <a:t>DESCRIPCIÓN</a:t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38017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>Ensalada fresca de melocotón y tomate verde con hojas tiernas, almendra tostada y vinagreta de miel y limón.</a:t>
            </a:r>
            <a:endParaRPr b="0" i="0" sz="2199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9" name="Foto plat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025" y="2537975"/>
            <a:ext cx="7010100" cy="7297500"/>
          </a:xfrm>
          <a:prstGeom prst="rect">
            <a:avLst/>
          </a:prstGeom>
        </p:spPr>
      </p:pic>
      <p:graphicFrame>
        <p:nvGraphicFramePr>
          <p:cNvPr id="180" name="Google Shape;180;p6"/>
          <p:cNvGraphicFramePr/>
          <p:nvPr/>
        </p:nvGraphicFramePr>
        <p:xfrm>
          <a:off x="9300775" y="81509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{13CF2276-01A0-4305-AA87-1BB3419B6041}</a:tableStyleId>
              </a:tblPr>
              <a:tblGrid>
                <a:gridCol w="8122275"/>
              </a:tblGrid>
              <a:tr h="32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ALÉRGENOS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3A038"/>
                    </a:solidFill>
                  </a:tcPr>
                </a:tc>
              </a:tr>
              <a:tr h="50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>Pendiente de confirmar con cocina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" name="Google Shape;181;p6"/>
          <p:cNvGraphicFramePr/>
          <p:nvPr/>
        </p:nvGraphicFramePr>
        <p:xfrm>
          <a:off x="9300775" y="5618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{EEFC6B96-5C7F-40CB-9062-C41EB17D4809}</a:tableStyleId>
              </a:tblPr>
              <a:tblGrid>
                <a:gridCol w="4281975"/>
                <a:gridCol w="1920150"/>
                <a:gridCol w="1920150"/>
              </a:tblGrid>
              <a:tr h="3583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INGREDIENTES</a:t>
                      </a:r>
                      <a:endParaRPr b="1" sz="180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0:0"/>
                      </a:ext>
                    </a:extLst>
                  </a:tcPr>
                </a:tc>
                <a:tc hMerge="1"/>
                <a:tc hMerge="1"/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Melocotón fresco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0,120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Tomate verde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0,120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Almendra tostada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0,015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Mezcla de hojas tiernas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0,020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Vinagreta de miel y limón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0,015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364" l="0" r="0" t="-83367"/>
            </a:stretch>
          </a:blipFill>
          <a:ln>
            <a:noFill/>
          </a:ln>
        </p:spPr>
      </p:sp>
      <p:sp>
        <p:nvSpPr>
          <p:cNvPr id="169" name="Google Shape;169;p6"/>
          <p:cNvSpPr/>
          <p:nvPr/>
        </p:nvSpPr>
        <p:spPr>
          <a:xfrm>
            <a:off x="1143000" y="11500"/>
            <a:ext cx="16002000" cy="10298684"/>
          </a:xfrm>
          <a:custGeom>
            <a:rect b="b" l="l" r="r" t="t"/>
            <a:pathLst>
              <a:path extrusionOk="0" h="9855200" w="21336000">
                <a:moveTo>
                  <a:pt x="0" y="0"/>
                </a:moveTo>
                <a:lnTo>
                  <a:pt x="21336000" y="0"/>
                </a:lnTo>
                <a:lnTo>
                  <a:pt x="21336000" y="9855200"/>
                </a:lnTo>
                <a:lnTo>
                  <a:pt x="0" y="9855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70" name="Google Shape;170;p6"/>
          <p:cNvGrpSpPr/>
          <p:nvPr/>
        </p:nvGrpSpPr>
        <p:grpSpPr>
          <a:xfrm>
            <a:off x="727792" y="357359"/>
            <a:ext cx="17368751" cy="4022182"/>
            <a:chOff x="0" y="-3252460"/>
            <a:chExt cx="23158333" cy="5362912"/>
          </a:xfrm>
        </p:grpSpPr>
        <p:sp>
          <p:nvSpPr>
            <p:cNvPr id="171" name="Google Shape;171;p6"/>
            <p:cNvSpPr/>
            <p:nvPr/>
          </p:nvSpPr>
          <p:spPr>
            <a:xfrm>
              <a:off x="0" y="0"/>
              <a:ext cx="22042011" cy="2110452"/>
            </a:xfrm>
            <a:custGeom>
              <a:rect b="b" l="l" r="r" t="t"/>
              <a:pathLst>
                <a:path extrusionOk="0" h="2110452" w="22042011">
                  <a:moveTo>
                    <a:pt x="0" y="0"/>
                  </a:moveTo>
                  <a:lnTo>
                    <a:pt x="22042011" y="0"/>
                  </a:lnTo>
                  <a:lnTo>
                    <a:pt x="22042011" y="2110452"/>
                  </a:lnTo>
                  <a:lnTo>
                    <a:pt x="0" y="21104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15002" l="0" r="73283" t="-23740"/>
              </a:stretch>
            </a:blipFill>
            <a:ln>
              <a:noFill/>
            </a:ln>
          </p:spPr>
        </p:sp>
        <p:sp>
          <p:nvSpPr>
            <p:cNvPr id="172" name="Google Shape;172;p6"/>
            <p:cNvSpPr txBox="1"/>
            <p:nvPr/>
          </p:nvSpPr>
          <p:spPr>
            <a:xfrm>
              <a:off x="1116433" y="-3252460"/>
              <a:ext cx="22041900" cy="21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dk1"/>
                  </a:solidFill>
                  <a:latin typeface="Epilogue"/>
                  <a:ea typeface="Epilogue"/>
                  <a:cs typeface="Epilogue"/>
                  <a:sym typeface="Epilogue"/>
                </a:rPr>
                <a:t>5. Descripción de platos</a:t>
              </a:r>
              <a:endParaRPr b="0" i="0" sz="14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marR="0" rtl="0" algn="l">
                <a:lnSpc>
                  <a:spcPct val="11997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3" name="Google Shape;173;p6"/>
          <p:cNvGrpSpPr/>
          <p:nvPr/>
        </p:nvGrpSpPr>
        <p:grpSpPr>
          <a:xfrm>
            <a:off x="3370755" y="7179692"/>
            <a:ext cx="11546490" cy="2362835"/>
            <a:chOff x="0" y="-47625"/>
            <a:chExt cx="15395320" cy="3150448"/>
          </a:xfrm>
        </p:grpSpPr>
        <p:sp>
          <p:nvSpPr>
            <p:cNvPr id="174" name="Google Shape;174;p6"/>
            <p:cNvSpPr/>
            <p:nvPr/>
          </p:nvSpPr>
          <p:spPr>
            <a:xfrm>
              <a:off x="0" y="0"/>
              <a:ext cx="15395318" cy="3102823"/>
            </a:xfrm>
            <a:custGeom>
              <a:rect b="b" l="l" r="r" t="t"/>
              <a:pathLst>
                <a:path extrusionOk="0" h="3102823" w="15395318">
                  <a:moveTo>
                    <a:pt x="0" y="0"/>
                  </a:moveTo>
                  <a:lnTo>
                    <a:pt x="15395318" y="0"/>
                  </a:lnTo>
                  <a:lnTo>
                    <a:pt x="15395318" y="3102823"/>
                  </a:lnTo>
                  <a:lnTo>
                    <a:pt x="0" y="310282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27590" l="0" r="61666" t="-1712"/>
              </a:stretch>
            </a:blipFill>
            <a:ln>
              <a:noFill/>
            </a:ln>
          </p:spPr>
        </p:sp>
        <p:sp>
          <p:nvSpPr>
            <p:cNvPr id="175" name="Google Shape;175;p6"/>
            <p:cNvSpPr txBox="1"/>
            <p:nvPr/>
          </p:nvSpPr>
          <p:spPr>
            <a:xfrm>
              <a:off x="0" y="-47625"/>
              <a:ext cx="15395320" cy="3150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3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6" name="Google Shape;176;p6" title="thebarnbarMesa de trabajo 1 copia 85@4x-100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44398" y="11500"/>
            <a:ext cx="1843600" cy="18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1600027" y="1037950"/>
            <a:ext cx="70101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Epilogue"/>
                <a:ea typeface="Epilogue"/>
                <a:cs typeface="Epilogue"/>
                <a:sym typeface="Epilogue"/>
              </a:rPr>
              <a:t>TOMATE CONFITADO CON ANCHOAS</a:t>
            </a:r>
            <a:endParaRPr b="0" i="0" sz="1400" u="none" cap="none" strike="noStrike">
              <a:solidFill>
                <a:srgbClr val="000000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9300773" y="1887976"/>
            <a:ext cx="81222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199">
                <a:latin typeface="Epilogue"/>
                <a:ea typeface="Epilogue"/>
                <a:cs typeface="Epilogue"/>
                <a:sym typeface="Epilogue"/>
              </a:rPr>
              <a:t>DESCRIPCIÓN</a:t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38017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>Tomate confitado con anchoas, AOVE y un toque de ralladura de limón, sobre pan de masa madre tostado.</a:t>
            </a:r>
            <a:endParaRPr b="0" i="0" sz="2199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9" name="Foto plat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025" y="2537975"/>
            <a:ext cx="7010100" cy="7297500"/>
          </a:xfrm>
          <a:prstGeom prst="rect">
            <a:avLst/>
          </a:prstGeom>
        </p:spPr>
      </p:pic>
      <p:graphicFrame>
        <p:nvGraphicFramePr>
          <p:cNvPr id="180" name="Google Shape;180;p6"/>
          <p:cNvGraphicFramePr/>
          <p:nvPr/>
        </p:nvGraphicFramePr>
        <p:xfrm>
          <a:off x="9300775" y="81509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{13CF2276-01A0-4305-AA87-1BB3419B6041}</a:tableStyleId>
              </a:tblPr>
              <a:tblGrid>
                <a:gridCol w="8122275"/>
              </a:tblGrid>
              <a:tr h="32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ALÉRGENOS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3A038"/>
                    </a:solidFill>
                  </a:tcPr>
                </a:tc>
              </a:tr>
              <a:tr h="50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>Pendiente de confirmar con cocina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" name="Google Shape;181;p6"/>
          <p:cNvGraphicFramePr/>
          <p:nvPr/>
        </p:nvGraphicFramePr>
        <p:xfrm>
          <a:off x="9300775" y="5618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{EEFC6B96-5C7F-40CB-9062-C41EB17D4809}</a:tableStyleId>
              </a:tblPr>
              <a:tblGrid>
                <a:gridCol w="4281975"/>
                <a:gridCol w="1920150"/>
                <a:gridCol w="1920150"/>
              </a:tblGrid>
              <a:tr h="3583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INGREDIENTES</a:t>
                      </a:r>
                      <a:endParaRPr b="1" sz="180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0:0"/>
                      </a:ext>
                    </a:extLst>
                  </a:tcPr>
                </a:tc>
                <a:tc hMerge="1"/>
                <a:tc hMerge="1"/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Tomate confitado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0,120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Filetes de anchoa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0,040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AOVE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0,010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Pimienta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0,002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Pan de masa madre tostado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0,090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Ralladura de limón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0,001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364" l="0" r="0" t="-83367"/>
            </a:stretch>
          </a:blipFill>
          <a:ln>
            <a:noFill/>
          </a:ln>
        </p:spPr>
      </p:sp>
      <p:sp>
        <p:nvSpPr>
          <p:cNvPr id="169" name="Google Shape;169;p6"/>
          <p:cNvSpPr/>
          <p:nvPr/>
        </p:nvSpPr>
        <p:spPr>
          <a:xfrm>
            <a:off x="1143000" y="11500"/>
            <a:ext cx="16002000" cy="10298684"/>
          </a:xfrm>
          <a:custGeom>
            <a:rect b="b" l="l" r="r" t="t"/>
            <a:pathLst>
              <a:path extrusionOk="0" h="9855200" w="21336000">
                <a:moveTo>
                  <a:pt x="0" y="0"/>
                </a:moveTo>
                <a:lnTo>
                  <a:pt x="21336000" y="0"/>
                </a:lnTo>
                <a:lnTo>
                  <a:pt x="21336000" y="9855200"/>
                </a:lnTo>
                <a:lnTo>
                  <a:pt x="0" y="9855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70" name="Google Shape;170;p6"/>
          <p:cNvGrpSpPr/>
          <p:nvPr/>
        </p:nvGrpSpPr>
        <p:grpSpPr>
          <a:xfrm>
            <a:off x="727792" y="357359"/>
            <a:ext cx="17368751" cy="4022182"/>
            <a:chOff x="0" y="-3252460"/>
            <a:chExt cx="23158333" cy="5362912"/>
          </a:xfrm>
        </p:grpSpPr>
        <p:sp>
          <p:nvSpPr>
            <p:cNvPr id="171" name="Google Shape;171;p6"/>
            <p:cNvSpPr/>
            <p:nvPr/>
          </p:nvSpPr>
          <p:spPr>
            <a:xfrm>
              <a:off x="0" y="0"/>
              <a:ext cx="22042011" cy="2110452"/>
            </a:xfrm>
            <a:custGeom>
              <a:rect b="b" l="l" r="r" t="t"/>
              <a:pathLst>
                <a:path extrusionOk="0" h="2110452" w="22042011">
                  <a:moveTo>
                    <a:pt x="0" y="0"/>
                  </a:moveTo>
                  <a:lnTo>
                    <a:pt x="22042011" y="0"/>
                  </a:lnTo>
                  <a:lnTo>
                    <a:pt x="22042011" y="2110452"/>
                  </a:lnTo>
                  <a:lnTo>
                    <a:pt x="0" y="21104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15002" l="0" r="73283" t="-23740"/>
              </a:stretch>
            </a:blipFill>
            <a:ln>
              <a:noFill/>
            </a:ln>
          </p:spPr>
        </p:sp>
        <p:sp>
          <p:nvSpPr>
            <p:cNvPr id="172" name="Google Shape;172;p6"/>
            <p:cNvSpPr txBox="1"/>
            <p:nvPr/>
          </p:nvSpPr>
          <p:spPr>
            <a:xfrm>
              <a:off x="1116433" y="-3252460"/>
              <a:ext cx="22041900" cy="21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dk1"/>
                  </a:solidFill>
                  <a:latin typeface="Epilogue"/>
                  <a:ea typeface="Epilogue"/>
                  <a:cs typeface="Epilogue"/>
                  <a:sym typeface="Epilogue"/>
                </a:rPr>
                <a:t>5. Descripción de platos</a:t>
              </a:r>
              <a:endParaRPr b="0" i="0" sz="14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marR="0" rtl="0" algn="l">
                <a:lnSpc>
                  <a:spcPct val="11997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3" name="Google Shape;173;p6"/>
          <p:cNvGrpSpPr/>
          <p:nvPr/>
        </p:nvGrpSpPr>
        <p:grpSpPr>
          <a:xfrm>
            <a:off x="3370755" y="7179692"/>
            <a:ext cx="11546490" cy="2362835"/>
            <a:chOff x="0" y="-47625"/>
            <a:chExt cx="15395320" cy="3150448"/>
          </a:xfrm>
        </p:grpSpPr>
        <p:sp>
          <p:nvSpPr>
            <p:cNvPr id="174" name="Google Shape;174;p6"/>
            <p:cNvSpPr/>
            <p:nvPr/>
          </p:nvSpPr>
          <p:spPr>
            <a:xfrm>
              <a:off x="0" y="0"/>
              <a:ext cx="15395318" cy="3102823"/>
            </a:xfrm>
            <a:custGeom>
              <a:rect b="b" l="l" r="r" t="t"/>
              <a:pathLst>
                <a:path extrusionOk="0" h="3102823" w="15395318">
                  <a:moveTo>
                    <a:pt x="0" y="0"/>
                  </a:moveTo>
                  <a:lnTo>
                    <a:pt x="15395318" y="0"/>
                  </a:lnTo>
                  <a:lnTo>
                    <a:pt x="15395318" y="3102823"/>
                  </a:lnTo>
                  <a:lnTo>
                    <a:pt x="0" y="310282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27590" l="0" r="61666" t="-1712"/>
              </a:stretch>
            </a:blipFill>
            <a:ln>
              <a:noFill/>
            </a:ln>
          </p:spPr>
        </p:sp>
        <p:sp>
          <p:nvSpPr>
            <p:cNvPr id="175" name="Google Shape;175;p6"/>
            <p:cNvSpPr txBox="1"/>
            <p:nvPr/>
          </p:nvSpPr>
          <p:spPr>
            <a:xfrm>
              <a:off x="0" y="-47625"/>
              <a:ext cx="15395320" cy="3150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3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6" name="Google Shape;176;p6" title="thebarnbarMesa de trabajo 1 copia 85@4x-100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44398" y="11500"/>
            <a:ext cx="1843600" cy="18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1600027" y="1037950"/>
            <a:ext cx="70101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Epilogue"/>
                <a:ea typeface="Epilogue"/>
                <a:cs typeface="Epilogue"/>
                <a:sym typeface="Epilogue"/>
              </a:rPr>
              <a:t>GILDA</a:t>
            </a:r>
            <a:endParaRPr b="0" i="0" sz="1400" u="none" cap="none" strike="noStrike">
              <a:solidFill>
                <a:srgbClr val="000000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9300773" y="1887976"/>
            <a:ext cx="81222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199">
                <a:latin typeface="Epilogue"/>
                <a:ea typeface="Epilogue"/>
                <a:cs typeface="Epilogue"/>
                <a:sym typeface="Epilogue"/>
              </a:rPr>
              <a:t>DESCRIPCIÓN</a:t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38017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>La gilda clásica: aceituna, anchoa y guindilla, con un chorro de AOVE.</a:t>
            </a:r>
            <a:endParaRPr b="0" i="0" sz="2199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9" name="Foto plat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025" y="2537975"/>
            <a:ext cx="7010100" cy="7297500"/>
          </a:xfrm>
          <a:prstGeom prst="rect">
            <a:avLst/>
          </a:prstGeom>
        </p:spPr>
      </p:pic>
      <p:graphicFrame>
        <p:nvGraphicFramePr>
          <p:cNvPr id="180" name="Google Shape;180;p6"/>
          <p:cNvGraphicFramePr/>
          <p:nvPr/>
        </p:nvGraphicFramePr>
        <p:xfrm>
          <a:off x="9300775" y="81509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{13CF2276-01A0-4305-AA87-1BB3419B6041}</a:tableStyleId>
              </a:tblPr>
              <a:tblGrid>
                <a:gridCol w="8122275"/>
              </a:tblGrid>
              <a:tr h="32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ALÉRGENOS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3A038"/>
                    </a:solidFill>
                  </a:tcPr>
                </a:tc>
              </a:tr>
              <a:tr h="50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>Pendiente de confirmar con cocina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" name="Google Shape;181;p6"/>
          <p:cNvGraphicFramePr/>
          <p:nvPr/>
        </p:nvGraphicFramePr>
        <p:xfrm>
          <a:off x="9300775" y="5618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{EEFC6B96-5C7F-40CB-9062-C41EB17D4809}</a:tableStyleId>
              </a:tblPr>
              <a:tblGrid>
                <a:gridCol w="4281975"/>
                <a:gridCol w="1920150"/>
                <a:gridCol w="1920150"/>
              </a:tblGrid>
              <a:tr h="3583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INGREDIENTES</a:t>
                      </a:r>
                      <a:endParaRPr b="1" sz="180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0:0"/>
                      </a:ext>
                    </a:extLst>
                  </a:tcPr>
                </a:tc>
                <a:tc hMerge="1"/>
                <a:tc hMerge="1"/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Gildas (4 ud)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0,160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AOVE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0,001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364" l="0" r="0" t="-83367"/>
            </a:stretch>
          </a:blipFill>
          <a:ln>
            <a:noFill/>
          </a:ln>
        </p:spPr>
      </p:sp>
      <p:sp>
        <p:nvSpPr>
          <p:cNvPr id="169" name="Google Shape;169;p6"/>
          <p:cNvSpPr/>
          <p:nvPr/>
        </p:nvSpPr>
        <p:spPr>
          <a:xfrm>
            <a:off x="1143000" y="11500"/>
            <a:ext cx="16002000" cy="10298684"/>
          </a:xfrm>
          <a:custGeom>
            <a:rect b="b" l="l" r="r" t="t"/>
            <a:pathLst>
              <a:path extrusionOk="0" h="9855200" w="21336000">
                <a:moveTo>
                  <a:pt x="0" y="0"/>
                </a:moveTo>
                <a:lnTo>
                  <a:pt x="21336000" y="0"/>
                </a:lnTo>
                <a:lnTo>
                  <a:pt x="21336000" y="9855200"/>
                </a:lnTo>
                <a:lnTo>
                  <a:pt x="0" y="9855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70" name="Google Shape;170;p6"/>
          <p:cNvGrpSpPr/>
          <p:nvPr/>
        </p:nvGrpSpPr>
        <p:grpSpPr>
          <a:xfrm>
            <a:off x="727792" y="357359"/>
            <a:ext cx="17368751" cy="4022182"/>
            <a:chOff x="0" y="-3252460"/>
            <a:chExt cx="23158333" cy="5362912"/>
          </a:xfrm>
        </p:grpSpPr>
        <p:sp>
          <p:nvSpPr>
            <p:cNvPr id="171" name="Google Shape;171;p6"/>
            <p:cNvSpPr/>
            <p:nvPr/>
          </p:nvSpPr>
          <p:spPr>
            <a:xfrm>
              <a:off x="0" y="0"/>
              <a:ext cx="22042011" cy="2110452"/>
            </a:xfrm>
            <a:custGeom>
              <a:rect b="b" l="l" r="r" t="t"/>
              <a:pathLst>
                <a:path extrusionOk="0" h="2110452" w="22042011">
                  <a:moveTo>
                    <a:pt x="0" y="0"/>
                  </a:moveTo>
                  <a:lnTo>
                    <a:pt x="22042011" y="0"/>
                  </a:lnTo>
                  <a:lnTo>
                    <a:pt x="22042011" y="2110452"/>
                  </a:lnTo>
                  <a:lnTo>
                    <a:pt x="0" y="21104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15002" l="0" r="73283" t="-23740"/>
              </a:stretch>
            </a:blipFill>
            <a:ln>
              <a:noFill/>
            </a:ln>
          </p:spPr>
        </p:sp>
        <p:sp>
          <p:nvSpPr>
            <p:cNvPr id="172" name="Google Shape;172;p6"/>
            <p:cNvSpPr txBox="1"/>
            <p:nvPr/>
          </p:nvSpPr>
          <p:spPr>
            <a:xfrm>
              <a:off x="1116433" y="-3252460"/>
              <a:ext cx="22041900" cy="21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dk1"/>
                  </a:solidFill>
                  <a:latin typeface="Epilogue"/>
                  <a:ea typeface="Epilogue"/>
                  <a:cs typeface="Epilogue"/>
                  <a:sym typeface="Epilogue"/>
                </a:rPr>
                <a:t>5. Descripción de platos</a:t>
              </a:r>
              <a:endParaRPr b="0" i="0" sz="14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marR="0" rtl="0" algn="l">
                <a:lnSpc>
                  <a:spcPct val="11997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3" name="Google Shape;173;p6"/>
          <p:cNvGrpSpPr/>
          <p:nvPr/>
        </p:nvGrpSpPr>
        <p:grpSpPr>
          <a:xfrm>
            <a:off x="3370755" y="7179692"/>
            <a:ext cx="11546490" cy="2362835"/>
            <a:chOff x="0" y="-47625"/>
            <a:chExt cx="15395320" cy="3150448"/>
          </a:xfrm>
        </p:grpSpPr>
        <p:sp>
          <p:nvSpPr>
            <p:cNvPr id="174" name="Google Shape;174;p6"/>
            <p:cNvSpPr/>
            <p:nvPr/>
          </p:nvSpPr>
          <p:spPr>
            <a:xfrm>
              <a:off x="0" y="0"/>
              <a:ext cx="15395318" cy="3102823"/>
            </a:xfrm>
            <a:custGeom>
              <a:rect b="b" l="l" r="r" t="t"/>
              <a:pathLst>
                <a:path extrusionOk="0" h="3102823" w="15395318">
                  <a:moveTo>
                    <a:pt x="0" y="0"/>
                  </a:moveTo>
                  <a:lnTo>
                    <a:pt x="15395318" y="0"/>
                  </a:lnTo>
                  <a:lnTo>
                    <a:pt x="15395318" y="3102823"/>
                  </a:lnTo>
                  <a:lnTo>
                    <a:pt x="0" y="310282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27590" l="0" r="61666" t="-1712"/>
              </a:stretch>
            </a:blipFill>
            <a:ln>
              <a:noFill/>
            </a:ln>
          </p:spPr>
        </p:sp>
        <p:sp>
          <p:nvSpPr>
            <p:cNvPr id="175" name="Google Shape;175;p6"/>
            <p:cNvSpPr txBox="1"/>
            <p:nvPr/>
          </p:nvSpPr>
          <p:spPr>
            <a:xfrm>
              <a:off x="0" y="-47625"/>
              <a:ext cx="15395320" cy="3150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3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6" name="Google Shape;176;p6" title="thebarnbarMesa de trabajo 1 copia 85@4x-100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44398" y="11500"/>
            <a:ext cx="1843600" cy="18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1600027" y="1037950"/>
            <a:ext cx="70101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Epilogue"/>
                <a:ea typeface="Epilogue"/>
                <a:cs typeface="Epilogue"/>
                <a:sym typeface="Epilogue"/>
              </a:rPr>
              <a:t>TABLA DE QUESOS</a:t>
            </a:r>
            <a:endParaRPr b="0" i="0" sz="1400" u="none" cap="none" strike="noStrike">
              <a:solidFill>
                <a:srgbClr val="000000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9300773" y="1887976"/>
            <a:ext cx="81222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199">
                <a:latin typeface="Epilogue"/>
                <a:ea typeface="Epilogue"/>
                <a:cs typeface="Epilogue"/>
                <a:sym typeface="Epilogue"/>
              </a:rPr>
              <a:t>DESCRIPCIÓN</a:t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38017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>Selección de quesos (cabra de Guadarrama y oveja semicurado) con membrillo, almendra tostada y pan de masa madre.</a:t>
            </a:r>
            <a:endParaRPr b="0" i="0" sz="2199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9" name="Foto plat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025" y="2537975"/>
            <a:ext cx="7010100" cy="7297500"/>
          </a:xfrm>
          <a:prstGeom prst="rect">
            <a:avLst/>
          </a:prstGeom>
        </p:spPr>
      </p:pic>
      <p:graphicFrame>
        <p:nvGraphicFramePr>
          <p:cNvPr id="180" name="Google Shape;180;p6"/>
          <p:cNvGraphicFramePr/>
          <p:nvPr/>
        </p:nvGraphicFramePr>
        <p:xfrm>
          <a:off x="9300775" y="81509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{13CF2276-01A0-4305-AA87-1BB3419B6041}</a:tableStyleId>
              </a:tblPr>
              <a:tblGrid>
                <a:gridCol w="8122275"/>
              </a:tblGrid>
              <a:tr h="32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ALÉRGENOS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3A038"/>
                    </a:solidFill>
                  </a:tcPr>
                </a:tc>
              </a:tr>
              <a:tr h="50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>Pendiente de confirmar con cocina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" name="Google Shape;181;p6"/>
          <p:cNvGraphicFramePr/>
          <p:nvPr/>
        </p:nvGraphicFramePr>
        <p:xfrm>
          <a:off x="9300775" y="5618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{EEFC6B96-5C7F-40CB-9062-C41EB17D4809}</a:tableStyleId>
              </a:tblPr>
              <a:tblGrid>
                <a:gridCol w="4281975"/>
                <a:gridCol w="1920150"/>
                <a:gridCol w="1920150"/>
              </a:tblGrid>
              <a:tr h="3583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INGREDIENTES</a:t>
                      </a:r>
                      <a:endParaRPr b="1" sz="180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0:0"/>
                      </a:ext>
                    </a:extLst>
                  </a:tcPr>
                </a:tc>
                <a:tc hMerge="1"/>
                <a:tc hMerge="1"/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Queso de cabra de Guadarrama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0,060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Queso de oveja semicurado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0,060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Membrillo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0,030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Almendra tostada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0,030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Pan de masa madre cortado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0,090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364" l="0" r="0" t="-83367"/>
            </a:stretch>
          </a:blipFill>
          <a:ln>
            <a:noFill/>
          </a:ln>
        </p:spPr>
      </p:sp>
      <p:sp>
        <p:nvSpPr>
          <p:cNvPr id="169" name="Google Shape;169;p6"/>
          <p:cNvSpPr/>
          <p:nvPr/>
        </p:nvSpPr>
        <p:spPr>
          <a:xfrm>
            <a:off x="1143000" y="11500"/>
            <a:ext cx="16002000" cy="10298684"/>
          </a:xfrm>
          <a:custGeom>
            <a:rect b="b" l="l" r="r" t="t"/>
            <a:pathLst>
              <a:path extrusionOk="0" h="9855200" w="21336000">
                <a:moveTo>
                  <a:pt x="0" y="0"/>
                </a:moveTo>
                <a:lnTo>
                  <a:pt x="21336000" y="0"/>
                </a:lnTo>
                <a:lnTo>
                  <a:pt x="21336000" y="9855200"/>
                </a:lnTo>
                <a:lnTo>
                  <a:pt x="0" y="9855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70" name="Google Shape;170;p6"/>
          <p:cNvGrpSpPr/>
          <p:nvPr/>
        </p:nvGrpSpPr>
        <p:grpSpPr>
          <a:xfrm>
            <a:off x="727792" y="357359"/>
            <a:ext cx="17368751" cy="4022182"/>
            <a:chOff x="0" y="-3252460"/>
            <a:chExt cx="23158333" cy="5362912"/>
          </a:xfrm>
        </p:grpSpPr>
        <p:sp>
          <p:nvSpPr>
            <p:cNvPr id="171" name="Google Shape;171;p6"/>
            <p:cNvSpPr/>
            <p:nvPr/>
          </p:nvSpPr>
          <p:spPr>
            <a:xfrm>
              <a:off x="0" y="0"/>
              <a:ext cx="22042011" cy="2110452"/>
            </a:xfrm>
            <a:custGeom>
              <a:rect b="b" l="l" r="r" t="t"/>
              <a:pathLst>
                <a:path extrusionOk="0" h="2110452" w="22042011">
                  <a:moveTo>
                    <a:pt x="0" y="0"/>
                  </a:moveTo>
                  <a:lnTo>
                    <a:pt x="22042011" y="0"/>
                  </a:lnTo>
                  <a:lnTo>
                    <a:pt x="22042011" y="2110452"/>
                  </a:lnTo>
                  <a:lnTo>
                    <a:pt x="0" y="21104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15002" l="0" r="73283" t="-23740"/>
              </a:stretch>
            </a:blipFill>
            <a:ln>
              <a:noFill/>
            </a:ln>
          </p:spPr>
        </p:sp>
        <p:sp>
          <p:nvSpPr>
            <p:cNvPr id="172" name="Google Shape;172;p6"/>
            <p:cNvSpPr txBox="1"/>
            <p:nvPr/>
          </p:nvSpPr>
          <p:spPr>
            <a:xfrm>
              <a:off x="1116433" y="-3252460"/>
              <a:ext cx="22041900" cy="21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dk1"/>
                  </a:solidFill>
                  <a:latin typeface="Epilogue"/>
                  <a:ea typeface="Epilogue"/>
                  <a:cs typeface="Epilogue"/>
                  <a:sym typeface="Epilogue"/>
                </a:rPr>
                <a:t>5. Descripción de platos</a:t>
              </a:r>
              <a:endParaRPr b="0" i="0" sz="14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marR="0" rtl="0" algn="l">
                <a:lnSpc>
                  <a:spcPct val="11997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3" name="Google Shape;173;p6"/>
          <p:cNvGrpSpPr/>
          <p:nvPr/>
        </p:nvGrpSpPr>
        <p:grpSpPr>
          <a:xfrm>
            <a:off x="3370755" y="7179692"/>
            <a:ext cx="11546490" cy="2362835"/>
            <a:chOff x="0" y="-47625"/>
            <a:chExt cx="15395320" cy="3150448"/>
          </a:xfrm>
        </p:grpSpPr>
        <p:sp>
          <p:nvSpPr>
            <p:cNvPr id="174" name="Google Shape;174;p6"/>
            <p:cNvSpPr/>
            <p:nvPr/>
          </p:nvSpPr>
          <p:spPr>
            <a:xfrm>
              <a:off x="0" y="0"/>
              <a:ext cx="15395318" cy="3102823"/>
            </a:xfrm>
            <a:custGeom>
              <a:rect b="b" l="l" r="r" t="t"/>
              <a:pathLst>
                <a:path extrusionOk="0" h="3102823" w="15395318">
                  <a:moveTo>
                    <a:pt x="0" y="0"/>
                  </a:moveTo>
                  <a:lnTo>
                    <a:pt x="15395318" y="0"/>
                  </a:lnTo>
                  <a:lnTo>
                    <a:pt x="15395318" y="3102823"/>
                  </a:lnTo>
                  <a:lnTo>
                    <a:pt x="0" y="310282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27590" l="0" r="61666" t="-1712"/>
              </a:stretch>
            </a:blipFill>
            <a:ln>
              <a:noFill/>
            </a:ln>
          </p:spPr>
        </p:sp>
        <p:sp>
          <p:nvSpPr>
            <p:cNvPr id="175" name="Google Shape;175;p6"/>
            <p:cNvSpPr txBox="1"/>
            <p:nvPr/>
          </p:nvSpPr>
          <p:spPr>
            <a:xfrm>
              <a:off x="0" y="-47625"/>
              <a:ext cx="15395320" cy="3150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3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6" name="Google Shape;176;p6" title="thebarnbarMesa de trabajo 1 copia 85@4x-100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44398" y="11500"/>
            <a:ext cx="1843600" cy="18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1600027" y="1037950"/>
            <a:ext cx="70101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Epilogue"/>
                <a:ea typeface="Epilogue"/>
                <a:cs typeface="Epilogue"/>
                <a:sym typeface="Epilogue"/>
              </a:rPr>
              <a:t>YOGURT GRANJA</a:t>
            </a:r>
            <a:endParaRPr b="0" i="0" sz="1400" u="none" cap="none" strike="noStrike">
              <a:solidFill>
                <a:srgbClr val="000000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9300773" y="1887976"/>
            <a:ext cx="81222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199">
                <a:latin typeface="Epilogue"/>
                <a:ea typeface="Epilogue"/>
                <a:cs typeface="Epilogue"/>
                <a:sym typeface="Epilogue"/>
              </a:rPr>
              <a:t>DESCRIPCIÓN</a:t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38017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>Yogur de granja con granola propia de Lady Madrid, melocotón de temporada y almendra tostada.</a:t>
            </a:r>
            <a:endParaRPr b="0" i="0" sz="2199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9" name="Foto plat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025" y="2537975"/>
            <a:ext cx="7010100" cy="7297500"/>
          </a:xfrm>
          <a:prstGeom prst="rect">
            <a:avLst/>
          </a:prstGeom>
        </p:spPr>
      </p:pic>
      <p:graphicFrame>
        <p:nvGraphicFramePr>
          <p:cNvPr id="180" name="Google Shape;180;p6"/>
          <p:cNvGraphicFramePr/>
          <p:nvPr/>
        </p:nvGraphicFramePr>
        <p:xfrm>
          <a:off x="9300775" y="81509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{13CF2276-01A0-4305-AA87-1BB3419B6041}</a:tableStyleId>
              </a:tblPr>
              <a:tblGrid>
                <a:gridCol w="8122275"/>
              </a:tblGrid>
              <a:tr h="32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ALÉRGENOS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3A038"/>
                    </a:solidFill>
                  </a:tcPr>
                </a:tc>
              </a:tr>
              <a:tr h="50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>Pendiente de confirmar con cocina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" name="Google Shape;181;p6"/>
          <p:cNvGraphicFramePr/>
          <p:nvPr/>
        </p:nvGraphicFramePr>
        <p:xfrm>
          <a:off x="9300775" y="5618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{EEFC6B96-5C7F-40CB-9062-C41EB17D4809}</a:tableStyleId>
              </a:tblPr>
              <a:tblGrid>
                <a:gridCol w="4281975"/>
                <a:gridCol w="1920150"/>
                <a:gridCol w="1920150"/>
              </a:tblGrid>
              <a:tr h="3583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INGREDIENTES</a:t>
                      </a:r>
                      <a:endParaRPr b="1" sz="180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0:0"/>
                      </a:ext>
                    </a:extLst>
                  </a:tcPr>
                </a:tc>
                <a:tc hMerge="1"/>
                <a:tc hMerge="1"/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Yogur de granja natural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0,180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Granola Lady Madrid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0,035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Melocotón (verano)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0,600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Almendra tostada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0,005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364" l="0" r="0" t="-83367"/>
            </a:stretch>
          </a:blipFill>
          <a:ln>
            <a:noFill/>
          </a:ln>
        </p:spPr>
      </p:sp>
      <p:sp>
        <p:nvSpPr>
          <p:cNvPr id="169" name="Google Shape;169;p6"/>
          <p:cNvSpPr/>
          <p:nvPr/>
        </p:nvSpPr>
        <p:spPr>
          <a:xfrm>
            <a:off x="1143000" y="11500"/>
            <a:ext cx="16002000" cy="10298684"/>
          </a:xfrm>
          <a:custGeom>
            <a:rect b="b" l="l" r="r" t="t"/>
            <a:pathLst>
              <a:path extrusionOk="0" h="9855200" w="21336000">
                <a:moveTo>
                  <a:pt x="0" y="0"/>
                </a:moveTo>
                <a:lnTo>
                  <a:pt x="21336000" y="0"/>
                </a:lnTo>
                <a:lnTo>
                  <a:pt x="21336000" y="9855200"/>
                </a:lnTo>
                <a:lnTo>
                  <a:pt x="0" y="9855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70" name="Google Shape;170;p6"/>
          <p:cNvGrpSpPr/>
          <p:nvPr/>
        </p:nvGrpSpPr>
        <p:grpSpPr>
          <a:xfrm>
            <a:off x="727792" y="357359"/>
            <a:ext cx="17368751" cy="4022182"/>
            <a:chOff x="0" y="-3252460"/>
            <a:chExt cx="23158333" cy="5362912"/>
          </a:xfrm>
        </p:grpSpPr>
        <p:sp>
          <p:nvSpPr>
            <p:cNvPr id="171" name="Google Shape;171;p6"/>
            <p:cNvSpPr/>
            <p:nvPr/>
          </p:nvSpPr>
          <p:spPr>
            <a:xfrm>
              <a:off x="0" y="0"/>
              <a:ext cx="22042011" cy="2110452"/>
            </a:xfrm>
            <a:custGeom>
              <a:rect b="b" l="l" r="r" t="t"/>
              <a:pathLst>
                <a:path extrusionOk="0" h="2110452" w="22042011">
                  <a:moveTo>
                    <a:pt x="0" y="0"/>
                  </a:moveTo>
                  <a:lnTo>
                    <a:pt x="22042011" y="0"/>
                  </a:lnTo>
                  <a:lnTo>
                    <a:pt x="22042011" y="2110452"/>
                  </a:lnTo>
                  <a:lnTo>
                    <a:pt x="0" y="21104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15002" l="0" r="73283" t="-23740"/>
              </a:stretch>
            </a:blipFill>
            <a:ln>
              <a:noFill/>
            </a:ln>
          </p:spPr>
        </p:sp>
        <p:sp>
          <p:nvSpPr>
            <p:cNvPr id="172" name="Google Shape;172;p6"/>
            <p:cNvSpPr txBox="1"/>
            <p:nvPr/>
          </p:nvSpPr>
          <p:spPr>
            <a:xfrm>
              <a:off x="1116433" y="-3252460"/>
              <a:ext cx="22041900" cy="21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dk1"/>
                  </a:solidFill>
                  <a:latin typeface="Epilogue"/>
                  <a:ea typeface="Epilogue"/>
                  <a:cs typeface="Epilogue"/>
                  <a:sym typeface="Epilogue"/>
                </a:rPr>
                <a:t>5. Descripción de platos</a:t>
              </a:r>
              <a:endParaRPr b="0" i="0" sz="14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marR="0" rtl="0" algn="l">
                <a:lnSpc>
                  <a:spcPct val="11997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3" name="Google Shape;173;p6"/>
          <p:cNvGrpSpPr/>
          <p:nvPr/>
        </p:nvGrpSpPr>
        <p:grpSpPr>
          <a:xfrm>
            <a:off x="3370755" y="7179692"/>
            <a:ext cx="11546490" cy="2362835"/>
            <a:chOff x="0" y="-47625"/>
            <a:chExt cx="15395320" cy="3150448"/>
          </a:xfrm>
        </p:grpSpPr>
        <p:sp>
          <p:nvSpPr>
            <p:cNvPr id="174" name="Google Shape;174;p6"/>
            <p:cNvSpPr/>
            <p:nvPr/>
          </p:nvSpPr>
          <p:spPr>
            <a:xfrm>
              <a:off x="0" y="0"/>
              <a:ext cx="15395318" cy="3102823"/>
            </a:xfrm>
            <a:custGeom>
              <a:rect b="b" l="l" r="r" t="t"/>
              <a:pathLst>
                <a:path extrusionOk="0" h="3102823" w="15395318">
                  <a:moveTo>
                    <a:pt x="0" y="0"/>
                  </a:moveTo>
                  <a:lnTo>
                    <a:pt x="15395318" y="0"/>
                  </a:lnTo>
                  <a:lnTo>
                    <a:pt x="15395318" y="3102823"/>
                  </a:lnTo>
                  <a:lnTo>
                    <a:pt x="0" y="310282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27590" l="0" r="61666" t="-1712"/>
              </a:stretch>
            </a:blipFill>
            <a:ln>
              <a:noFill/>
            </a:ln>
          </p:spPr>
        </p:sp>
        <p:sp>
          <p:nvSpPr>
            <p:cNvPr id="175" name="Google Shape;175;p6"/>
            <p:cNvSpPr txBox="1"/>
            <p:nvPr/>
          </p:nvSpPr>
          <p:spPr>
            <a:xfrm>
              <a:off x="0" y="-47625"/>
              <a:ext cx="15395320" cy="3150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3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6" name="Google Shape;176;p6" title="thebarnbarMesa de trabajo 1 copia 85@4x-100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44398" y="11500"/>
            <a:ext cx="1843600" cy="18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1600027" y="1037950"/>
            <a:ext cx="70101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Epilogue"/>
                <a:ea typeface="Epilogue"/>
                <a:cs typeface="Epilogue"/>
                <a:sym typeface="Epilogue"/>
              </a:rPr>
              <a:t>PISTO Y YEMA CURADA</a:t>
            </a:r>
            <a:endParaRPr b="0" i="0" sz="1400" u="none" cap="none" strike="noStrike">
              <a:solidFill>
                <a:srgbClr val="000000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9300773" y="1887976"/>
            <a:ext cx="81222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199">
                <a:latin typeface="Epilogue"/>
                <a:ea typeface="Epilogue"/>
                <a:cs typeface="Epilogue"/>
                <a:sym typeface="Epilogue"/>
              </a:rPr>
              <a:t>DESCRIPCIÓN</a:t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38017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>Pisto casero caliente con yema curada rallada por encima, servido con pan tostado.</a:t>
            </a:r>
            <a:endParaRPr b="0" i="0" sz="2199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9" name="Foto plat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025" y="2537975"/>
            <a:ext cx="7010100" cy="7297500"/>
          </a:xfrm>
          <a:prstGeom prst="rect">
            <a:avLst/>
          </a:prstGeom>
        </p:spPr>
      </p:pic>
      <p:graphicFrame>
        <p:nvGraphicFramePr>
          <p:cNvPr id="180" name="Google Shape;180;p6"/>
          <p:cNvGraphicFramePr/>
          <p:nvPr/>
        </p:nvGraphicFramePr>
        <p:xfrm>
          <a:off x="9300775" y="81509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{13CF2276-01A0-4305-AA87-1BB3419B6041}</a:tableStyleId>
              </a:tblPr>
              <a:tblGrid>
                <a:gridCol w="8122275"/>
              </a:tblGrid>
              <a:tr h="32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ALÉRGENOS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3A038"/>
                    </a:solidFill>
                  </a:tcPr>
                </a:tc>
              </a:tr>
              <a:tr h="50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>Pendiente de confirmar con cocina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" name="Google Shape;181;p6"/>
          <p:cNvGraphicFramePr/>
          <p:nvPr/>
        </p:nvGraphicFramePr>
        <p:xfrm>
          <a:off x="9300775" y="5618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{EEFC6B96-5C7F-40CB-9062-C41EB17D4809}</a:tableStyleId>
              </a:tblPr>
              <a:tblGrid>
                <a:gridCol w="4281975"/>
                <a:gridCol w="1920150"/>
                <a:gridCol w="1920150"/>
              </a:tblGrid>
              <a:tr h="3583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INGREDIENTES</a:t>
                      </a:r>
                      <a:endParaRPr b="1" sz="180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0:0"/>
                      </a:ext>
                    </a:extLst>
                  </a:tcPr>
                </a:tc>
                <a:tc hMerge="1"/>
                <a:tc hMerge="1"/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Pan de masa madre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1,000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Pisto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0,080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Huevo pochado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0,630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ud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Yema curada rallada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0,008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AOVE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0,005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Escamas de sal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0,002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364" l="0" r="0" t="-83367"/>
            </a:stretch>
          </a:blipFill>
          <a:ln>
            <a:noFill/>
          </a:ln>
        </p:spPr>
      </p:sp>
      <p:sp>
        <p:nvSpPr>
          <p:cNvPr id="169" name="Google Shape;169;p6"/>
          <p:cNvSpPr/>
          <p:nvPr/>
        </p:nvSpPr>
        <p:spPr>
          <a:xfrm>
            <a:off x="1143000" y="11500"/>
            <a:ext cx="16002000" cy="10298684"/>
          </a:xfrm>
          <a:custGeom>
            <a:rect b="b" l="l" r="r" t="t"/>
            <a:pathLst>
              <a:path extrusionOk="0" h="9855200" w="21336000">
                <a:moveTo>
                  <a:pt x="0" y="0"/>
                </a:moveTo>
                <a:lnTo>
                  <a:pt x="21336000" y="0"/>
                </a:lnTo>
                <a:lnTo>
                  <a:pt x="21336000" y="9855200"/>
                </a:lnTo>
                <a:lnTo>
                  <a:pt x="0" y="9855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70" name="Google Shape;170;p6"/>
          <p:cNvGrpSpPr/>
          <p:nvPr/>
        </p:nvGrpSpPr>
        <p:grpSpPr>
          <a:xfrm>
            <a:off x="727792" y="357359"/>
            <a:ext cx="17368751" cy="4022182"/>
            <a:chOff x="0" y="-3252460"/>
            <a:chExt cx="23158333" cy="5362912"/>
          </a:xfrm>
        </p:grpSpPr>
        <p:sp>
          <p:nvSpPr>
            <p:cNvPr id="171" name="Google Shape;171;p6"/>
            <p:cNvSpPr/>
            <p:nvPr/>
          </p:nvSpPr>
          <p:spPr>
            <a:xfrm>
              <a:off x="0" y="0"/>
              <a:ext cx="22042011" cy="2110452"/>
            </a:xfrm>
            <a:custGeom>
              <a:rect b="b" l="l" r="r" t="t"/>
              <a:pathLst>
                <a:path extrusionOk="0" h="2110452" w="22042011">
                  <a:moveTo>
                    <a:pt x="0" y="0"/>
                  </a:moveTo>
                  <a:lnTo>
                    <a:pt x="22042011" y="0"/>
                  </a:lnTo>
                  <a:lnTo>
                    <a:pt x="22042011" y="2110452"/>
                  </a:lnTo>
                  <a:lnTo>
                    <a:pt x="0" y="21104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15002" l="0" r="73283" t="-23740"/>
              </a:stretch>
            </a:blipFill>
            <a:ln>
              <a:noFill/>
            </a:ln>
          </p:spPr>
        </p:sp>
        <p:sp>
          <p:nvSpPr>
            <p:cNvPr id="172" name="Google Shape;172;p6"/>
            <p:cNvSpPr txBox="1"/>
            <p:nvPr/>
          </p:nvSpPr>
          <p:spPr>
            <a:xfrm>
              <a:off x="1116433" y="-3252460"/>
              <a:ext cx="22041900" cy="21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dk1"/>
                  </a:solidFill>
                  <a:latin typeface="Epilogue"/>
                  <a:ea typeface="Epilogue"/>
                  <a:cs typeface="Epilogue"/>
                  <a:sym typeface="Epilogue"/>
                </a:rPr>
                <a:t>5. Descripción de platos</a:t>
              </a:r>
              <a:endParaRPr b="0" i="0" sz="14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marR="0" rtl="0" algn="l">
                <a:lnSpc>
                  <a:spcPct val="11997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3" name="Google Shape;173;p6"/>
          <p:cNvGrpSpPr/>
          <p:nvPr/>
        </p:nvGrpSpPr>
        <p:grpSpPr>
          <a:xfrm>
            <a:off x="3370755" y="7179692"/>
            <a:ext cx="11546490" cy="2362835"/>
            <a:chOff x="0" y="-47625"/>
            <a:chExt cx="15395320" cy="3150448"/>
          </a:xfrm>
        </p:grpSpPr>
        <p:sp>
          <p:nvSpPr>
            <p:cNvPr id="174" name="Google Shape;174;p6"/>
            <p:cNvSpPr/>
            <p:nvPr/>
          </p:nvSpPr>
          <p:spPr>
            <a:xfrm>
              <a:off x="0" y="0"/>
              <a:ext cx="15395318" cy="3102823"/>
            </a:xfrm>
            <a:custGeom>
              <a:rect b="b" l="l" r="r" t="t"/>
              <a:pathLst>
                <a:path extrusionOk="0" h="3102823" w="15395318">
                  <a:moveTo>
                    <a:pt x="0" y="0"/>
                  </a:moveTo>
                  <a:lnTo>
                    <a:pt x="15395318" y="0"/>
                  </a:lnTo>
                  <a:lnTo>
                    <a:pt x="15395318" y="3102823"/>
                  </a:lnTo>
                  <a:lnTo>
                    <a:pt x="0" y="310282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27590" l="0" r="61666" t="-1712"/>
              </a:stretch>
            </a:blipFill>
            <a:ln>
              <a:noFill/>
            </a:ln>
          </p:spPr>
        </p:sp>
        <p:sp>
          <p:nvSpPr>
            <p:cNvPr id="175" name="Google Shape;175;p6"/>
            <p:cNvSpPr txBox="1"/>
            <p:nvPr/>
          </p:nvSpPr>
          <p:spPr>
            <a:xfrm>
              <a:off x="0" y="-47625"/>
              <a:ext cx="15395320" cy="3150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3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6" name="Google Shape;176;p6" title="thebarnbarMesa de trabajo 1 copia 85@4x-100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44398" y="11500"/>
            <a:ext cx="1843600" cy="18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1600027" y="1037950"/>
            <a:ext cx="70101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Epilogue"/>
                <a:ea typeface="Epilogue"/>
                <a:cs typeface="Epilogue"/>
                <a:sym typeface="Epilogue"/>
              </a:rPr>
              <a:t>BRIOCHE ROAST BEEF</a:t>
            </a:r>
            <a:endParaRPr b="0" i="0" sz="1400" u="none" cap="none" strike="noStrike">
              <a:solidFill>
                <a:srgbClr val="000000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9300773" y="1887976"/>
            <a:ext cx="81222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199">
                <a:latin typeface="Epilogue"/>
                <a:ea typeface="Epilogue"/>
                <a:cs typeface="Epilogue"/>
                <a:sym typeface="Epilogue"/>
              </a:rPr>
              <a:t>DESCRIPCIÓN</a:t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38017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>Ternera cocinada en brioche con pimiento rojo asado, servido con un pepinillo encurtido.</a:t>
            </a:r>
            <a:endParaRPr b="0" i="0" sz="2199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9" name="Foto plat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025" y="2537975"/>
            <a:ext cx="7010100" cy="7297500"/>
          </a:xfrm>
          <a:prstGeom prst="rect">
            <a:avLst/>
          </a:prstGeom>
        </p:spPr>
      </p:pic>
      <p:graphicFrame>
        <p:nvGraphicFramePr>
          <p:cNvPr id="180" name="Google Shape;180;p6"/>
          <p:cNvGraphicFramePr/>
          <p:nvPr/>
        </p:nvGraphicFramePr>
        <p:xfrm>
          <a:off x="9300775" y="81509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{13CF2276-01A0-4305-AA87-1BB3419B6041}</a:tableStyleId>
              </a:tblPr>
              <a:tblGrid>
                <a:gridCol w="8122275"/>
              </a:tblGrid>
              <a:tr h="32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ALÉRGENOS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3A038"/>
                    </a:solidFill>
                  </a:tcPr>
                </a:tc>
              </a:tr>
              <a:tr h="50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>Pendiente de confirmar con cocina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" name="Google Shape;181;p6"/>
          <p:cNvGraphicFramePr/>
          <p:nvPr/>
        </p:nvGraphicFramePr>
        <p:xfrm>
          <a:off x="9300775" y="5618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{EEFC6B96-5C7F-40CB-9062-C41EB17D4809}</a:tableStyleId>
              </a:tblPr>
              <a:tblGrid>
                <a:gridCol w="4281975"/>
                <a:gridCol w="1920150"/>
                <a:gridCol w="1920150"/>
              </a:tblGrid>
              <a:tr h="3583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INGREDIENTES</a:t>
                      </a:r>
                      <a:endParaRPr b="1" sz="180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0:0"/>
                      </a:ext>
                    </a:extLst>
                  </a:tcPr>
                </a:tc>
                <a:tc hMerge="1"/>
                <a:tc hMerge="1"/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Brioche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0,090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ud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Ternera cocinada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0,090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Pimiento rojo asado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0,025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AOVE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0,005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Escamas de sal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0,005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364" l="0" r="0" t="-83367"/>
            </a:stretch>
          </a:blipFill>
          <a:ln>
            <a:noFill/>
          </a:ln>
        </p:spPr>
      </p:sp>
      <p:sp>
        <p:nvSpPr>
          <p:cNvPr id="169" name="Google Shape;169;p6"/>
          <p:cNvSpPr/>
          <p:nvPr/>
        </p:nvSpPr>
        <p:spPr>
          <a:xfrm>
            <a:off x="1143000" y="11500"/>
            <a:ext cx="16002000" cy="10298684"/>
          </a:xfrm>
          <a:custGeom>
            <a:rect b="b" l="l" r="r" t="t"/>
            <a:pathLst>
              <a:path extrusionOk="0" h="9855200" w="21336000">
                <a:moveTo>
                  <a:pt x="0" y="0"/>
                </a:moveTo>
                <a:lnTo>
                  <a:pt x="21336000" y="0"/>
                </a:lnTo>
                <a:lnTo>
                  <a:pt x="21336000" y="9855200"/>
                </a:lnTo>
                <a:lnTo>
                  <a:pt x="0" y="9855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70" name="Google Shape;170;p6"/>
          <p:cNvGrpSpPr/>
          <p:nvPr/>
        </p:nvGrpSpPr>
        <p:grpSpPr>
          <a:xfrm>
            <a:off x="727792" y="357359"/>
            <a:ext cx="17368751" cy="4022182"/>
            <a:chOff x="0" y="-3252460"/>
            <a:chExt cx="23158333" cy="5362912"/>
          </a:xfrm>
        </p:grpSpPr>
        <p:sp>
          <p:nvSpPr>
            <p:cNvPr id="171" name="Google Shape;171;p6"/>
            <p:cNvSpPr/>
            <p:nvPr/>
          </p:nvSpPr>
          <p:spPr>
            <a:xfrm>
              <a:off x="0" y="0"/>
              <a:ext cx="22042011" cy="2110452"/>
            </a:xfrm>
            <a:custGeom>
              <a:rect b="b" l="l" r="r" t="t"/>
              <a:pathLst>
                <a:path extrusionOk="0" h="2110452" w="22042011">
                  <a:moveTo>
                    <a:pt x="0" y="0"/>
                  </a:moveTo>
                  <a:lnTo>
                    <a:pt x="22042011" y="0"/>
                  </a:lnTo>
                  <a:lnTo>
                    <a:pt x="22042011" y="2110452"/>
                  </a:lnTo>
                  <a:lnTo>
                    <a:pt x="0" y="21104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15002" l="0" r="73283" t="-23740"/>
              </a:stretch>
            </a:blipFill>
            <a:ln>
              <a:noFill/>
            </a:ln>
          </p:spPr>
        </p:sp>
        <p:sp>
          <p:nvSpPr>
            <p:cNvPr id="172" name="Google Shape;172;p6"/>
            <p:cNvSpPr txBox="1"/>
            <p:nvPr/>
          </p:nvSpPr>
          <p:spPr>
            <a:xfrm>
              <a:off x="1116433" y="-3252460"/>
              <a:ext cx="22041900" cy="21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dk1"/>
                  </a:solidFill>
                  <a:latin typeface="Epilogue"/>
                  <a:ea typeface="Epilogue"/>
                  <a:cs typeface="Epilogue"/>
                  <a:sym typeface="Epilogue"/>
                </a:rPr>
                <a:t>5. Descripción de platos</a:t>
              </a:r>
              <a:endParaRPr b="0" i="0" sz="14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marR="0" rtl="0" algn="l">
                <a:lnSpc>
                  <a:spcPct val="11997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3" name="Google Shape;173;p6"/>
          <p:cNvGrpSpPr/>
          <p:nvPr/>
        </p:nvGrpSpPr>
        <p:grpSpPr>
          <a:xfrm>
            <a:off x="3370755" y="7179692"/>
            <a:ext cx="11546490" cy="2362835"/>
            <a:chOff x="0" y="-47625"/>
            <a:chExt cx="15395320" cy="3150448"/>
          </a:xfrm>
        </p:grpSpPr>
        <p:sp>
          <p:nvSpPr>
            <p:cNvPr id="174" name="Google Shape;174;p6"/>
            <p:cNvSpPr/>
            <p:nvPr/>
          </p:nvSpPr>
          <p:spPr>
            <a:xfrm>
              <a:off x="0" y="0"/>
              <a:ext cx="15395318" cy="3102823"/>
            </a:xfrm>
            <a:custGeom>
              <a:rect b="b" l="l" r="r" t="t"/>
              <a:pathLst>
                <a:path extrusionOk="0" h="3102823" w="15395318">
                  <a:moveTo>
                    <a:pt x="0" y="0"/>
                  </a:moveTo>
                  <a:lnTo>
                    <a:pt x="15395318" y="0"/>
                  </a:lnTo>
                  <a:lnTo>
                    <a:pt x="15395318" y="3102823"/>
                  </a:lnTo>
                  <a:lnTo>
                    <a:pt x="0" y="310282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27590" l="0" r="61666" t="-1712"/>
              </a:stretch>
            </a:blipFill>
            <a:ln>
              <a:noFill/>
            </a:ln>
          </p:spPr>
        </p:sp>
        <p:sp>
          <p:nvSpPr>
            <p:cNvPr id="175" name="Google Shape;175;p6"/>
            <p:cNvSpPr txBox="1"/>
            <p:nvPr/>
          </p:nvSpPr>
          <p:spPr>
            <a:xfrm>
              <a:off x="0" y="-47625"/>
              <a:ext cx="15395320" cy="3150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3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6" name="Google Shape;176;p6" title="thebarnbarMesa de trabajo 1 copia 85@4x-100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44398" y="11500"/>
            <a:ext cx="1843600" cy="18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1600027" y="1037950"/>
            <a:ext cx="70101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Epilogue"/>
                <a:ea typeface="Epilogue"/>
                <a:cs typeface="Epilogue"/>
                <a:sym typeface="Epilogue"/>
              </a:rPr>
              <a:t>BRIOCHE BIKINI</a:t>
            </a:r>
            <a:endParaRPr b="0" i="0" sz="1400" u="none" cap="none" strike="noStrike">
              <a:solidFill>
                <a:srgbClr val="000000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9300773" y="1887976"/>
            <a:ext cx="81222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199">
                <a:latin typeface="Epilogue"/>
                <a:ea typeface="Epilogue"/>
                <a:cs typeface="Epilogue"/>
                <a:sym typeface="Epilogue"/>
              </a:rPr>
              <a:t>DESCRIPCIÓN</a:t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38017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>El clásico bikini: brioche tostado con jamón cocido y queso havarti fundido.</a:t>
            </a:r>
            <a:endParaRPr b="0" i="0" sz="2199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9" name="Foto plat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025" y="2537975"/>
            <a:ext cx="7010100" cy="7297500"/>
          </a:xfrm>
          <a:prstGeom prst="rect">
            <a:avLst/>
          </a:prstGeom>
        </p:spPr>
      </p:pic>
      <p:graphicFrame>
        <p:nvGraphicFramePr>
          <p:cNvPr id="180" name="Google Shape;180;p6"/>
          <p:cNvGraphicFramePr/>
          <p:nvPr/>
        </p:nvGraphicFramePr>
        <p:xfrm>
          <a:off x="9300775" y="81509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{13CF2276-01A0-4305-AA87-1BB3419B6041}</a:tableStyleId>
              </a:tblPr>
              <a:tblGrid>
                <a:gridCol w="8122275"/>
              </a:tblGrid>
              <a:tr h="32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ALÉRGENOS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3A038"/>
                    </a:solidFill>
                  </a:tcPr>
                </a:tc>
              </a:tr>
              <a:tr h="50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>Pendiente de confirmar con cocina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" name="Google Shape;181;p6"/>
          <p:cNvGraphicFramePr/>
          <p:nvPr/>
        </p:nvGraphicFramePr>
        <p:xfrm>
          <a:off x="9300775" y="5618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{EEFC6B96-5C7F-40CB-9062-C41EB17D4809}</a:tableStyleId>
              </a:tblPr>
              <a:tblGrid>
                <a:gridCol w="4281975"/>
                <a:gridCol w="1920150"/>
                <a:gridCol w="1920150"/>
              </a:tblGrid>
              <a:tr h="3583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INGREDIENTES</a:t>
                      </a:r>
                      <a:endParaRPr b="1" sz="180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0:0"/>
                      </a:ext>
                    </a:extLst>
                  </a:tcPr>
                </a:tc>
                <a:tc hMerge="1"/>
                <a:tc hMerge="1"/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Brioche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0,090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Jamón cocido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0,030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Queso havarti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0,030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Mantequilla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0,001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364" l="0" r="0" t="-83367"/>
            </a:stretch>
          </a:blipFill>
          <a:ln>
            <a:noFill/>
          </a:ln>
        </p:spPr>
      </p:sp>
      <p:sp>
        <p:nvSpPr>
          <p:cNvPr id="169" name="Google Shape;169;p6"/>
          <p:cNvSpPr/>
          <p:nvPr/>
        </p:nvSpPr>
        <p:spPr>
          <a:xfrm>
            <a:off x="1143000" y="11500"/>
            <a:ext cx="16002000" cy="10298684"/>
          </a:xfrm>
          <a:custGeom>
            <a:rect b="b" l="l" r="r" t="t"/>
            <a:pathLst>
              <a:path extrusionOk="0" h="9855200" w="21336000">
                <a:moveTo>
                  <a:pt x="0" y="0"/>
                </a:moveTo>
                <a:lnTo>
                  <a:pt x="21336000" y="0"/>
                </a:lnTo>
                <a:lnTo>
                  <a:pt x="21336000" y="9855200"/>
                </a:lnTo>
                <a:lnTo>
                  <a:pt x="0" y="9855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70" name="Google Shape;170;p6"/>
          <p:cNvGrpSpPr/>
          <p:nvPr/>
        </p:nvGrpSpPr>
        <p:grpSpPr>
          <a:xfrm>
            <a:off x="727792" y="357359"/>
            <a:ext cx="17368751" cy="4022182"/>
            <a:chOff x="0" y="-3252460"/>
            <a:chExt cx="23158333" cy="5362912"/>
          </a:xfrm>
        </p:grpSpPr>
        <p:sp>
          <p:nvSpPr>
            <p:cNvPr id="171" name="Google Shape;171;p6"/>
            <p:cNvSpPr/>
            <p:nvPr/>
          </p:nvSpPr>
          <p:spPr>
            <a:xfrm>
              <a:off x="0" y="0"/>
              <a:ext cx="22042011" cy="2110452"/>
            </a:xfrm>
            <a:custGeom>
              <a:rect b="b" l="l" r="r" t="t"/>
              <a:pathLst>
                <a:path extrusionOk="0" h="2110452" w="22042011">
                  <a:moveTo>
                    <a:pt x="0" y="0"/>
                  </a:moveTo>
                  <a:lnTo>
                    <a:pt x="22042011" y="0"/>
                  </a:lnTo>
                  <a:lnTo>
                    <a:pt x="22042011" y="2110452"/>
                  </a:lnTo>
                  <a:lnTo>
                    <a:pt x="0" y="21104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15002" l="0" r="73283" t="-23740"/>
              </a:stretch>
            </a:blipFill>
            <a:ln>
              <a:noFill/>
            </a:ln>
          </p:spPr>
        </p:sp>
        <p:sp>
          <p:nvSpPr>
            <p:cNvPr id="172" name="Google Shape;172;p6"/>
            <p:cNvSpPr txBox="1"/>
            <p:nvPr/>
          </p:nvSpPr>
          <p:spPr>
            <a:xfrm>
              <a:off x="1116433" y="-3252460"/>
              <a:ext cx="22041900" cy="21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dk1"/>
                  </a:solidFill>
                  <a:latin typeface="Epilogue"/>
                  <a:ea typeface="Epilogue"/>
                  <a:cs typeface="Epilogue"/>
                  <a:sym typeface="Epilogue"/>
                </a:rPr>
                <a:t>5. Descripción de platos</a:t>
              </a:r>
              <a:endParaRPr b="0" i="0" sz="14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marR="0" rtl="0" algn="l">
                <a:lnSpc>
                  <a:spcPct val="11997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3" name="Google Shape;173;p6"/>
          <p:cNvGrpSpPr/>
          <p:nvPr/>
        </p:nvGrpSpPr>
        <p:grpSpPr>
          <a:xfrm>
            <a:off x="3370755" y="7179692"/>
            <a:ext cx="11546490" cy="2362835"/>
            <a:chOff x="0" y="-47625"/>
            <a:chExt cx="15395320" cy="3150448"/>
          </a:xfrm>
        </p:grpSpPr>
        <p:sp>
          <p:nvSpPr>
            <p:cNvPr id="174" name="Google Shape;174;p6"/>
            <p:cNvSpPr/>
            <p:nvPr/>
          </p:nvSpPr>
          <p:spPr>
            <a:xfrm>
              <a:off x="0" y="0"/>
              <a:ext cx="15395318" cy="3102823"/>
            </a:xfrm>
            <a:custGeom>
              <a:rect b="b" l="l" r="r" t="t"/>
              <a:pathLst>
                <a:path extrusionOk="0" h="3102823" w="15395318">
                  <a:moveTo>
                    <a:pt x="0" y="0"/>
                  </a:moveTo>
                  <a:lnTo>
                    <a:pt x="15395318" y="0"/>
                  </a:lnTo>
                  <a:lnTo>
                    <a:pt x="15395318" y="3102823"/>
                  </a:lnTo>
                  <a:lnTo>
                    <a:pt x="0" y="310282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27590" l="0" r="61666" t="-1712"/>
              </a:stretch>
            </a:blipFill>
            <a:ln>
              <a:noFill/>
            </a:ln>
          </p:spPr>
        </p:sp>
        <p:sp>
          <p:nvSpPr>
            <p:cNvPr id="175" name="Google Shape;175;p6"/>
            <p:cNvSpPr txBox="1"/>
            <p:nvPr/>
          </p:nvSpPr>
          <p:spPr>
            <a:xfrm>
              <a:off x="0" y="-47625"/>
              <a:ext cx="15395320" cy="3150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3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6" name="Google Shape;176;p6" title="thebarnbarMesa de trabajo 1 copia 85@4x-100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44398" y="11500"/>
            <a:ext cx="1843600" cy="18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1600027" y="1037950"/>
            <a:ext cx="70101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Epilogue"/>
                <a:ea typeface="Epilogue"/>
                <a:cs typeface="Epilogue"/>
                <a:sym typeface="Epilogue"/>
              </a:rPr>
              <a:t>BRIOCHE PAPADA IBÉRICA</a:t>
            </a:r>
            <a:endParaRPr b="0" i="0" sz="1400" u="none" cap="none" strike="noStrike">
              <a:solidFill>
                <a:srgbClr val="000000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9300773" y="1887976"/>
            <a:ext cx="81222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199">
                <a:latin typeface="Epilogue"/>
                <a:ea typeface="Epilogue"/>
                <a:cs typeface="Epilogue"/>
                <a:sym typeface="Epilogue"/>
              </a:rPr>
              <a:t>DESCRIPCIÓN</a:t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38017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>Papada ibérica confitada en brioche, con pimiento rojo asado, piparras y un mousse de piparra.</a:t>
            </a:r>
            <a:endParaRPr b="0" i="0" sz="2199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9" name="Foto plat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025" y="2537975"/>
            <a:ext cx="7010100" cy="7297500"/>
          </a:xfrm>
          <a:prstGeom prst="rect">
            <a:avLst/>
          </a:prstGeom>
        </p:spPr>
      </p:pic>
      <p:graphicFrame>
        <p:nvGraphicFramePr>
          <p:cNvPr id="180" name="Google Shape;180;p6"/>
          <p:cNvGraphicFramePr/>
          <p:nvPr/>
        </p:nvGraphicFramePr>
        <p:xfrm>
          <a:off x="9300775" y="81509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{13CF2276-01A0-4305-AA87-1BB3419B6041}</a:tableStyleId>
              </a:tblPr>
              <a:tblGrid>
                <a:gridCol w="8122275"/>
              </a:tblGrid>
              <a:tr h="32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ALÉRGENOS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3A038"/>
                    </a:solidFill>
                  </a:tcPr>
                </a:tc>
              </a:tr>
              <a:tr h="50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>Pendiente de confirmar con cocina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" name="Google Shape;181;p6"/>
          <p:cNvGraphicFramePr/>
          <p:nvPr/>
        </p:nvGraphicFramePr>
        <p:xfrm>
          <a:off x="9300775" y="5618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{EEFC6B96-5C7F-40CB-9062-C41EB17D4809}</a:tableStyleId>
              </a:tblPr>
              <a:tblGrid>
                <a:gridCol w="4281975"/>
                <a:gridCol w="1920150"/>
                <a:gridCol w="1920150"/>
              </a:tblGrid>
              <a:tr h="3583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INGREDIENTES</a:t>
                      </a:r>
                      <a:endParaRPr b="1" sz="180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0:0"/>
                      </a:ext>
                    </a:extLst>
                  </a:tcPr>
                </a:tc>
                <a:tc hMerge="1"/>
                <a:tc hMerge="1"/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Brioche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0,090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Papada ibérica confitada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0,070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Pimiento rojo asado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0,030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Piparras laminadas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0,008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Mousse de piparras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0,005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AOVE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0,005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364" l="0" r="0" t="-83367"/>
            </a:stretch>
          </a:blipFill>
          <a:ln>
            <a:noFill/>
          </a:ln>
        </p:spPr>
      </p:sp>
      <p:sp>
        <p:nvSpPr>
          <p:cNvPr id="169" name="Google Shape;169;p6"/>
          <p:cNvSpPr/>
          <p:nvPr/>
        </p:nvSpPr>
        <p:spPr>
          <a:xfrm>
            <a:off x="1143000" y="11500"/>
            <a:ext cx="16002000" cy="10298684"/>
          </a:xfrm>
          <a:custGeom>
            <a:rect b="b" l="l" r="r" t="t"/>
            <a:pathLst>
              <a:path extrusionOk="0" h="9855200" w="21336000">
                <a:moveTo>
                  <a:pt x="0" y="0"/>
                </a:moveTo>
                <a:lnTo>
                  <a:pt x="21336000" y="0"/>
                </a:lnTo>
                <a:lnTo>
                  <a:pt x="21336000" y="9855200"/>
                </a:lnTo>
                <a:lnTo>
                  <a:pt x="0" y="9855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70" name="Google Shape;170;p6"/>
          <p:cNvGrpSpPr/>
          <p:nvPr/>
        </p:nvGrpSpPr>
        <p:grpSpPr>
          <a:xfrm>
            <a:off x="727792" y="357359"/>
            <a:ext cx="17368751" cy="4022182"/>
            <a:chOff x="0" y="-3252460"/>
            <a:chExt cx="23158333" cy="5362912"/>
          </a:xfrm>
        </p:grpSpPr>
        <p:sp>
          <p:nvSpPr>
            <p:cNvPr id="171" name="Google Shape;171;p6"/>
            <p:cNvSpPr/>
            <p:nvPr/>
          </p:nvSpPr>
          <p:spPr>
            <a:xfrm>
              <a:off x="0" y="0"/>
              <a:ext cx="22042011" cy="2110452"/>
            </a:xfrm>
            <a:custGeom>
              <a:rect b="b" l="l" r="r" t="t"/>
              <a:pathLst>
                <a:path extrusionOk="0" h="2110452" w="22042011">
                  <a:moveTo>
                    <a:pt x="0" y="0"/>
                  </a:moveTo>
                  <a:lnTo>
                    <a:pt x="22042011" y="0"/>
                  </a:lnTo>
                  <a:lnTo>
                    <a:pt x="22042011" y="2110452"/>
                  </a:lnTo>
                  <a:lnTo>
                    <a:pt x="0" y="21104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15002" l="0" r="73283" t="-23740"/>
              </a:stretch>
            </a:blipFill>
            <a:ln>
              <a:noFill/>
            </a:ln>
          </p:spPr>
        </p:sp>
        <p:sp>
          <p:nvSpPr>
            <p:cNvPr id="172" name="Google Shape;172;p6"/>
            <p:cNvSpPr txBox="1"/>
            <p:nvPr/>
          </p:nvSpPr>
          <p:spPr>
            <a:xfrm>
              <a:off x="1116433" y="-3252460"/>
              <a:ext cx="22041900" cy="21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dk1"/>
                  </a:solidFill>
                  <a:latin typeface="Epilogue"/>
                  <a:ea typeface="Epilogue"/>
                  <a:cs typeface="Epilogue"/>
                  <a:sym typeface="Epilogue"/>
                </a:rPr>
                <a:t>5. Descripción de platos</a:t>
              </a:r>
              <a:endParaRPr b="0" i="0" sz="14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marR="0" rtl="0" algn="l">
                <a:lnSpc>
                  <a:spcPct val="11997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3" name="Google Shape;173;p6"/>
          <p:cNvGrpSpPr/>
          <p:nvPr/>
        </p:nvGrpSpPr>
        <p:grpSpPr>
          <a:xfrm>
            <a:off x="3370755" y="7179692"/>
            <a:ext cx="11546490" cy="2362835"/>
            <a:chOff x="0" y="-47625"/>
            <a:chExt cx="15395320" cy="3150448"/>
          </a:xfrm>
        </p:grpSpPr>
        <p:sp>
          <p:nvSpPr>
            <p:cNvPr id="174" name="Google Shape;174;p6"/>
            <p:cNvSpPr/>
            <p:nvPr/>
          </p:nvSpPr>
          <p:spPr>
            <a:xfrm>
              <a:off x="0" y="0"/>
              <a:ext cx="15395318" cy="3102823"/>
            </a:xfrm>
            <a:custGeom>
              <a:rect b="b" l="l" r="r" t="t"/>
              <a:pathLst>
                <a:path extrusionOk="0" h="3102823" w="15395318">
                  <a:moveTo>
                    <a:pt x="0" y="0"/>
                  </a:moveTo>
                  <a:lnTo>
                    <a:pt x="15395318" y="0"/>
                  </a:lnTo>
                  <a:lnTo>
                    <a:pt x="15395318" y="3102823"/>
                  </a:lnTo>
                  <a:lnTo>
                    <a:pt x="0" y="310282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27590" l="0" r="61666" t="-1712"/>
              </a:stretch>
            </a:blipFill>
            <a:ln>
              <a:noFill/>
            </a:ln>
          </p:spPr>
        </p:sp>
        <p:sp>
          <p:nvSpPr>
            <p:cNvPr id="175" name="Google Shape;175;p6"/>
            <p:cNvSpPr txBox="1"/>
            <p:nvPr/>
          </p:nvSpPr>
          <p:spPr>
            <a:xfrm>
              <a:off x="0" y="-47625"/>
              <a:ext cx="15395320" cy="3150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3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6" name="Google Shape;176;p6" title="thebarnbarMesa de trabajo 1 copia 85@4x-100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44398" y="11500"/>
            <a:ext cx="1843600" cy="18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1600027" y="1037950"/>
            <a:ext cx="70101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Epilogue"/>
                <a:ea typeface="Epilogue"/>
                <a:cs typeface="Epilogue"/>
                <a:sym typeface="Epilogue"/>
              </a:rPr>
              <a:t>BRIOCHE TORTILLA Y QUESO</a:t>
            </a:r>
            <a:endParaRPr b="0" i="0" sz="1400" u="none" cap="none" strike="noStrike">
              <a:solidFill>
                <a:srgbClr val="000000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9300773" y="1887976"/>
            <a:ext cx="81222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199">
                <a:latin typeface="Epilogue"/>
                <a:ea typeface="Epilogue"/>
                <a:cs typeface="Epilogue"/>
                <a:sym typeface="Epilogue"/>
              </a:rPr>
              <a:t>DESCRIPCIÓN</a:t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38017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>Brioche tostado con tortilla de patata y espuma de queso Guadarrama, terminado con cebollino fresco.</a:t>
            </a:r>
            <a:endParaRPr b="0" i="0" sz="2199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9" name="Foto plat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025" y="2537975"/>
            <a:ext cx="7010100" cy="7297500"/>
          </a:xfrm>
          <a:prstGeom prst="rect">
            <a:avLst/>
          </a:prstGeom>
        </p:spPr>
      </p:pic>
      <p:graphicFrame>
        <p:nvGraphicFramePr>
          <p:cNvPr id="180" name="Google Shape;180;p6"/>
          <p:cNvGraphicFramePr/>
          <p:nvPr/>
        </p:nvGraphicFramePr>
        <p:xfrm>
          <a:off x="9300775" y="81509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{13CF2276-01A0-4305-AA87-1BB3419B6041}</a:tableStyleId>
              </a:tblPr>
              <a:tblGrid>
                <a:gridCol w="8122275"/>
              </a:tblGrid>
              <a:tr h="32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ALÉRGENOS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3A038"/>
                    </a:solidFill>
                  </a:tcPr>
                </a:tc>
              </a:tr>
              <a:tr h="50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>Pendiente de confirmar con cocina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" name="Google Shape;181;p6"/>
          <p:cNvGraphicFramePr/>
          <p:nvPr/>
        </p:nvGraphicFramePr>
        <p:xfrm>
          <a:off x="9300775" y="5618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{EEFC6B96-5C7F-40CB-9062-C41EB17D4809}</a:tableStyleId>
              </a:tblPr>
              <a:tblGrid>
                <a:gridCol w="4281975"/>
                <a:gridCol w="1920150"/>
                <a:gridCol w="1920150"/>
              </a:tblGrid>
              <a:tr h="3583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INGREDIENTES</a:t>
                      </a:r>
                      <a:endParaRPr b="1" sz="180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0:0"/>
                      </a:ext>
                    </a:extLst>
                  </a:tcPr>
                </a:tc>
                <a:tc hMerge="1"/>
                <a:tc hMerge="1"/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Brioche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0,090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Tortilla de patata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0,120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ud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Espuma de queso Guadarrama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0,025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AOVE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0,005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Cebollino fresco picado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0,005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364" l="0" r="0" t="-83367"/>
            </a:stretch>
          </a:blipFill>
          <a:ln>
            <a:noFill/>
          </a:ln>
        </p:spPr>
      </p:sp>
      <p:sp>
        <p:nvSpPr>
          <p:cNvPr id="169" name="Google Shape;169;p6"/>
          <p:cNvSpPr/>
          <p:nvPr/>
        </p:nvSpPr>
        <p:spPr>
          <a:xfrm>
            <a:off x="1143000" y="11500"/>
            <a:ext cx="16002000" cy="10298684"/>
          </a:xfrm>
          <a:custGeom>
            <a:rect b="b" l="l" r="r" t="t"/>
            <a:pathLst>
              <a:path extrusionOk="0" h="9855200" w="21336000">
                <a:moveTo>
                  <a:pt x="0" y="0"/>
                </a:moveTo>
                <a:lnTo>
                  <a:pt x="21336000" y="0"/>
                </a:lnTo>
                <a:lnTo>
                  <a:pt x="21336000" y="9855200"/>
                </a:lnTo>
                <a:lnTo>
                  <a:pt x="0" y="9855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70" name="Google Shape;170;p6"/>
          <p:cNvGrpSpPr/>
          <p:nvPr/>
        </p:nvGrpSpPr>
        <p:grpSpPr>
          <a:xfrm>
            <a:off x="727792" y="357359"/>
            <a:ext cx="17368751" cy="4022182"/>
            <a:chOff x="0" y="-3252460"/>
            <a:chExt cx="23158333" cy="5362912"/>
          </a:xfrm>
        </p:grpSpPr>
        <p:sp>
          <p:nvSpPr>
            <p:cNvPr id="171" name="Google Shape;171;p6"/>
            <p:cNvSpPr/>
            <p:nvPr/>
          </p:nvSpPr>
          <p:spPr>
            <a:xfrm>
              <a:off x="0" y="0"/>
              <a:ext cx="22042011" cy="2110452"/>
            </a:xfrm>
            <a:custGeom>
              <a:rect b="b" l="l" r="r" t="t"/>
              <a:pathLst>
                <a:path extrusionOk="0" h="2110452" w="22042011">
                  <a:moveTo>
                    <a:pt x="0" y="0"/>
                  </a:moveTo>
                  <a:lnTo>
                    <a:pt x="22042011" y="0"/>
                  </a:lnTo>
                  <a:lnTo>
                    <a:pt x="22042011" y="2110452"/>
                  </a:lnTo>
                  <a:lnTo>
                    <a:pt x="0" y="21104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15002" l="0" r="73283" t="-23740"/>
              </a:stretch>
            </a:blipFill>
            <a:ln>
              <a:noFill/>
            </a:ln>
          </p:spPr>
        </p:sp>
        <p:sp>
          <p:nvSpPr>
            <p:cNvPr id="172" name="Google Shape;172;p6"/>
            <p:cNvSpPr txBox="1"/>
            <p:nvPr/>
          </p:nvSpPr>
          <p:spPr>
            <a:xfrm>
              <a:off x="1116433" y="-3252460"/>
              <a:ext cx="22041900" cy="21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dk1"/>
                  </a:solidFill>
                  <a:latin typeface="Epilogue"/>
                  <a:ea typeface="Epilogue"/>
                  <a:cs typeface="Epilogue"/>
                  <a:sym typeface="Epilogue"/>
                </a:rPr>
                <a:t>5. Descripción de platos</a:t>
              </a:r>
              <a:endParaRPr b="0" i="0" sz="14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marR="0" rtl="0" algn="l">
                <a:lnSpc>
                  <a:spcPct val="11997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3" name="Google Shape;173;p6"/>
          <p:cNvGrpSpPr/>
          <p:nvPr/>
        </p:nvGrpSpPr>
        <p:grpSpPr>
          <a:xfrm>
            <a:off x="3370755" y="7179692"/>
            <a:ext cx="11546490" cy="2362835"/>
            <a:chOff x="0" y="-47625"/>
            <a:chExt cx="15395320" cy="3150448"/>
          </a:xfrm>
        </p:grpSpPr>
        <p:sp>
          <p:nvSpPr>
            <p:cNvPr id="174" name="Google Shape;174;p6"/>
            <p:cNvSpPr/>
            <p:nvPr/>
          </p:nvSpPr>
          <p:spPr>
            <a:xfrm>
              <a:off x="0" y="0"/>
              <a:ext cx="15395318" cy="3102823"/>
            </a:xfrm>
            <a:custGeom>
              <a:rect b="b" l="l" r="r" t="t"/>
              <a:pathLst>
                <a:path extrusionOk="0" h="3102823" w="15395318">
                  <a:moveTo>
                    <a:pt x="0" y="0"/>
                  </a:moveTo>
                  <a:lnTo>
                    <a:pt x="15395318" y="0"/>
                  </a:lnTo>
                  <a:lnTo>
                    <a:pt x="15395318" y="3102823"/>
                  </a:lnTo>
                  <a:lnTo>
                    <a:pt x="0" y="310282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27590" l="0" r="61666" t="-1712"/>
              </a:stretch>
            </a:blipFill>
            <a:ln>
              <a:noFill/>
            </a:ln>
          </p:spPr>
        </p:sp>
        <p:sp>
          <p:nvSpPr>
            <p:cNvPr id="175" name="Google Shape;175;p6"/>
            <p:cNvSpPr txBox="1"/>
            <p:nvPr/>
          </p:nvSpPr>
          <p:spPr>
            <a:xfrm>
              <a:off x="0" y="-47625"/>
              <a:ext cx="15395320" cy="3150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3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6" name="Google Shape;176;p6" title="thebarnbarMesa de trabajo 1 copia 85@4x-100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44398" y="11500"/>
            <a:ext cx="1843600" cy="18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1600027" y="1037950"/>
            <a:ext cx="70101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Epilogue"/>
                <a:ea typeface="Epilogue"/>
                <a:cs typeface="Epilogue"/>
                <a:sym typeface="Epilogue"/>
              </a:rPr>
              <a:t>TOSTADA DE COCIDO</a:t>
            </a:r>
            <a:endParaRPr b="0" i="0" sz="1400" u="none" cap="none" strike="noStrike">
              <a:solidFill>
                <a:srgbClr val="000000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9300773" y="1887976"/>
            <a:ext cx="81222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199">
                <a:latin typeface="Epilogue"/>
                <a:ea typeface="Epilogue"/>
                <a:cs typeface="Epilogue"/>
                <a:sym typeface="Epilogue"/>
              </a:rPr>
              <a:t>DESCRIPCIÓN</a:t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38017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>Hummus y col horneada con tocino crujiente y un toque ahumado de pimentón.</a:t>
            </a:r>
            <a:endParaRPr b="0" i="0" sz="2199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9" name="Foto plat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025" y="2537975"/>
            <a:ext cx="7010100" cy="7297500"/>
          </a:xfrm>
          <a:prstGeom prst="rect">
            <a:avLst/>
          </a:prstGeom>
        </p:spPr>
      </p:pic>
      <p:graphicFrame>
        <p:nvGraphicFramePr>
          <p:cNvPr id="180" name="Google Shape;180;p6"/>
          <p:cNvGraphicFramePr/>
          <p:nvPr/>
        </p:nvGraphicFramePr>
        <p:xfrm>
          <a:off x="9300775" y="81509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{13CF2276-01A0-4305-AA87-1BB3419B6041}</a:tableStyleId>
              </a:tblPr>
              <a:tblGrid>
                <a:gridCol w="8122275"/>
              </a:tblGrid>
              <a:tr h="32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ALÉRGENOS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3A038"/>
                    </a:solidFill>
                  </a:tcPr>
                </a:tc>
              </a:tr>
              <a:tr h="50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>Pendiente de confirmar con cocina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" name="Google Shape;181;p6"/>
          <p:cNvGraphicFramePr/>
          <p:nvPr/>
        </p:nvGraphicFramePr>
        <p:xfrm>
          <a:off x="9300775" y="5618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{EEFC6B96-5C7F-40CB-9062-C41EB17D4809}</a:tableStyleId>
              </a:tblPr>
              <a:tblGrid>
                <a:gridCol w="4281975"/>
                <a:gridCol w="1920150"/>
                <a:gridCol w="1920150"/>
              </a:tblGrid>
              <a:tr h="3583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INGREDIENTES</a:t>
                      </a:r>
                      <a:endParaRPr b="1" sz="180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0:0"/>
                      </a:ext>
                    </a:extLst>
                  </a:tcPr>
                </a:tc>
                <a:tc hMerge="1"/>
                <a:tc hMerge="1"/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Pan de masa madre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1,000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Hummus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0,060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Col horneada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0,020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Tocino crujiente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0,015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AOVE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0,005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Pimentón ahumado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0,005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364" l="0" r="0" t="-83367"/>
            </a:stretch>
          </a:blipFill>
          <a:ln>
            <a:noFill/>
          </a:ln>
        </p:spPr>
      </p:sp>
      <p:sp>
        <p:nvSpPr>
          <p:cNvPr id="169" name="Google Shape;169;p6"/>
          <p:cNvSpPr/>
          <p:nvPr/>
        </p:nvSpPr>
        <p:spPr>
          <a:xfrm>
            <a:off x="1143000" y="11500"/>
            <a:ext cx="16002000" cy="10298684"/>
          </a:xfrm>
          <a:custGeom>
            <a:rect b="b" l="l" r="r" t="t"/>
            <a:pathLst>
              <a:path extrusionOk="0" h="9855200" w="21336000">
                <a:moveTo>
                  <a:pt x="0" y="0"/>
                </a:moveTo>
                <a:lnTo>
                  <a:pt x="21336000" y="0"/>
                </a:lnTo>
                <a:lnTo>
                  <a:pt x="21336000" y="9855200"/>
                </a:lnTo>
                <a:lnTo>
                  <a:pt x="0" y="9855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70" name="Google Shape;170;p6"/>
          <p:cNvGrpSpPr/>
          <p:nvPr/>
        </p:nvGrpSpPr>
        <p:grpSpPr>
          <a:xfrm>
            <a:off x="727792" y="357359"/>
            <a:ext cx="17368751" cy="4022182"/>
            <a:chOff x="0" y="-3252460"/>
            <a:chExt cx="23158333" cy="5362912"/>
          </a:xfrm>
        </p:grpSpPr>
        <p:sp>
          <p:nvSpPr>
            <p:cNvPr id="171" name="Google Shape;171;p6"/>
            <p:cNvSpPr/>
            <p:nvPr/>
          </p:nvSpPr>
          <p:spPr>
            <a:xfrm>
              <a:off x="0" y="0"/>
              <a:ext cx="22042011" cy="2110452"/>
            </a:xfrm>
            <a:custGeom>
              <a:rect b="b" l="l" r="r" t="t"/>
              <a:pathLst>
                <a:path extrusionOk="0" h="2110452" w="22042011">
                  <a:moveTo>
                    <a:pt x="0" y="0"/>
                  </a:moveTo>
                  <a:lnTo>
                    <a:pt x="22042011" y="0"/>
                  </a:lnTo>
                  <a:lnTo>
                    <a:pt x="22042011" y="2110452"/>
                  </a:lnTo>
                  <a:lnTo>
                    <a:pt x="0" y="21104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15002" l="0" r="73283" t="-23740"/>
              </a:stretch>
            </a:blipFill>
            <a:ln>
              <a:noFill/>
            </a:ln>
          </p:spPr>
        </p:sp>
        <p:sp>
          <p:nvSpPr>
            <p:cNvPr id="172" name="Google Shape;172;p6"/>
            <p:cNvSpPr txBox="1"/>
            <p:nvPr/>
          </p:nvSpPr>
          <p:spPr>
            <a:xfrm>
              <a:off x="1116433" y="-3252460"/>
              <a:ext cx="22041900" cy="21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dk1"/>
                  </a:solidFill>
                  <a:latin typeface="Epilogue"/>
                  <a:ea typeface="Epilogue"/>
                  <a:cs typeface="Epilogue"/>
                  <a:sym typeface="Epilogue"/>
                </a:rPr>
                <a:t>5. Descripción de platos</a:t>
              </a:r>
              <a:endParaRPr b="0" i="0" sz="14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marR="0" rtl="0" algn="l">
                <a:lnSpc>
                  <a:spcPct val="11997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3" name="Google Shape;173;p6"/>
          <p:cNvGrpSpPr/>
          <p:nvPr/>
        </p:nvGrpSpPr>
        <p:grpSpPr>
          <a:xfrm>
            <a:off x="3370755" y="7179692"/>
            <a:ext cx="11546490" cy="2362835"/>
            <a:chOff x="0" y="-47625"/>
            <a:chExt cx="15395320" cy="3150448"/>
          </a:xfrm>
        </p:grpSpPr>
        <p:sp>
          <p:nvSpPr>
            <p:cNvPr id="174" name="Google Shape;174;p6"/>
            <p:cNvSpPr/>
            <p:nvPr/>
          </p:nvSpPr>
          <p:spPr>
            <a:xfrm>
              <a:off x="0" y="0"/>
              <a:ext cx="15395318" cy="3102823"/>
            </a:xfrm>
            <a:custGeom>
              <a:rect b="b" l="l" r="r" t="t"/>
              <a:pathLst>
                <a:path extrusionOk="0" h="3102823" w="15395318">
                  <a:moveTo>
                    <a:pt x="0" y="0"/>
                  </a:moveTo>
                  <a:lnTo>
                    <a:pt x="15395318" y="0"/>
                  </a:lnTo>
                  <a:lnTo>
                    <a:pt x="15395318" y="3102823"/>
                  </a:lnTo>
                  <a:lnTo>
                    <a:pt x="0" y="310282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27590" l="0" r="61666" t="-1712"/>
              </a:stretch>
            </a:blipFill>
            <a:ln>
              <a:noFill/>
            </a:ln>
          </p:spPr>
        </p:sp>
        <p:sp>
          <p:nvSpPr>
            <p:cNvPr id="175" name="Google Shape;175;p6"/>
            <p:cNvSpPr txBox="1"/>
            <p:nvPr/>
          </p:nvSpPr>
          <p:spPr>
            <a:xfrm>
              <a:off x="0" y="-47625"/>
              <a:ext cx="15395320" cy="3150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3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6" name="Google Shape;176;p6" title="thebarnbarMesa de trabajo 1 copia 85@4x-100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44398" y="11500"/>
            <a:ext cx="1843600" cy="18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1600027" y="1037950"/>
            <a:ext cx="70101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Epilogue"/>
                <a:ea typeface="Epilogue"/>
                <a:cs typeface="Epilogue"/>
                <a:sym typeface="Epilogue"/>
              </a:rPr>
              <a:t>TOMATE ASADO Y ANCHOA</a:t>
            </a:r>
            <a:endParaRPr b="0" i="0" sz="1400" u="none" cap="none" strike="noStrike">
              <a:solidFill>
                <a:srgbClr val="000000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9300773" y="1887976"/>
            <a:ext cx="81222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199">
                <a:latin typeface="Epilogue"/>
                <a:ea typeface="Epilogue"/>
                <a:cs typeface="Epilogue"/>
                <a:sym typeface="Epilogue"/>
              </a:rPr>
              <a:t>DESCRIPCIÓN</a:t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38017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>Tomate asado con anchoas, un golpe de pimienta y un toque cítrico de limón.</a:t>
            </a:r>
            <a:endParaRPr b="0" i="0" sz="2199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9" name="Foto plat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025" y="2537975"/>
            <a:ext cx="7010100" cy="7297500"/>
          </a:xfrm>
          <a:prstGeom prst="rect">
            <a:avLst/>
          </a:prstGeom>
        </p:spPr>
      </p:pic>
      <p:graphicFrame>
        <p:nvGraphicFramePr>
          <p:cNvPr id="180" name="Google Shape;180;p6"/>
          <p:cNvGraphicFramePr/>
          <p:nvPr/>
        </p:nvGraphicFramePr>
        <p:xfrm>
          <a:off x="9300775" y="81509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{13CF2276-01A0-4305-AA87-1BB3419B6041}</a:tableStyleId>
              </a:tblPr>
              <a:tblGrid>
                <a:gridCol w="8122275"/>
              </a:tblGrid>
              <a:tr h="32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ALÉRGENOS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3A038"/>
                    </a:solidFill>
                  </a:tcPr>
                </a:tc>
              </a:tr>
              <a:tr h="50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>Pendiente de confirmar con cocina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" name="Google Shape;181;p6"/>
          <p:cNvGraphicFramePr/>
          <p:nvPr/>
        </p:nvGraphicFramePr>
        <p:xfrm>
          <a:off x="9300775" y="5618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{EEFC6B96-5C7F-40CB-9062-C41EB17D4809}</a:tableStyleId>
              </a:tblPr>
              <a:tblGrid>
                <a:gridCol w="4281975"/>
                <a:gridCol w="1920150"/>
                <a:gridCol w="1920150"/>
              </a:tblGrid>
              <a:tr h="3583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INGREDIENTES</a:t>
                      </a:r>
                      <a:endParaRPr b="1" sz="180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0:0"/>
                      </a:ext>
                    </a:extLst>
                  </a:tcPr>
                </a:tc>
                <a:tc hMerge="1"/>
                <a:tc hMerge="1"/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Pan de masa madre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1,000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Tomate asado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0,060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Filetes de anchoa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0,024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AOVE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0,070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Pimienta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0,002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364" l="0" r="0" t="-83367"/>
            </a:stretch>
          </a:blipFill>
          <a:ln>
            <a:noFill/>
          </a:ln>
        </p:spPr>
      </p:sp>
      <p:sp>
        <p:nvSpPr>
          <p:cNvPr id="169" name="Google Shape;169;p6"/>
          <p:cNvSpPr/>
          <p:nvPr/>
        </p:nvSpPr>
        <p:spPr>
          <a:xfrm>
            <a:off x="1143000" y="11500"/>
            <a:ext cx="16002000" cy="10298684"/>
          </a:xfrm>
          <a:custGeom>
            <a:rect b="b" l="l" r="r" t="t"/>
            <a:pathLst>
              <a:path extrusionOk="0" h="9855200" w="21336000">
                <a:moveTo>
                  <a:pt x="0" y="0"/>
                </a:moveTo>
                <a:lnTo>
                  <a:pt x="21336000" y="0"/>
                </a:lnTo>
                <a:lnTo>
                  <a:pt x="21336000" y="9855200"/>
                </a:lnTo>
                <a:lnTo>
                  <a:pt x="0" y="9855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70" name="Google Shape;170;p6"/>
          <p:cNvGrpSpPr/>
          <p:nvPr/>
        </p:nvGrpSpPr>
        <p:grpSpPr>
          <a:xfrm>
            <a:off x="727792" y="357359"/>
            <a:ext cx="17368751" cy="4022182"/>
            <a:chOff x="0" y="-3252460"/>
            <a:chExt cx="23158333" cy="5362912"/>
          </a:xfrm>
        </p:grpSpPr>
        <p:sp>
          <p:nvSpPr>
            <p:cNvPr id="171" name="Google Shape;171;p6"/>
            <p:cNvSpPr/>
            <p:nvPr/>
          </p:nvSpPr>
          <p:spPr>
            <a:xfrm>
              <a:off x="0" y="0"/>
              <a:ext cx="22042011" cy="2110452"/>
            </a:xfrm>
            <a:custGeom>
              <a:rect b="b" l="l" r="r" t="t"/>
              <a:pathLst>
                <a:path extrusionOk="0" h="2110452" w="22042011">
                  <a:moveTo>
                    <a:pt x="0" y="0"/>
                  </a:moveTo>
                  <a:lnTo>
                    <a:pt x="22042011" y="0"/>
                  </a:lnTo>
                  <a:lnTo>
                    <a:pt x="22042011" y="2110452"/>
                  </a:lnTo>
                  <a:lnTo>
                    <a:pt x="0" y="21104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15002" l="0" r="73283" t="-23740"/>
              </a:stretch>
            </a:blipFill>
            <a:ln>
              <a:noFill/>
            </a:ln>
          </p:spPr>
        </p:sp>
        <p:sp>
          <p:nvSpPr>
            <p:cNvPr id="172" name="Google Shape;172;p6"/>
            <p:cNvSpPr txBox="1"/>
            <p:nvPr/>
          </p:nvSpPr>
          <p:spPr>
            <a:xfrm>
              <a:off x="1116433" y="-3252460"/>
              <a:ext cx="22041900" cy="21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dk1"/>
                  </a:solidFill>
                  <a:latin typeface="Epilogue"/>
                  <a:ea typeface="Epilogue"/>
                  <a:cs typeface="Epilogue"/>
                  <a:sym typeface="Epilogue"/>
                </a:rPr>
                <a:t>5. Descripción de platos</a:t>
              </a:r>
              <a:endParaRPr b="0" i="0" sz="14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marR="0" rtl="0" algn="l">
                <a:lnSpc>
                  <a:spcPct val="11997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3" name="Google Shape;173;p6"/>
          <p:cNvGrpSpPr/>
          <p:nvPr/>
        </p:nvGrpSpPr>
        <p:grpSpPr>
          <a:xfrm>
            <a:off x="3370755" y="7179692"/>
            <a:ext cx="11546490" cy="2362835"/>
            <a:chOff x="0" y="-47625"/>
            <a:chExt cx="15395320" cy="3150448"/>
          </a:xfrm>
        </p:grpSpPr>
        <p:sp>
          <p:nvSpPr>
            <p:cNvPr id="174" name="Google Shape;174;p6"/>
            <p:cNvSpPr/>
            <p:nvPr/>
          </p:nvSpPr>
          <p:spPr>
            <a:xfrm>
              <a:off x="0" y="0"/>
              <a:ext cx="15395318" cy="3102823"/>
            </a:xfrm>
            <a:custGeom>
              <a:rect b="b" l="l" r="r" t="t"/>
              <a:pathLst>
                <a:path extrusionOk="0" h="3102823" w="15395318">
                  <a:moveTo>
                    <a:pt x="0" y="0"/>
                  </a:moveTo>
                  <a:lnTo>
                    <a:pt x="15395318" y="0"/>
                  </a:lnTo>
                  <a:lnTo>
                    <a:pt x="15395318" y="3102823"/>
                  </a:lnTo>
                  <a:lnTo>
                    <a:pt x="0" y="310282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27590" l="0" r="61666" t="-1712"/>
              </a:stretch>
            </a:blipFill>
            <a:ln>
              <a:noFill/>
            </a:ln>
          </p:spPr>
        </p:sp>
        <p:sp>
          <p:nvSpPr>
            <p:cNvPr id="175" name="Google Shape;175;p6"/>
            <p:cNvSpPr txBox="1"/>
            <p:nvPr/>
          </p:nvSpPr>
          <p:spPr>
            <a:xfrm>
              <a:off x="0" y="-47625"/>
              <a:ext cx="15395320" cy="3150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3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6" name="Google Shape;176;p6" title="thebarnbarMesa de trabajo 1 copia 85@4x-100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44398" y="11500"/>
            <a:ext cx="1843600" cy="18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1600027" y="1037950"/>
            <a:ext cx="70101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Epilogue"/>
                <a:ea typeface="Epilogue"/>
                <a:cs typeface="Epilogue"/>
                <a:sym typeface="Epilogue"/>
              </a:rPr>
              <a:t>SALMÓN AHUMADO</a:t>
            </a:r>
            <a:endParaRPr b="0" i="0" sz="1400" u="none" cap="none" strike="noStrike">
              <a:solidFill>
                <a:srgbClr val="000000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9300773" y="1887976"/>
            <a:ext cx="81222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199">
                <a:latin typeface="Epilogue"/>
                <a:ea typeface="Epilogue"/>
                <a:cs typeface="Epilogue"/>
                <a:sym typeface="Epilogue"/>
              </a:rPr>
              <a:t>DESCRIPCIÓN</a:t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38017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>Salmón ahumado con mantequilla batida, pepino encurtido y eneldo fresco, terminado con AOVE y ralladura de limón.</a:t>
            </a:r>
            <a:endParaRPr b="0" i="0" sz="2199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9" name="Foto plat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025" y="2537975"/>
            <a:ext cx="7010100" cy="7297500"/>
          </a:xfrm>
          <a:prstGeom prst="rect">
            <a:avLst/>
          </a:prstGeom>
        </p:spPr>
      </p:pic>
      <p:graphicFrame>
        <p:nvGraphicFramePr>
          <p:cNvPr id="180" name="Google Shape;180;p6"/>
          <p:cNvGraphicFramePr/>
          <p:nvPr/>
        </p:nvGraphicFramePr>
        <p:xfrm>
          <a:off x="9300775" y="86488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{13CF2276-01A0-4305-AA87-1BB3419B6041}</a:tableStyleId>
              </a:tblPr>
              <a:tblGrid>
                <a:gridCol w="8122275"/>
              </a:tblGrid>
              <a:tr h="32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ALÉRGENOS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3A038"/>
                    </a:solidFill>
                  </a:tcPr>
                </a:tc>
              </a:tr>
              <a:tr h="50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>Pendiente de confirmar con cocina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" name="Google Shape;181;p6"/>
          <p:cNvGraphicFramePr/>
          <p:nvPr/>
        </p:nvGraphicFramePr>
        <p:xfrm>
          <a:off x="9300775" y="5618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{EEFC6B96-5C7F-40CB-9062-C41EB17D4809}</a:tableStyleId>
              </a:tblPr>
              <a:tblGrid>
                <a:gridCol w="4281975"/>
                <a:gridCol w="1920150"/>
                <a:gridCol w="1920150"/>
              </a:tblGrid>
              <a:tr h="3583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INGREDIENTES</a:t>
                      </a:r>
                      <a:endParaRPr b="1" sz="180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0:0"/>
                      </a:ext>
                    </a:extLst>
                  </a:tcPr>
                </a:tc>
                <a:tc hMerge="1"/>
                <a:tc hMerge="1"/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Pan de masa madre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1,000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Mantequilla batida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0,020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Salmón ahumado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0,050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Pepino encurtido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0,015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Eneldo fresco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0,001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AOVE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0,005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Pimienta negra molida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0,001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Ralladura de limón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0,001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364" l="0" r="0" t="-83367"/>
            </a:stretch>
          </a:blipFill>
          <a:ln>
            <a:noFill/>
          </a:ln>
        </p:spPr>
      </p:sp>
      <p:sp>
        <p:nvSpPr>
          <p:cNvPr id="169" name="Google Shape;169;p6"/>
          <p:cNvSpPr/>
          <p:nvPr/>
        </p:nvSpPr>
        <p:spPr>
          <a:xfrm>
            <a:off x="1143000" y="11500"/>
            <a:ext cx="16002000" cy="10298684"/>
          </a:xfrm>
          <a:custGeom>
            <a:rect b="b" l="l" r="r" t="t"/>
            <a:pathLst>
              <a:path extrusionOk="0" h="9855200" w="21336000">
                <a:moveTo>
                  <a:pt x="0" y="0"/>
                </a:moveTo>
                <a:lnTo>
                  <a:pt x="21336000" y="0"/>
                </a:lnTo>
                <a:lnTo>
                  <a:pt x="21336000" y="9855200"/>
                </a:lnTo>
                <a:lnTo>
                  <a:pt x="0" y="9855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70" name="Google Shape;170;p6"/>
          <p:cNvGrpSpPr/>
          <p:nvPr/>
        </p:nvGrpSpPr>
        <p:grpSpPr>
          <a:xfrm>
            <a:off x="727792" y="357359"/>
            <a:ext cx="17368751" cy="4022182"/>
            <a:chOff x="0" y="-3252460"/>
            <a:chExt cx="23158333" cy="5362912"/>
          </a:xfrm>
        </p:grpSpPr>
        <p:sp>
          <p:nvSpPr>
            <p:cNvPr id="171" name="Google Shape;171;p6"/>
            <p:cNvSpPr/>
            <p:nvPr/>
          </p:nvSpPr>
          <p:spPr>
            <a:xfrm>
              <a:off x="0" y="0"/>
              <a:ext cx="22042011" cy="2110452"/>
            </a:xfrm>
            <a:custGeom>
              <a:rect b="b" l="l" r="r" t="t"/>
              <a:pathLst>
                <a:path extrusionOk="0" h="2110452" w="22042011">
                  <a:moveTo>
                    <a:pt x="0" y="0"/>
                  </a:moveTo>
                  <a:lnTo>
                    <a:pt x="22042011" y="0"/>
                  </a:lnTo>
                  <a:lnTo>
                    <a:pt x="22042011" y="2110452"/>
                  </a:lnTo>
                  <a:lnTo>
                    <a:pt x="0" y="21104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15002" l="0" r="73283" t="-23740"/>
              </a:stretch>
            </a:blipFill>
            <a:ln>
              <a:noFill/>
            </a:ln>
          </p:spPr>
        </p:sp>
        <p:sp>
          <p:nvSpPr>
            <p:cNvPr id="172" name="Google Shape;172;p6"/>
            <p:cNvSpPr txBox="1"/>
            <p:nvPr/>
          </p:nvSpPr>
          <p:spPr>
            <a:xfrm>
              <a:off x="1116433" y="-3252460"/>
              <a:ext cx="22041900" cy="21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dk1"/>
                  </a:solidFill>
                  <a:latin typeface="Epilogue"/>
                  <a:ea typeface="Epilogue"/>
                  <a:cs typeface="Epilogue"/>
                  <a:sym typeface="Epilogue"/>
                </a:rPr>
                <a:t>5. Descripción de platos</a:t>
              </a:r>
              <a:endParaRPr b="0" i="0" sz="1400" u="none" cap="none" strike="noStrik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marR="0" rtl="0" algn="l">
                <a:lnSpc>
                  <a:spcPct val="11997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3" name="Google Shape;173;p6"/>
          <p:cNvGrpSpPr/>
          <p:nvPr/>
        </p:nvGrpSpPr>
        <p:grpSpPr>
          <a:xfrm>
            <a:off x="3370755" y="7179692"/>
            <a:ext cx="11546490" cy="2362835"/>
            <a:chOff x="0" y="-47625"/>
            <a:chExt cx="15395320" cy="3150448"/>
          </a:xfrm>
        </p:grpSpPr>
        <p:sp>
          <p:nvSpPr>
            <p:cNvPr id="174" name="Google Shape;174;p6"/>
            <p:cNvSpPr/>
            <p:nvPr/>
          </p:nvSpPr>
          <p:spPr>
            <a:xfrm>
              <a:off x="0" y="0"/>
              <a:ext cx="15395318" cy="3102823"/>
            </a:xfrm>
            <a:custGeom>
              <a:rect b="b" l="l" r="r" t="t"/>
              <a:pathLst>
                <a:path extrusionOk="0" h="3102823" w="15395318">
                  <a:moveTo>
                    <a:pt x="0" y="0"/>
                  </a:moveTo>
                  <a:lnTo>
                    <a:pt x="15395318" y="0"/>
                  </a:lnTo>
                  <a:lnTo>
                    <a:pt x="15395318" y="3102823"/>
                  </a:lnTo>
                  <a:lnTo>
                    <a:pt x="0" y="310282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27590" l="0" r="61666" t="-1712"/>
              </a:stretch>
            </a:blipFill>
            <a:ln>
              <a:noFill/>
            </a:ln>
          </p:spPr>
        </p:sp>
        <p:sp>
          <p:nvSpPr>
            <p:cNvPr id="175" name="Google Shape;175;p6"/>
            <p:cNvSpPr txBox="1"/>
            <p:nvPr/>
          </p:nvSpPr>
          <p:spPr>
            <a:xfrm>
              <a:off x="0" y="-47625"/>
              <a:ext cx="15395320" cy="3150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3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6" name="Google Shape;176;p6" title="thebarnbarMesa de trabajo 1 copia 85@4x-100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44398" y="11500"/>
            <a:ext cx="1843600" cy="18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1600027" y="1037950"/>
            <a:ext cx="70101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Epilogue"/>
                <a:ea typeface="Epilogue"/>
                <a:cs typeface="Epilogue"/>
                <a:sym typeface="Epilogue"/>
              </a:rPr>
              <a:t>MANTEQUILLA BATIDA Y MERMELADA</a:t>
            </a:r>
            <a:endParaRPr b="0" i="0" sz="1400" u="none" cap="none" strike="noStrike">
              <a:solidFill>
                <a:srgbClr val="000000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9300773" y="1887976"/>
            <a:ext cx="81222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199">
                <a:latin typeface="Epilogue"/>
                <a:ea typeface="Epilogue"/>
                <a:cs typeface="Epilogue"/>
                <a:sym typeface="Epilogue"/>
              </a:rPr>
              <a:t>DESCRIPCIÓN</a:t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199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marR="0" rtl="0" algn="l">
              <a:lnSpc>
                <a:spcPct val="138017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>Mantequilla batida y mermelada casera de miel y limón (o naranja), con un toque de ralladura cítrica.</a:t>
            </a:r>
            <a:endParaRPr b="0" i="0" sz="2199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9" name="Foto plat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025" y="2537975"/>
            <a:ext cx="7010100" cy="7297500"/>
          </a:xfrm>
          <a:prstGeom prst="rect">
            <a:avLst/>
          </a:prstGeom>
        </p:spPr>
      </p:pic>
      <p:graphicFrame>
        <p:nvGraphicFramePr>
          <p:cNvPr id="180" name="Google Shape;180;p6"/>
          <p:cNvGraphicFramePr/>
          <p:nvPr/>
        </p:nvGraphicFramePr>
        <p:xfrm>
          <a:off x="9300775" y="81509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{13CF2276-01A0-4305-AA87-1BB3419B6041}</a:tableStyleId>
              </a:tblPr>
              <a:tblGrid>
                <a:gridCol w="8122275"/>
              </a:tblGrid>
              <a:tr h="32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ALÉRGENOS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3A038"/>
                    </a:solidFill>
                  </a:tcPr>
                </a:tc>
              </a:tr>
              <a:tr h="50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>Pendiente de confirmar con cocina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" name="Google Shape;181;p6"/>
          <p:cNvGraphicFramePr/>
          <p:nvPr/>
        </p:nvGraphicFramePr>
        <p:xfrm>
          <a:off x="9300775" y="5618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{EEFC6B96-5C7F-40CB-9062-C41EB17D4809}</a:tableStyleId>
              </a:tblPr>
              <a:tblGrid>
                <a:gridCol w="4281975"/>
                <a:gridCol w="1920150"/>
                <a:gridCol w="1920150"/>
              </a:tblGrid>
              <a:tr h="3583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Epilogue"/>
                          <a:ea typeface="Epilogue"/>
                          <a:cs typeface="Epilogue"/>
                          <a:sym typeface="Epilogue"/>
                        </a:rPr>
                        <a:t>INGREDIENTES</a:t>
                      </a:r>
                      <a:endParaRPr b="1" sz="1800" u="none" cap="none" strike="noStrike">
                        <a:latin typeface="Epilogue"/>
                        <a:ea typeface="Epilogue"/>
                        <a:cs typeface="Epilogue"/>
                        <a:sym typeface="Epilog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0:0"/>
                      </a:ext>
                    </a:extLst>
                  </a:tcPr>
                </a:tc>
                <a:tc hMerge="1"/>
                <a:tc hMerge="1"/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Pan de masa madre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1,000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Mantequilla batida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0,020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Mermelada de miel y limón o naranja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0,015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  <a:tr h="3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Ralladura de limón o naranja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0,002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kg</a:t>
                      </a:r>
                      <a:endParaRPr sz="15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DFEC"/>
                    </a:solidFill>
                    <a:extLst>
                      <a:ext uri="http://customooxmlschemas.google.com/">
                        <go:slidesCustomData xmlns:go="http://customooxmlschemas.google.com/" cellId="181:1: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